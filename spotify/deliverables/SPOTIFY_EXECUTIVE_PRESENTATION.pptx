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5144400" cx="9144000"/>
  <p:notesSz cx="6858000" cy="9144000"/>
  <p:embeddedFontLst>
    <p:embeddedFont>
      <p:font typeface="Rubik"/>
      <p:regular r:id="rId22"/>
      <p:bold r:id="rId23"/>
      <p:italic r:id="rId24"/>
      <p:boldItalic r:id="rId25"/>
    </p:embeddedFont>
    <p:embeddedFont>
      <p:font typeface="Rubik SemiBold"/>
      <p:regular r:id="rId26"/>
      <p:bold r:id="rId27"/>
      <p:italic r:id="rId28"/>
      <p:boldItalic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30" roundtripDataSignature="AMtx7mjVPXSG5i57bwkQbhAf6khCqAkVl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Rubik-regular.fntdata"/><Relationship Id="rId21" Type="http://schemas.openxmlformats.org/officeDocument/2006/relationships/slide" Target="slides/slide16.xml"/><Relationship Id="rId24" Type="http://schemas.openxmlformats.org/officeDocument/2006/relationships/font" Target="fonts/Rubik-italic.fntdata"/><Relationship Id="rId23" Type="http://schemas.openxmlformats.org/officeDocument/2006/relationships/font" Target="fonts/Rubik-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ubikSemiBold-regular.fntdata"/><Relationship Id="rId25" Type="http://schemas.openxmlformats.org/officeDocument/2006/relationships/font" Target="fonts/Rubik-boldItalic.fntdata"/><Relationship Id="rId28" Type="http://schemas.openxmlformats.org/officeDocument/2006/relationships/font" Target="fonts/RubikSemiBold-italic.fntdata"/><Relationship Id="rId27" Type="http://schemas.openxmlformats.org/officeDocument/2006/relationships/font" Target="fonts/RubikSemiBold-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ubikSemiBold-boldItalic.fntdata"/><Relationship Id="rId7" Type="http://schemas.openxmlformats.org/officeDocument/2006/relationships/slide" Target="slides/slide2.xml"/><Relationship Id="rId8" Type="http://schemas.openxmlformats.org/officeDocument/2006/relationships/slide" Target="slides/slide3.xml"/><Relationship Id="rId30" Type="http://customschemas.google.com/relationships/presentationmetadata" Target="meta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lang="en-US"/>
              <a:t>"Bonjour. Je vais vous présenter aujourd'hui un programme de gouvernance des données pour Spotify — une entreprise que tout le monde connaît pour la qualité de ses recommandations musicales, mais dont peu de gens savent que les structures de gouvernance de la donnée n'ont pas suivi le rythme de sa croissance. Mon objectif : vous convaincre que la gouvernance n'est pas une contrainte, c'est le moteur de la confiance, et la confiance est le carburant de l'innovation de Spotify."</a:t>
            </a:r>
            <a:br>
              <a:rPr lang="en-US"/>
            </a:br>
            <a:r>
              <a:rPr lang="en-US"/>
              <a:t>Transition : "Commençons par le contexte.”</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lang="en-US"/>
              <a:t>"Ces chiffres sont publics — rapport T4 2024 de Spotify. Ce que je veux souligner, c'est le paradoxe : Spotify est profitable pour la première fois de son histoire, et c'est précisément ce moment qu'il faut choisir pour investir dans la gouvernance. Pourquoi ? Parce que la gouvernance en mode 'crise' coûte 10 fois plus cher qu'en mode 'proactif'. Et le secteur en a fait la démonstration : Netflix a été condamné à 4,75 millions EUR en 2024 pour manque de transparence sur ses données. Deezer a subi une fuite de 46 millions de profils. Spotify a déjà été enquêté en Allemagne pour des délais de réponse aux demandes d'accès trop longs. Le risque est réel."</a:t>
            </a:r>
            <a:br>
              <a:rPr lang="en-US"/>
            </a:br>
            <a:r>
              <a:rPr lang="en-US"/>
              <a:t>Transition : "Voyons maintenant où en est Spotify exactement.”</a:t>
            </a:r>
            <a:endParaRPr/>
          </a:p>
        </p:txBody>
      </p:sp>
      <p:sp>
        <p:nvSpPr>
          <p:cNvPr id="88" name="Google Shape;88;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lang="en-US"/>
              <a:t>"Ce tableau illustre un contraste saisissant. Spotify est au niveau 5 en Analytics — les algorithmes Discover Weekly et Wrapped sont reconnus mondialement. Mais elle est au niveau 2 en Gouvernance et Intégration. C'est comme avoir une Formule 1 avec un moteur extraordinaire, mais des freins défaillants. L'objectif de ce programme est de passer ces deux dimensions critiques de 2 à 4 en 18 mois — pas 5, je reste réaliste — avec un score global de 4/5."</a:t>
            </a:r>
            <a:br>
              <a:rPr lang="en-US"/>
            </a:br>
            <a:r>
              <a:rPr lang="en-US"/>
              <a:t>Transition : "Pour y parvenir, j'ai sélectionné un modèle organisationnel spécifique."</a:t>
            </a:r>
            <a:endParaRPr/>
          </a:p>
        </p:txBody>
      </p:sp>
      <p:sp>
        <p:nvSpPr>
          <p:cNvPr id="110" name="Google Shape;110;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lang="en-US"/>
              <a:t>"Pourquoi pas un Data Mesh ? C'est la tendance du moment. La réponse est simple : le Data Mesh nécessite une maturité de gouvernance de niveau 4 minimum pour fonctionner. On ne peut pas sauter des étapes. Le CoE est le modèle adapté à la situation actuelle de Spotify — il pose les fondations sur lesquelles on pourra évoluer vers un modèle plus fédéré dans 3 à 5 ans, quand la maturité sera atteinte. C'est d'ailleurs ce qu'a fait Netflix : ils ont commencé par centraliser avant de fédéraliser."</a:t>
            </a:r>
            <a:br>
              <a:rPr lang="en-US"/>
            </a:br>
            <a:r>
              <a:rPr lang="en-US"/>
              <a:t>Transition : "Les outils vont maintenant suivre la stratégie, pas l'inverse."</a:t>
            </a:r>
            <a:endParaRPr/>
          </a:p>
        </p:txBody>
      </p:sp>
      <p:sp>
        <p:nvSpPr>
          <p:cNvPr id="144" name="Google Shape;144;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9655f934ed_0_4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9655f934ed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lang="en-US"/>
              <a:t>"Une remarque importante : je ne recommande pas les outils les plus connus ou les plus chers. Je recommande les outils les mieux adaptés aux besoins de Spotify à ce stade de maturité. DataHub est excellent, mais il nécessite une équipe d'ingénierie dédiée pour le maintenir — ce n'est pas un investissement pertinent en Phase 1. Soda.io est choisi parce que les Data Stewards métier peuvent écrire leurs propres règles de qualité sans écrire de code. C'est fondamental pour l'adoption."</a:t>
            </a:r>
            <a:br>
              <a:rPr lang="en-US"/>
            </a:br>
            <a:r>
              <a:rPr lang="en-US"/>
              <a:t>Transition : "Parlons maintenant des risques — parce que tout programme de transformation en a."</a:t>
            </a:r>
            <a:endParaRPr/>
          </a:p>
        </p:txBody>
      </p:sp>
      <p:sp>
        <p:nvSpPr>
          <p:cNvPr id="169" name="Google Shape;169;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lang="en-US"/>
              <a:t>"Je veux insister sur le risque #1 — la résistance au changement. Les études Gartner montrent que 70 % des programmes de gouvernance échouent non pas pour des raisons techniques, mais humaines. C'est pourquoi le budget Change Management n'est pas une ligne optionnelle dans mon plan : c'est une ligne critique. On ne déploie pas un catalogue de données, on change des habitudes de travail profondément ancrées."</a:t>
            </a:r>
            <a:br>
              <a:rPr lang="en-US"/>
            </a:br>
            <a:r>
              <a:rPr lang="en-US"/>
              <a:t>Transition : "Voici comment nous allons progresser concrètement."</a:t>
            </a:r>
            <a:endParaRPr/>
          </a:p>
        </p:txBody>
      </p:sp>
      <p:sp>
        <p:nvSpPr>
          <p:cNvPr id="187" name="Google Shape;187;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lang="en-US"/>
              <a:t>"Pourquoi commencer par les métadonnées de recommandation ? Parce que c'est le périmètre où l'impact est directement mesurable et directement lié au cœur du business. Si on améliore la qualité des métadonnées qui alimentent Discover Weekly, on améliore les recommandations, on réduit le churn, et on peut quantifier le ROI du programme dès la Phase 2. C'est le quick win le plus puissant. Et si le pilote échoue — j'ai prévu des critères d'arrêt clairs — on ajuste avant de scaler. On ne peut pas échouer au niveau global si on commence par valider au niveau local."</a:t>
            </a:r>
            <a:br>
              <a:rPr lang="en-US"/>
            </a:br>
            <a:r>
              <a:rPr lang="en-US"/>
              <a:t>Transition : "Voici ce que tout cela représente en termes d'impact financier."</a:t>
            </a:r>
            <a:endParaRPr/>
          </a:p>
        </p:txBody>
      </p:sp>
      <p:sp>
        <p:nvSpPr>
          <p:cNvPr id="215" name="Google Shape;215;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lang="en-US"/>
              <a:t>"Ces chiffres sont basés sur des données publiques réelles — rapport T4 2024 de Spotify, amende Netflix publiée par l'autorité néerlandaise. Ce ne sont pas des projections optimistes, ce sont des ordres de grandeur conservateurs. Le coût de la non-gouvernance est structurellement supérieur au coût de la gouvernance. C'est vrai pour Spotify comme pour toute organisation à ce niveau de complexité et de régulation."</a:t>
            </a:r>
            <a:br>
              <a:rPr lang="en-US"/>
            </a:br>
            <a:r>
              <a:rPr lang="en-US"/>
              <a:t>Transition : "Un mot sur la conformité et l'accessibilité, deux dimensions non-négociables."</a:t>
            </a:r>
            <a:endParaRPr/>
          </a:p>
        </p:txBody>
      </p:sp>
      <p:sp>
        <p:nvSpPr>
          <p:cNvPr id="243" name="Google Shape;243;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lang="en-US"/>
              <a:t>"Je veux insister sur un point : l'accessibilité n'est pas une slide ajoutée pour cocher une case. Elle est intégrée dans chaque décision : dans le choix des outils (Alation et OneTrust ont été audités WCAG), dans la conception des formations, dans les indicateurs de suivi. Pourquoi ? Parce que si un Data Steward en situation de handicap ne peut pas utiliser le catalogue de données, la gouvernance ne fonctionne pas. La gouvernance inclusive est une gouvernance qui fonctionne pour tous — c'est aussi simple que ça."</a:t>
            </a:r>
            <a:br>
              <a:rPr lang="en-US"/>
            </a:br>
            <a:r>
              <a:rPr lang="en-US"/>
              <a:t>Transition : "Pour conclure, voici ce que je vous demande."</a:t>
            </a:r>
            <a:endParaRPr/>
          </a:p>
        </p:txBody>
      </p:sp>
      <p:sp>
        <p:nvSpPr>
          <p:cNvPr id="262" name="Google Shape;262;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lang="en-US"/>
              <a:t>"Je n'ai pas demandé l'approbation du budget total des 18 mois. C'est délibéré. Je demande le budget de la Phase 1 — 391K EUR sur 3 mois. C'est un engagement raisonnable pour un programme qui protège un CA de 15 milliards. À l'issue de la Phase 1, vous aurez des données réelles — baseline pilote, rapport qualité, premier bilan du DGO — pour prendre une décision éclairée sur les Phases 2 et 3. Je suis maintenant disponible pour vos questions."</a:t>
            </a:r>
            <a:endParaRPr/>
          </a:p>
        </p:txBody>
      </p:sp>
      <p:sp>
        <p:nvSpPr>
          <p:cNvPr id="279" name="Google Shape;279;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8"/>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8"/>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1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0"/>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20"/>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21"/>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21"/>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22"/>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22"/>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22"/>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22"/>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24"/>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24"/>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24"/>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5"/>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25"/>
          <p:cNvSpPr/>
          <p:nvPr>
            <p:ph idx="2" type="pic"/>
          </p:nvPr>
        </p:nvSpPr>
        <p:spPr>
          <a:xfrm>
            <a:off x="1792288" y="612775"/>
            <a:ext cx="5486400" cy="4114800"/>
          </a:xfrm>
          <a:prstGeom prst="rect">
            <a:avLst/>
          </a:prstGeom>
          <a:noFill/>
          <a:ln>
            <a:noFill/>
          </a:ln>
        </p:spPr>
      </p:sp>
      <p:sp>
        <p:nvSpPr>
          <p:cNvPr id="64" name="Google Shape;64;p25"/>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26"/>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7"/>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27"/>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0.png"/><Relationship Id="rId4" Type="http://schemas.openxmlformats.org/officeDocument/2006/relationships/image" Target="../media/image7.png"/><Relationship Id="rId5"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12.png"/><Relationship Id="rId5"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8.png"/><Relationship Id="rId4" Type="http://schemas.openxmlformats.org/officeDocument/2006/relationships/image" Target="../media/image6.png"/><Relationship Id="rId5" Type="http://schemas.openxmlformats.org/officeDocument/2006/relationships/image" Target="../media/image5.png"/><Relationship Id="rId6"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8E3D4"/>
        </a:solidFill>
      </p:bgPr>
    </p:bg>
    <p:spTree>
      <p:nvGrpSpPr>
        <p:cNvPr id="83" name="Shape 83"/>
        <p:cNvGrpSpPr/>
        <p:nvPr/>
      </p:nvGrpSpPr>
      <p:grpSpPr>
        <a:xfrm>
          <a:off x="0" y="0"/>
          <a:ext cx="0" cy="0"/>
          <a:chOff x="0" y="0"/>
          <a:chExt cx="0" cy="0"/>
        </a:xfrm>
      </p:grpSpPr>
      <p:sp>
        <p:nvSpPr>
          <p:cNvPr id="84" name="Google Shape;84;p1"/>
          <p:cNvSpPr/>
          <p:nvPr/>
        </p:nvSpPr>
        <p:spPr>
          <a:xfrm>
            <a:off x="756000" y="1908000"/>
            <a:ext cx="7488000" cy="1800000"/>
          </a:xfrm>
          <a:prstGeom prst="rect">
            <a:avLst/>
          </a:prstGeom>
          <a:solidFill>
            <a:schemeClr val="accent6"/>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5" name="Google Shape;85;p1"/>
          <p:cNvSpPr/>
          <p:nvPr/>
        </p:nvSpPr>
        <p:spPr>
          <a:xfrm>
            <a:off x="827999" y="1728000"/>
            <a:ext cx="7488000" cy="1872000"/>
          </a:xfrm>
          <a:prstGeom prst="rect">
            <a:avLst/>
          </a:prstGeom>
          <a:solidFill>
            <a:schemeClr val="lt1"/>
          </a:solidFill>
          <a:ln cap="flat" cmpd="sng" w="9525">
            <a:solidFill>
              <a:schemeClr val="accent1"/>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3600" u="none" cap="none" strike="noStrike">
                <a:solidFill>
                  <a:schemeClr val="dk1"/>
                </a:solidFill>
                <a:latin typeface="Rubik"/>
                <a:ea typeface="Rubik"/>
                <a:cs typeface="Rubik"/>
                <a:sym typeface="Rubik"/>
              </a:rPr>
              <a:t>Gouvernance des Données</a:t>
            </a:r>
            <a:endParaRPr>
              <a:solidFill>
                <a:schemeClr val="dk1"/>
              </a:solidFill>
            </a:endParaRPr>
          </a:p>
          <a:p>
            <a:pPr indent="0" lvl="0" marL="0" marR="0" rtl="0" algn="ctr">
              <a:spcBef>
                <a:spcPts val="800"/>
              </a:spcBef>
              <a:spcAft>
                <a:spcPts val="0"/>
              </a:spcAft>
              <a:buNone/>
            </a:pPr>
            <a:r>
              <a:rPr b="1" i="0" lang="en-US" sz="2400" u="none" cap="none" strike="noStrike">
                <a:solidFill>
                  <a:srgbClr val="26DBE0"/>
                </a:solidFill>
                <a:latin typeface="Rubik"/>
                <a:ea typeface="Rubik"/>
                <a:cs typeface="Rubik"/>
                <a:sym typeface="Rubik"/>
              </a:rPr>
              <a:t>De la Fragmentation à la Confiance chez Spotify</a:t>
            </a:r>
            <a:endParaRPr b="1"/>
          </a:p>
          <a:p>
            <a:pPr indent="0" lvl="0" marL="0" marR="0" rtl="0" algn="ctr">
              <a:spcBef>
                <a:spcPts val="2000"/>
              </a:spcBef>
              <a:spcAft>
                <a:spcPts val="0"/>
              </a:spcAft>
              <a:buNone/>
            </a:pPr>
            <a:r>
              <a:rPr i="0" lang="en-US" sz="1200" u="none" cap="none" strike="noStrike">
                <a:solidFill>
                  <a:schemeClr val="dk1"/>
                </a:solidFill>
                <a:latin typeface="Rubik"/>
                <a:ea typeface="Rubik"/>
                <a:cs typeface="Rubik"/>
                <a:sym typeface="Rubik"/>
              </a:rPr>
              <a:t>Certification AIA — Bloc 1 : Concevoir et Piloter la Gouvernance des Données</a:t>
            </a:r>
            <a:endParaRPr>
              <a:solidFill>
                <a:schemeClr val="dk1"/>
              </a:solidFill>
            </a:endParaRPr>
          </a:p>
          <a:p>
            <a:pPr indent="0" lvl="0" marL="0" marR="0" rtl="0" algn="ctr">
              <a:spcBef>
                <a:spcPts val="400"/>
              </a:spcBef>
              <a:spcAft>
                <a:spcPts val="0"/>
              </a:spcAft>
              <a:buNone/>
            </a:pPr>
            <a:r>
              <a:rPr lang="en-US" sz="1200">
                <a:solidFill>
                  <a:schemeClr val="dk1"/>
                </a:solidFill>
                <a:latin typeface="Rubik"/>
                <a:ea typeface="Rubik"/>
                <a:cs typeface="Rubik"/>
                <a:sym typeface="Rubik"/>
              </a:rPr>
              <a:t>Mathis GENTHON</a:t>
            </a:r>
            <a:r>
              <a:rPr i="0" lang="en-US" sz="1200" u="none" cap="none" strike="noStrike">
                <a:solidFill>
                  <a:schemeClr val="dk1"/>
                </a:solidFill>
                <a:latin typeface="Rubik"/>
                <a:ea typeface="Rubik"/>
                <a:cs typeface="Rubik"/>
                <a:sym typeface="Rubik"/>
              </a:rPr>
              <a:t>  |  7 Avril 2026</a:t>
            </a:r>
            <a:endParaRPr>
              <a:solidFill>
                <a:schemeClr val="dk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8E3D4"/>
        </a:solidFill>
      </p:bgPr>
    </p:bg>
    <p:spTree>
      <p:nvGrpSpPr>
        <p:cNvPr id="89" name="Shape 89"/>
        <p:cNvGrpSpPr/>
        <p:nvPr/>
      </p:nvGrpSpPr>
      <p:grpSpPr>
        <a:xfrm>
          <a:off x="0" y="0"/>
          <a:ext cx="0" cy="0"/>
          <a:chOff x="0" y="0"/>
          <a:chExt cx="0" cy="0"/>
        </a:xfrm>
      </p:grpSpPr>
      <p:sp>
        <p:nvSpPr>
          <p:cNvPr id="90" name="Google Shape;90;p2"/>
          <p:cNvSpPr/>
          <p:nvPr/>
        </p:nvSpPr>
        <p:spPr>
          <a:xfrm>
            <a:off x="936000" y="396000"/>
            <a:ext cx="5544000" cy="540000"/>
          </a:xfrm>
          <a:prstGeom prst="rect">
            <a:avLst/>
          </a:prstGeom>
          <a:solidFill>
            <a:srgbClr val="26DBE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1" name="Google Shape;91;p2"/>
          <p:cNvSpPr/>
          <p:nvPr/>
        </p:nvSpPr>
        <p:spPr>
          <a:xfrm>
            <a:off x="1044000" y="324000"/>
            <a:ext cx="5544000" cy="540000"/>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b="1" i="0" lang="en-US" sz="1800" u="none" cap="none" strike="noStrike">
                <a:solidFill>
                  <a:srgbClr val="000000"/>
                </a:solidFill>
                <a:latin typeface="Rubik"/>
                <a:ea typeface="Rubik"/>
                <a:cs typeface="Rubik"/>
                <a:sym typeface="Rubik"/>
              </a:rPr>
              <a:t>LE DÉFI : UNE CROISSANCE PLUS RAPIDE QUE LA GOUVERNANCE </a:t>
            </a:r>
            <a:r>
              <a:rPr b="1" lang="en-US" sz="1800">
                <a:latin typeface="Rubik"/>
                <a:ea typeface="Rubik"/>
                <a:cs typeface="Rubik"/>
                <a:sym typeface="Rubik"/>
              </a:rPr>
              <a:t>EN 2024</a:t>
            </a:r>
            <a:endParaRPr/>
          </a:p>
        </p:txBody>
      </p:sp>
      <p:sp>
        <p:nvSpPr>
          <p:cNvPr id="92" name="Google Shape;92;p2"/>
          <p:cNvSpPr/>
          <p:nvPr/>
        </p:nvSpPr>
        <p:spPr>
          <a:xfrm>
            <a:off x="576000" y="2263450"/>
            <a:ext cx="2340000" cy="612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3" name="Google Shape;93;p2"/>
          <p:cNvSpPr/>
          <p:nvPr/>
        </p:nvSpPr>
        <p:spPr>
          <a:xfrm>
            <a:off x="648000" y="2335450"/>
            <a:ext cx="2340000" cy="612000"/>
          </a:xfrm>
          <a:prstGeom prst="roundRect">
            <a:avLst>
              <a:gd fmla="val 5000" name="adj"/>
            </a:avLst>
          </a:prstGeom>
          <a:solidFill>
            <a:srgbClr val="26DBE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400" u="none" cap="none" strike="noStrike">
                <a:solidFill>
                  <a:srgbClr val="FFFFFF"/>
                </a:solidFill>
                <a:latin typeface="Rubik"/>
                <a:ea typeface="Rubik"/>
                <a:cs typeface="Rubik"/>
                <a:sym typeface="Rubik"/>
              </a:rPr>
              <a:t>UTILISATEURS</a:t>
            </a:r>
            <a:endParaRPr/>
          </a:p>
        </p:txBody>
      </p:sp>
      <p:sp>
        <p:nvSpPr>
          <p:cNvPr id="94" name="Google Shape;94;p2"/>
          <p:cNvSpPr/>
          <p:nvPr/>
        </p:nvSpPr>
        <p:spPr>
          <a:xfrm>
            <a:off x="3420000" y="2263450"/>
            <a:ext cx="2340000" cy="612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5" name="Google Shape;95;p2"/>
          <p:cNvSpPr/>
          <p:nvPr/>
        </p:nvSpPr>
        <p:spPr>
          <a:xfrm>
            <a:off x="3492000" y="2335450"/>
            <a:ext cx="2340000" cy="612000"/>
          </a:xfrm>
          <a:prstGeom prst="roundRect">
            <a:avLst>
              <a:gd fmla="val 5000" name="adj"/>
            </a:avLst>
          </a:prstGeom>
          <a:solidFill>
            <a:srgbClr val="A329DE"/>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400" u="none" cap="none" strike="noStrike">
                <a:solidFill>
                  <a:srgbClr val="FFFFFF"/>
                </a:solidFill>
                <a:latin typeface="Rubik"/>
                <a:ea typeface="Rubik"/>
                <a:cs typeface="Rubik"/>
                <a:sym typeface="Rubik"/>
              </a:rPr>
              <a:t>REVENUS</a:t>
            </a:r>
            <a:endParaRPr/>
          </a:p>
        </p:txBody>
      </p:sp>
      <p:sp>
        <p:nvSpPr>
          <p:cNvPr id="96" name="Google Shape;96;p2"/>
          <p:cNvSpPr/>
          <p:nvPr/>
        </p:nvSpPr>
        <p:spPr>
          <a:xfrm>
            <a:off x="6228000" y="2263450"/>
            <a:ext cx="2340000" cy="612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7" name="Google Shape;97;p2"/>
          <p:cNvSpPr/>
          <p:nvPr/>
        </p:nvSpPr>
        <p:spPr>
          <a:xfrm>
            <a:off x="6300000" y="2335450"/>
            <a:ext cx="2340000" cy="612000"/>
          </a:xfrm>
          <a:prstGeom prst="roundRect">
            <a:avLst>
              <a:gd fmla="val 5000" name="adj"/>
            </a:avLst>
          </a:prstGeom>
          <a:solidFill>
            <a:srgbClr val="282A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400" u="none" cap="none" strike="noStrike">
                <a:solidFill>
                  <a:srgbClr val="FFFFFF"/>
                </a:solidFill>
                <a:latin typeface="Rubik"/>
                <a:ea typeface="Rubik"/>
                <a:cs typeface="Rubik"/>
                <a:sym typeface="Rubik"/>
              </a:rPr>
              <a:t>RISQUE</a:t>
            </a:r>
            <a:endParaRPr/>
          </a:p>
        </p:txBody>
      </p:sp>
      <p:sp>
        <p:nvSpPr>
          <p:cNvPr id="98" name="Google Shape;98;p2"/>
          <p:cNvSpPr/>
          <p:nvPr/>
        </p:nvSpPr>
        <p:spPr>
          <a:xfrm>
            <a:off x="396000" y="3127450"/>
            <a:ext cx="2592000" cy="324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spcBef>
                <a:spcPts val="0"/>
              </a:spcBef>
              <a:spcAft>
                <a:spcPts val="0"/>
              </a:spcAft>
              <a:buNone/>
            </a:pPr>
            <a:r>
              <a:rPr b="1" i="0" lang="en-US" sz="1000" u="none" cap="none" strike="noStrike">
                <a:solidFill>
                  <a:srgbClr val="000000"/>
                </a:solidFill>
                <a:latin typeface="Rubik"/>
                <a:ea typeface="Rubik"/>
                <a:cs typeface="Rubik"/>
                <a:sym typeface="Rubik"/>
              </a:rPr>
              <a:t>675M utilisateurs actifs mensuels (+12 % vs 2023)</a:t>
            </a:r>
            <a:endParaRPr/>
          </a:p>
        </p:txBody>
      </p:sp>
      <p:sp>
        <p:nvSpPr>
          <p:cNvPr id="99" name="Google Shape;99;p2"/>
          <p:cNvSpPr/>
          <p:nvPr/>
        </p:nvSpPr>
        <p:spPr>
          <a:xfrm>
            <a:off x="396000" y="3559450"/>
            <a:ext cx="2592000" cy="324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spcBef>
                <a:spcPts val="0"/>
              </a:spcBef>
              <a:spcAft>
                <a:spcPts val="0"/>
              </a:spcAft>
              <a:buNone/>
            </a:pPr>
            <a:r>
              <a:rPr b="1" i="0" lang="en-US" sz="1000" u="none" cap="none" strike="noStrike">
                <a:solidFill>
                  <a:srgbClr val="000000"/>
                </a:solidFill>
                <a:latin typeface="Rubik"/>
                <a:ea typeface="Rubik"/>
                <a:cs typeface="Rubik"/>
                <a:sym typeface="Rubik"/>
              </a:rPr>
              <a:t>263M abonnés Premium (+11 %)</a:t>
            </a:r>
            <a:endParaRPr/>
          </a:p>
        </p:txBody>
      </p:sp>
      <p:sp>
        <p:nvSpPr>
          <p:cNvPr id="100" name="Google Shape;100;p2"/>
          <p:cNvSpPr/>
          <p:nvPr/>
        </p:nvSpPr>
        <p:spPr>
          <a:xfrm>
            <a:off x="3276000" y="3127450"/>
            <a:ext cx="2592000" cy="324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spcBef>
                <a:spcPts val="0"/>
              </a:spcBef>
              <a:spcAft>
                <a:spcPts val="0"/>
              </a:spcAft>
              <a:buNone/>
            </a:pPr>
            <a:r>
              <a:rPr b="1" i="0" lang="en-US" sz="1000" u="none" cap="none" strike="noStrike">
                <a:solidFill>
                  <a:srgbClr val="000000"/>
                </a:solidFill>
                <a:latin typeface="Rubik"/>
                <a:ea typeface="Rubik"/>
                <a:cs typeface="Rubik"/>
                <a:sym typeface="Rubik"/>
              </a:rPr>
              <a:t>15,67 Md EUR de chiffre d'affaires</a:t>
            </a:r>
            <a:endParaRPr/>
          </a:p>
        </p:txBody>
      </p:sp>
      <p:sp>
        <p:nvSpPr>
          <p:cNvPr id="101" name="Google Shape;101;p2"/>
          <p:cNvSpPr/>
          <p:nvPr/>
        </p:nvSpPr>
        <p:spPr>
          <a:xfrm>
            <a:off x="3276000" y="3559450"/>
            <a:ext cx="2592000" cy="324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spcBef>
                <a:spcPts val="0"/>
              </a:spcBef>
              <a:spcAft>
                <a:spcPts val="0"/>
              </a:spcAft>
              <a:buNone/>
            </a:pPr>
            <a:r>
              <a:rPr b="1" i="0" lang="en-US" sz="1000" u="none" cap="none" strike="noStrike">
                <a:solidFill>
                  <a:srgbClr val="000000"/>
                </a:solidFill>
                <a:latin typeface="Rubik"/>
                <a:ea typeface="Rubik"/>
                <a:cs typeface="Rubik"/>
                <a:sym typeface="Rubik"/>
              </a:rPr>
              <a:t>1ère année entièrement profitable</a:t>
            </a:r>
            <a:endParaRPr/>
          </a:p>
        </p:txBody>
      </p:sp>
      <p:sp>
        <p:nvSpPr>
          <p:cNvPr id="102" name="Google Shape;102;p2"/>
          <p:cNvSpPr/>
          <p:nvPr/>
        </p:nvSpPr>
        <p:spPr>
          <a:xfrm>
            <a:off x="6156000" y="3127450"/>
            <a:ext cx="2808000" cy="324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spcBef>
                <a:spcPts val="0"/>
              </a:spcBef>
              <a:spcAft>
                <a:spcPts val="0"/>
              </a:spcAft>
              <a:buNone/>
            </a:pPr>
            <a:r>
              <a:rPr b="1" i="0" lang="en-US" sz="900" u="none" cap="none" strike="noStrike">
                <a:solidFill>
                  <a:srgbClr val="000000"/>
                </a:solidFill>
                <a:latin typeface="Rubik"/>
                <a:ea typeface="Rubik"/>
                <a:cs typeface="Rubik"/>
                <a:sym typeface="Rubik"/>
              </a:rPr>
              <a:t>Vues utilisateurs contradictoires entre BU</a:t>
            </a:r>
            <a:endParaRPr/>
          </a:p>
        </p:txBody>
      </p:sp>
      <p:sp>
        <p:nvSpPr>
          <p:cNvPr id="103" name="Google Shape;103;p2"/>
          <p:cNvSpPr/>
          <p:nvPr/>
        </p:nvSpPr>
        <p:spPr>
          <a:xfrm>
            <a:off x="6156000" y="3559450"/>
            <a:ext cx="2808000" cy="324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spcBef>
                <a:spcPts val="0"/>
              </a:spcBef>
              <a:spcAft>
                <a:spcPts val="0"/>
              </a:spcAft>
              <a:buNone/>
            </a:pPr>
            <a:r>
              <a:rPr b="1" i="0" lang="en-US" sz="900" u="none" cap="none" strike="noStrike">
                <a:solidFill>
                  <a:srgbClr val="000000"/>
                </a:solidFill>
                <a:latin typeface="Rubik"/>
                <a:ea typeface="Rubik"/>
                <a:cs typeface="Rubik"/>
                <a:sym typeface="Rubik"/>
              </a:rPr>
              <a:t>Amendes potentielles : 628M EUR (4 % CA)</a:t>
            </a:r>
            <a:endParaRPr/>
          </a:p>
        </p:txBody>
      </p:sp>
      <p:sp>
        <p:nvSpPr>
          <p:cNvPr id="104" name="Google Shape;104;p2"/>
          <p:cNvSpPr/>
          <p:nvPr/>
        </p:nvSpPr>
        <p:spPr>
          <a:xfrm>
            <a:off x="396000" y="4266375"/>
            <a:ext cx="8280000" cy="360000"/>
          </a:xfrm>
          <a:prstGeom prst="roundRect">
            <a:avLst>
              <a:gd fmla="val 5000" name="adj"/>
            </a:avLst>
          </a:prstGeom>
          <a:solidFill>
            <a:schemeClr val="accent6"/>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spcBef>
                <a:spcPts val="0"/>
              </a:spcBef>
              <a:spcAft>
                <a:spcPts val="0"/>
              </a:spcAft>
              <a:buNone/>
            </a:pPr>
            <a:r>
              <a:rPr b="1" i="0" lang="en-US" sz="1100" u="none" cap="none" strike="noStrike">
                <a:solidFill>
                  <a:srgbClr val="FFFFFF"/>
                </a:solidFill>
                <a:latin typeface="Rubik"/>
                <a:ea typeface="Rubik"/>
                <a:cs typeface="Rubik"/>
                <a:sym typeface="Rubik"/>
              </a:rPr>
              <a:t>Aucune mesure formelle de qualité des métadonnées alimentant Discover Weekly</a:t>
            </a:r>
            <a:endParaRPr/>
          </a:p>
        </p:txBody>
      </p:sp>
      <p:pic>
        <p:nvPicPr>
          <p:cNvPr id="105" name="Google Shape;105;p2"/>
          <p:cNvPicPr preferRelativeResize="0"/>
          <p:nvPr/>
        </p:nvPicPr>
        <p:blipFill>
          <a:blip r:embed="rId3">
            <a:alphaModFix/>
          </a:blip>
          <a:stretch>
            <a:fillRect/>
          </a:stretch>
        </p:blipFill>
        <p:spPr>
          <a:xfrm>
            <a:off x="1152075" y="1095801"/>
            <a:ext cx="1079838" cy="1079838"/>
          </a:xfrm>
          <a:prstGeom prst="rect">
            <a:avLst/>
          </a:prstGeom>
          <a:noFill/>
          <a:ln>
            <a:noFill/>
          </a:ln>
        </p:spPr>
      </p:pic>
      <p:pic>
        <p:nvPicPr>
          <p:cNvPr id="106" name="Google Shape;106;p2"/>
          <p:cNvPicPr preferRelativeResize="0"/>
          <p:nvPr/>
        </p:nvPicPr>
        <p:blipFill>
          <a:blip r:embed="rId4">
            <a:alphaModFix/>
          </a:blip>
          <a:stretch>
            <a:fillRect/>
          </a:stretch>
        </p:blipFill>
        <p:spPr>
          <a:xfrm>
            <a:off x="4070175" y="1095837"/>
            <a:ext cx="1863049" cy="1216688"/>
          </a:xfrm>
          <a:prstGeom prst="rect">
            <a:avLst/>
          </a:prstGeom>
          <a:noFill/>
          <a:ln>
            <a:noFill/>
          </a:ln>
        </p:spPr>
      </p:pic>
      <p:pic>
        <p:nvPicPr>
          <p:cNvPr id="107" name="Google Shape;107;p2"/>
          <p:cNvPicPr preferRelativeResize="0"/>
          <p:nvPr/>
        </p:nvPicPr>
        <p:blipFill>
          <a:blip r:embed="rId5">
            <a:alphaModFix/>
          </a:blip>
          <a:stretch>
            <a:fillRect/>
          </a:stretch>
        </p:blipFill>
        <p:spPr>
          <a:xfrm>
            <a:off x="6823212" y="1154549"/>
            <a:ext cx="1473577" cy="962349"/>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8E3D4"/>
        </a:solidFill>
      </p:bgPr>
    </p:bg>
    <p:spTree>
      <p:nvGrpSpPr>
        <p:cNvPr id="111" name="Shape 111"/>
        <p:cNvGrpSpPr/>
        <p:nvPr/>
      </p:nvGrpSpPr>
      <p:grpSpPr>
        <a:xfrm>
          <a:off x="0" y="0"/>
          <a:ext cx="0" cy="0"/>
          <a:chOff x="0" y="0"/>
          <a:chExt cx="0" cy="0"/>
        </a:xfrm>
      </p:grpSpPr>
      <p:sp>
        <p:nvSpPr>
          <p:cNvPr id="112" name="Google Shape;112;p3"/>
          <p:cNvSpPr/>
          <p:nvPr/>
        </p:nvSpPr>
        <p:spPr>
          <a:xfrm>
            <a:off x="936000" y="396000"/>
            <a:ext cx="5544000" cy="540000"/>
          </a:xfrm>
          <a:prstGeom prst="rect">
            <a:avLst/>
          </a:prstGeom>
          <a:solidFill>
            <a:srgbClr val="A329DE"/>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3" name="Google Shape;113;p3"/>
          <p:cNvSpPr/>
          <p:nvPr/>
        </p:nvSpPr>
        <p:spPr>
          <a:xfrm>
            <a:off x="1044000" y="324000"/>
            <a:ext cx="5544000" cy="540000"/>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b="1" i="0" lang="en-US" sz="1800" u="none" cap="none" strike="noStrike">
                <a:solidFill>
                  <a:srgbClr val="000000"/>
                </a:solidFill>
                <a:latin typeface="Rubik"/>
                <a:ea typeface="Rubik"/>
                <a:cs typeface="Rubik"/>
                <a:sym typeface="Rubik"/>
              </a:rPr>
              <a:t>ÉTAT DES LIEUX : LE PARADOXE SPOTIFY</a:t>
            </a:r>
            <a:endParaRPr/>
          </a:p>
        </p:txBody>
      </p:sp>
      <p:sp>
        <p:nvSpPr>
          <p:cNvPr id="114" name="Google Shape;114;p3"/>
          <p:cNvSpPr/>
          <p:nvPr/>
        </p:nvSpPr>
        <p:spPr>
          <a:xfrm>
            <a:off x="6824275" y="3297238"/>
            <a:ext cx="1908000" cy="684000"/>
          </a:xfrm>
          <a:prstGeom prst="roundRect">
            <a:avLst>
              <a:gd fmla="val 5000" name="adj"/>
            </a:avLst>
          </a:prstGeom>
          <a:solidFill>
            <a:srgbClr val="A329DE"/>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5" name="Google Shape;115;p3"/>
          <p:cNvSpPr/>
          <p:nvPr/>
        </p:nvSpPr>
        <p:spPr>
          <a:xfrm>
            <a:off x="6896275" y="3225238"/>
            <a:ext cx="1908000" cy="684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100" u="none" cap="none" strike="noStrike">
                <a:solidFill>
                  <a:srgbClr val="000000"/>
                </a:solidFill>
                <a:latin typeface="Rubik SemiBold"/>
                <a:ea typeface="Rubik SemiBold"/>
                <a:cs typeface="Rubik SemiBold"/>
                <a:sym typeface="Rubik SemiBold"/>
              </a:rPr>
              <a:t>DMBOK v2</a:t>
            </a:r>
            <a:br>
              <a:rPr b="0" i="0" lang="en-US" sz="1100" u="none" cap="none" strike="noStrike">
                <a:solidFill>
                  <a:srgbClr val="000000"/>
                </a:solidFill>
                <a:latin typeface="Rubik SemiBold"/>
                <a:ea typeface="Rubik SemiBold"/>
                <a:cs typeface="Rubik SemiBold"/>
                <a:sym typeface="Rubik SemiBold"/>
              </a:rPr>
            </a:br>
            <a:r>
              <a:rPr b="0" i="0" lang="en-US" sz="1100" u="none" cap="none" strike="noStrike">
                <a:solidFill>
                  <a:srgbClr val="000000"/>
                </a:solidFill>
                <a:latin typeface="Rubik SemiBold"/>
                <a:ea typeface="Rubik SemiBold"/>
                <a:cs typeface="Rubik SemiBold"/>
                <a:sym typeface="Rubik SemiBold"/>
              </a:rPr>
              <a:t>DAMA International</a:t>
            </a:r>
            <a:endParaRPr/>
          </a:p>
        </p:txBody>
      </p:sp>
      <p:sp>
        <p:nvSpPr>
          <p:cNvPr id="116" name="Google Shape;116;p3"/>
          <p:cNvSpPr/>
          <p:nvPr/>
        </p:nvSpPr>
        <p:spPr>
          <a:xfrm>
            <a:off x="360000" y="1152000"/>
            <a:ext cx="2880000" cy="324000"/>
          </a:xfrm>
          <a:prstGeom prst="roundRect">
            <a:avLst>
              <a:gd fmla="val 5000" name="adj"/>
            </a:avLst>
          </a:prstGeom>
          <a:solidFill>
            <a:srgbClr val="26DBE0"/>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spcBef>
                <a:spcPts val="0"/>
              </a:spcBef>
              <a:spcAft>
                <a:spcPts val="0"/>
              </a:spcAft>
              <a:buNone/>
            </a:pPr>
            <a:r>
              <a:rPr b="1" i="0" lang="en-US" sz="1000" u="none" cap="none" strike="noStrike">
                <a:solidFill>
                  <a:srgbClr val="FFFFFF"/>
                </a:solidFill>
                <a:latin typeface="Rubik"/>
                <a:ea typeface="Rubik"/>
                <a:cs typeface="Rubik"/>
                <a:sym typeface="Rubik"/>
              </a:rPr>
              <a:t>Dimension</a:t>
            </a:r>
            <a:endParaRPr/>
          </a:p>
        </p:txBody>
      </p:sp>
      <p:sp>
        <p:nvSpPr>
          <p:cNvPr id="117" name="Google Shape;117;p3"/>
          <p:cNvSpPr/>
          <p:nvPr/>
        </p:nvSpPr>
        <p:spPr>
          <a:xfrm>
            <a:off x="3311999" y="1152000"/>
            <a:ext cx="1080000" cy="324000"/>
          </a:xfrm>
          <a:prstGeom prst="roundRect">
            <a:avLst>
              <a:gd fmla="val 5000" name="adj"/>
            </a:avLst>
          </a:prstGeom>
          <a:solidFill>
            <a:srgbClr val="26DBE0"/>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spcBef>
                <a:spcPts val="0"/>
              </a:spcBef>
              <a:spcAft>
                <a:spcPts val="0"/>
              </a:spcAft>
              <a:buNone/>
            </a:pPr>
            <a:r>
              <a:rPr b="1" i="0" lang="en-US" sz="1000" u="none" cap="none" strike="noStrike">
                <a:solidFill>
                  <a:srgbClr val="FFFFFF"/>
                </a:solidFill>
                <a:latin typeface="Rubik"/>
                <a:ea typeface="Rubik"/>
                <a:cs typeface="Rubik"/>
                <a:sym typeface="Rubik"/>
              </a:rPr>
              <a:t>Actuel</a:t>
            </a:r>
            <a:endParaRPr/>
          </a:p>
        </p:txBody>
      </p:sp>
      <p:sp>
        <p:nvSpPr>
          <p:cNvPr id="118" name="Google Shape;118;p3"/>
          <p:cNvSpPr/>
          <p:nvPr/>
        </p:nvSpPr>
        <p:spPr>
          <a:xfrm>
            <a:off x="4464000" y="1152000"/>
            <a:ext cx="1440000" cy="324000"/>
          </a:xfrm>
          <a:prstGeom prst="roundRect">
            <a:avLst>
              <a:gd fmla="val 5000" name="adj"/>
            </a:avLst>
          </a:prstGeom>
          <a:solidFill>
            <a:srgbClr val="26DBE0"/>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spcBef>
                <a:spcPts val="0"/>
              </a:spcBef>
              <a:spcAft>
                <a:spcPts val="0"/>
              </a:spcAft>
              <a:buNone/>
            </a:pPr>
            <a:r>
              <a:rPr b="1" i="0" lang="en-US" sz="1000" u="none" cap="none" strike="noStrike">
                <a:solidFill>
                  <a:srgbClr val="FFFFFF"/>
                </a:solidFill>
                <a:latin typeface="Rubik"/>
                <a:ea typeface="Rubik"/>
                <a:cs typeface="Rubik"/>
                <a:sym typeface="Rubik"/>
              </a:rPr>
              <a:t>Cible 18 mois</a:t>
            </a:r>
            <a:endParaRPr/>
          </a:p>
        </p:txBody>
      </p:sp>
      <p:sp>
        <p:nvSpPr>
          <p:cNvPr id="119" name="Google Shape;119;p3"/>
          <p:cNvSpPr/>
          <p:nvPr/>
        </p:nvSpPr>
        <p:spPr>
          <a:xfrm>
            <a:off x="360000" y="1548000"/>
            <a:ext cx="2880000" cy="324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spcBef>
                <a:spcPts val="0"/>
              </a:spcBef>
              <a:spcAft>
                <a:spcPts val="0"/>
              </a:spcAft>
              <a:buNone/>
            </a:pPr>
            <a:r>
              <a:rPr b="1" i="0" lang="en-US" sz="900" u="none" cap="none" strike="noStrike">
                <a:solidFill>
                  <a:srgbClr val="000000"/>
                </a:solidFill>
                <a:latin typeface="Rubik"/>
                <a:ea typeface="Rubik"/>
                <a:cs typeface="Rubik"/>
                <a:sym typeface="Rubik"/>
              </a:rPr>
              <a:t>Analytics &amp; BI</a:t>
            </a:r>
            <a:endParaRPr/>
          </a:p>
        </p:txBody>
      </p:sp>
      <p:sp>
        <p:nvSpPr>
          <p:cNvPr id="120" name="Google Shape;120;p3"/>
          <p:cNvSpPr/>
          <p:nvPr/>
        </p:nvSpPr>
        <p:spPr>
          <a:xfrm>
            <a:off x="3311999" y="1548000"/>
            <a:ext cx="1080000" cy="324000"/>
          </a:xfrm>
          <a:prstGeom prst="roundRect">
            <a:avLst>
              <a:gd fmla="val 5000" name="adj"/>
            </a:avLst>
          </a:prstGeom>
          <a:solidFill>
            <a:srgbClr val="26DBE0"/>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ctr">
              <a:spcBef>
                <a:spcPts val="0"/>
              </a:spcBef>
              <a:spcAft>
                <a:spcPts val="0"/>
              </a:spcAft>
              <a:buNone/>
            </a:pPr>
            <a:r>
              <a:rPr b="1" i="0" lang="en-US" sz="1000" u="none" cap="none" strike="noStrike">
                <a:solidFill>
                  <a:srgbClr val="FFFFFF"/>
                </a:solidFill>
                <a:latin typeface="Rubik"/>
                <a:ea typeface="Rubik"/>
                <a:cs typeface="Rubik"/>
                <a:sym typeface="Rubik"/>
              </a:rPr>
              <a:t>5</a:t>
            </a:r>
            <a:endParaRPr/>
          </a:p>
        </p:txBody>
      </p:sp>
      <p:sp>
        <p:nvSpPr>
          <p:cNvPr id="121" name="Google Shape;121;p3"/>
          <p:cNvSpPr/>
          <p:nvPr/>
        </p:nvSpPr>
        <p:spPr>
          <a:xfrm>
            <a:off x="4464000" y="1548000"/>
            <a:ext cx="1440000" cy="324000"/>
          </a:xfrm>
          <a:prstGeom prst="roundRect">
            <a:avLst>
              <a:gd fmla="val 5000" name="adj"/>
            </a:avLst>
          </a:prstGeom>
          <a:solidFill>
            <a:schemeClr val="accent6"/>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ctr">
              <a:spcBef>
                <a:spcPts val="0"/>
              </a:spcBef>
              <a:spcAft>
                <a:spcPts val="0"/>
              </a:spcAft>
              <a:buNone/>
            </a:pPr>
            <a:r>
              <a:rPr b="1" i="0" lang="en-US" sz="1000" u="none" cap="none" strike="noStrike">
                <a:solidFill>
                  <a:schemeClr val="lt1"/>
                </a:solidFill>
                <a:latin typeface="Rubik"/>
                <a:ea typeface="Rubik"/>
                <a:cs typeface="Rubik"/>
                <a:sym typeface="Rubik"/>
              </a:rPr>
              <a:t>5</a:t>
            </a:r>
            <a:endParaRPr>
              <a:solidFill>
                <a:schemeClr val="lt1"/>
              </a:solidFill>
            </a:endParaRPr>
          </a:p>
        </p:txBody>
      </p:sp>
      <p:sp>
        <p:nvSpPr>
          <p:cNvPr id="122" name="Google Shape;122;p3"/>
          <p:cNvSpPr/>
          <p:nvPr/>
        </p:nvSpPr>
        <p:spPr>
          <a:xfrm>
            <a:off x="360000" y="1926000"/>
            <a:ext cx="2880000" cy="324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spcBef>
                <a:spcPts val="0"/>
              </a:spcBef>
              <a:spcAft>
                <a:spcPts val="0"/>
              </a:spcAft>
              <a:buNone/>
            </a:pPr>
            <a:r>
              <a:rPr b="1" lang="en-US" sz="900">
                <a:latin typeface="Rubik"/>
                <a:ea typeface="Rubik"/>
                <a:cs typeface="Rubik"/>
                <a:sym typeface="Rubik"/>
              </a:rPr>
              <a:t>Data Literacy</a:t>
            </a:r>
            <a:endParaRPr/>
          </a:p>
        </p:txBody>
      </p:sp>
      <p:sp>
        <p:nvSpPr>
          <p:cNvPr id="123" name="Google Shape;123;p3"/>
          <p:cNvSpPr/>
          <p:nvPr/>
        </p:nvSpPr>
        <p:spPr>
          <a:xfrm>
            <a:off x="3311999" y="1926000"/>
            <a:ext cx="1080000" cy="324000"/>
          </a:xfrm>
          <a:prstGeom prst="roundRect">
            <a:avLst>
              <a:gd fmla="val 5000" name="adj"/>
            </a:avLst>
          </a:prstGeom>
          <a:solidFill>
            <a:srgbClr val="26DBE0"/>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ctr">
              <a:spcBef>
                <a:spcPts val="0"/>
              </a:spcBef>
              <a:spcAft>
                <a:spcPts val="0"/>
              </a:spcAft>
              <a:buNone/>
            </a:pPr>
            <a:r>
              <a:rPr b="1" i="0" lang="en-US" sz="1000" u="none" cap="none" strike="noStrike">
                <a:solidFill>
                  <a:srgbClr val="FFFFFF"/>
                </a:solidFill>
                <a:latin typeface="Rubik"/>
                <a:ea typeface="Rubik"/>
                <a:cs typeface="Rubik"/>
                <a:sym typeface="Rubik"/>
              </a:rPr>
              <a:t>4</a:t>
            </a:r>
            <a:endParaRPr/>
          </a:p>
        </p:txBody>
      </p:sp>
      <p:sp>
        <p:nvSpPr>
          <p:cNvPr id="124" name="Google Shape;124;p3"/>
          <p:cNvSpPr/>
          <p:nvPr/>
        </p:nvSpPr>
        <p:spPr>
          <a:xfrm>
            <a:off x="4464000" y="1926000"/>
            <a:ext cx="1440000" cy="324000"/>
          </a:xfrm>
          <a:prstGeom prst="roundRect">
            <a:avLst>
              <a:gd fmla="val 5000" name="adj"/>
            </a:avLst>
          </a:prstGeom>
          <a:solidFill>
            <a:schemeClr val="accent6"/>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ctr">
              <a:spcBef>
                <a:spcPts val="0"/>
              </a:spcBef>
              <a:spcAft>
                <a:spcPts val="0"/>
              </a:spcAft>
              <a:buNone/>
            </a:pPr>
            <a:r>
              <a:rPr b="1" i="0" lang="en-US" sz="1000" u="none" cap="none" strike="noStrike">
                <a:solidFill>
                  <a:schemeClr val="lt1"/>
                </a:solidFill>
                <a:latin typeface="Rubik"/>
                <a:ea typeface="Rubik"/>
                <a:cs typeface="Rubik"/>
                <a:sym typeface="Rubik"/>
              </a:rPr>
              <a:t>4</a:t>
            </a:r>
            <a:endParaRPr>
              <a:solidFill>
                <a:schemeClr val="lt1"/>
              </a:solidFill>
            </a:endParaRPr>
          </a:p>
        </p:txBody>
      </p:sp>
      <p:sp>
        <p:nvSpPr>
          <p:cNvPr id="125" name="Google Shape;125;p3"/>
          <p:cNvSpPr/>
          <p:nvPr/>
        </p:nvSpPr>
        <p:spPr>
          <a:xfrm>
            <a:off x="360000" y="2304000"/>
            <a:ext cx="2880000" cy="324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spcBef>
                <a:spcPts val="0"/>
              </a:spcBef>
              <a:spcAft>
                <a:spcPts val="0"/>
              </a:spcAft>
              <a:buNone/>
            </a:pPr>
            <a:r>
              <a:rPr b="1" i="0" lang="en-US" sz="900" u="none" cap="none" strike="noStrike">
                <a:solidFill>
                  <a:srgbClr val="000000"/>
                </a:solidFill>
                <a:latin typeface="Rubik"/>
                <a:ea typeface="Rubik"/>
                <a:cs typeface="Rubik"/>
                <a:sym typeface="Rubik"/>
              </a:rPr>
              <a:t>Sécurité des Données</a:t>
            </a:r>
            <a:endParaRPr/>
          </a:p>
        </p:txBody>
      </p:sp>
      <p:sp>
        <p:nvSpPr>
          <p:cNvPr id="126" name="Google Shape;126;p3"/>
          <p:cNvSpPr/>
          <p:nvPr/>
        </p:nvSpPr>
        <p:spPr>
          <a:xfrm>
            <a:off x="3311999" y="2304000"/>
            <a:ext cx="1080000" cy="324000"/>
          </a:xfrm>
          <a:prstGeom prst="roundRect">
            <a:avLst>
              <a:gd fmla="val 5000" name="adj"/>
            </a:avLst>
          </a:prstGeom>
          <a:solidFill>
            <a:srgbClr val="26DBE0"/>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ctr">
              <a:spcBef>
                <a:spcPts val="0"/>
              </a:spcBef>
              <a:spcAft>
                <a:spcPts val="0"/>
              </a:spcAft>
              <a:buNone/>
            </a:pPr>
            <a:r>
              <a:rPr b="1" i="0" lang="en-US" sz="1000" u="none" cap="none" strike="noStrike">
                <a:solidFill>
                  <a:srgbClr val="FFFFFF"/>
                </a:solidFill>
                <a:latin typeface="Rubik"/>
                <a:ea typeface="Rubik"/>
                <a:cs typeface="Rubik"/>
                <a:sym typeface="Rubik"/>
              </a:rPr>
              <a:t>4</a:t>
            </a:r>
            <a:endParaRPr/>
          </a:p>
        </p:txBody>
      </p:sp>
      <p:sp>
        <p:nvSpPr>
          <p:cNvPr id="127" name="Google Shape;127;p3"/>
          <p:cNvSpPr/>
          <p:nvPr/>
        </p:nvSpPr>
        <p:spPr>
          <a:xfrm>
            <a:off x="4464000" y="2304000"/>
            <a:ext cx="1440000" cy="324000"/>
          </a:xfrm>
          <a:prstGeom prst="roundRect">
            <a:avLst>
              <a:gd fmla="val 5000" name="adj"/>
            </a:avLst>
          </a:prstGeom>
          <a:solidFill>
            <a:schemeClr val="accent6"/>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ctr">
              <a:spcBef>
                <a:spcPts val="0"/>
              </a:spcBef>
              <a:spcAft>
                <a:spcPts val="0"/>
              </a:spcAft>
              <a:buNone/>
            </a:pPr>
            <a:r>
              <a:rPr b="1" i="0" lang="en-US" sz="1000" u="none" cap="none" strike="noStrike">
                <a:solidFill>
                  <a:schemeClr val="lt1"/>
                </a:solidFill>
                <a:latin typeface="Rubik"/>
                <a:ea typeface="Rubik"/>
                <a:cs typeface="Rubik"/>
                <a:sym typeface="Rubik"/>
              </a:rPr>
              <a:t>4</a:t>
            </a:r>
            <a:endParaRPr>
              <a:solidFill>
                <a:schemeClr val="lt1"/>
              </a:solidFill>
            </a:endParaRPr>
          </a:p>
        </p:txBody>
      </p:sp>
      <p:sp>
        <p:nvSpPr>
          <p:cNvPr id="128" name="Google Shape;128;p3"/>
          <p:cNvSpPr/>
          <p:nvPr/>
        </p:nvSpPr>
        <p:spPr>
          <a:xfrm>
            <a:off x="360000" y="2682000"/>
            <a:ext cx="2880000" cy="324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spcBef>
                <a:spcPts val="0"/>
              </a:spcBef>
              <a:spcAft>
                <a:spcPts val="0"/>
              </a:spcAft>
              <a:buNone/>
            </a:pPr>
            <a:r>
              <a:rPr b="1" i="0" lang="en-US" sz="900" u="none" cap="none" strike="noStrike">
                <a:solidFill>
                  <a:srgbClr val="000000"/>
                </a:solidFill>
                <a:latin typeface="Rubik"/>
                <a:ea typeface="Rubik"/>
                <a:cs typeface="Rubik"/>
                <a:sym typeface="Rubik"/>
              </a:rPr>
              <a:t>Qualité des Données</a:t>
            </a:r>
            <a:endParaRPr/>
          </a:p>
        </p:txBody>
      </p:sp>
      <p:sp>
        <p:nvSpPr>
          <p:cNvPr id="129" name="Google Shape;129;p3"/>
          <p:cNvSpPr/>
          <p:nvPr/>
        </p:nvSpPr>
        <p:spPr>
          <a:xfrm>
            <a:off x="3311999" y="2682000"/>
            <a:ext cx="1080000" cy="324000"/>
          </a:xfrm>
          <a:prstGeom prst="roundRect">
            <a:avLst>
              <a:gd fmla="val 5000" name="adj"/>
            </a:avLst>
          </a:prstGeom>
          <a:solidFill>
            <a:srgbClr val="A329DE"/>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ctr">
              <a:spcBef>
                <a:spcPts val="0"/>
              </a:spcBef>
              <a:spcAft>
                <a:spcPts val="0"/>
              </a:spcAft>
              <a:buNone/>
            </a:pPr>
            <a:r>
              <a:rPr b="1" i="0" lang="en-US" sz="1000" u="none" cap="none" strike="noStrike">
                <a:solidFill>
                  <a:srgbClr val="FFFFFF"/>
                </a:solidFill>
                <a:latin typeface="Rubik"/>
                <a:ea typeface="Rubik"/>
                <a:cs typeface="Rubik"/>
                <a:sym typeface="Rubik"/>
              </a:rPr>
              <a:t>3</a:t>
            </a:r>
            <a:endParaRPr/>
          </a:p>
        </p:txBody>
      </p:sp>
      <p:sp>
        <p:nvSpPr>
          <p:cNvPr id="130" name="Google Shape;130;p3"/>
          <p:cNvSpPr/>
          <p:nvPr/>
        </p:nvSpPr>
        <p:spPr>
          <a:xfrm>
            <a:off x="4464000" y="2682000"/>
            <a:ext cx="1440000" cy="324000"/>
          </a:xfrm>
          <a:prstGeom prst="roundRect">
            <a:avLst>
              <a:gd fmla="val 5000" name="adj"/>
            </a:avLst>
          </a:prstGeom>
          <a:solidFill>
            <a:schemeClr val="accent6"/>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ctr">
              <a:spcBef>
                <a:spcPts val="0"/>
              </a:spcBef>
              <a:spcAft>
                <a:spcPts val="0"/>
              </a:spcAft>
              <a:buNone/>
            </a:pPr>
            <a:r>
              <a:rPr b="1" i="0" lang="en-US" sz="1000" u="none" cap="none" strike="noStrike">
                <a:solidFill>
                  <a:schemeClr val="lt1"/>
                </a:solidFill>
                <a:latin typeface="Rubik"/>
                <a:ea typeface="Rubik"/>
                <a:cs typeface="Rubik"/>
                <a:sym typeface="Rubik"/>
              </a:rPr>
              <a:t>4</a:t>
            </a:r>
            <a:endParaRPr>
              <a:solidFill>
                <a:schemeClr val="lt1"/>
              </a:solidFill>
            </a:endParaRPr>
          </a:p>
        </p:txBody>
      </p:sp>
      <p:sp>
        <p:nvSpPr>
          <p:cNvPr id="131" name="Google Shape;131;p3"/>
          <p:cNvSpPr/>
          <p:nvPr/>
        </p:nvSpPr>
        <p:spPr>
          <a:xfrm>
            <a:off x="360000" y="3060000"/>
            <a:ext cx="2880000" cy="324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spcBef>
                <a:spcPts val="0"/>
              </a:spcBef>
              <a:spcAft>
                <a:spcPts val="0"/>
              </a:spcAft>
              <a:buNone/>
            </a:pPr>
            <a:r>
              <a:rPr b="1" i="0" lang="en-US" sz="900" u="none" cap="none" strike="noStrike">
                <a:solidFill>
                  <a:srgbClr val="000000"/>
                </a:solidFill>
                <a:latin typeface="Rubik"/>
                <a:ea typeface="Rubik"/>
                <a:cs typeface="Rubik"/>
                <a:sym typeface="Rubik"/>
              </a:rPr>
              <a:t>Conformité Réglementaire</a:t>
            </a:r>
            <a:endParaRPr/>
          </a:p>
        </p:txBody>
      </p:sp>
      <p:sp>
        <p:nvSpPr>
          <p:cNvPr id="132" name="Google Shape;132;p3"/>
          <p:cNvSpPr/>
          <p:nvPr/>
        </p:nvSpPr>
        <p:spPr>
          <a:xfrm>
            <a:off x="3311999" y="3060000"/>
            <a:ext cx="1080000" cy="324000"/>
          </a:xfrm>
          <a:prstGeom prst="roundRect">
            <a:avLst>
              <a:gd fmla="val 5000" name="adj"/>
            </a:avLst>
          </a:prstGeom>
          <a:solidFill>
            <a:srgbClr val="A329DE"/>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ctr">
              <a:spcBef>
                <a:spcPts val="0"/>
              </a:spcBef>
              <a:spcAft>
                <a:spcPts val="0"/>
              </a:spcAft>
              <a:buNone/>
            </a:pPr>
            <a:r>
              <a:rPr b="1" i="0" lang="en-US" sz="1000" u="none" cap="none" strike="noStrike">
                <a:solidFill>
                  <a:srgbClr val="FFFFFF"/>
                </a:solidFill>
                <a:latin typeface="Rubik"/>
                <a:ea typeface="Rubik"/>
                <a:cs typeface="Rubik"/>
                <a:sym typeface="Rubik"/>
              </a:rPr>
              <a:t>3</a:t>
            </a:r>
            <a:endParaRPr/>
          </a:p>
        </p:txBody>
      </p:sp>
      <p:sp>
        <p:nvSpPr>
          <p:cNvPr id="133" name="Google Shape;133;p3"/>
          <p:cNvSpPr/>
          <p:nvPr/>
        </p:nvSpPr>
        <p:spPr>
          <a:xfrm>
            <a:off x="4464000" y="3060000"/>
            <a:ext cx="1440000" cy="324000"/>
          </a:xfrm>
          <a:prstGeom prst="roundRect">
            <a:avLst>
              <a:gd fmla="val 5000" name="adj"/>
            </a:avLst>
          </a:prstGeom>
          <a:solidFill>
            <a:schemeClr val="accent6"/>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ctr">
              <a:spcBef>
                <a:spcPts val="0"/>
              </a:spcBef>
              <a:spcAft>
                <a:spcPts val="0"/>
              </a:spcAft>
              <a:buNone/>
            </a:pPr>
            <a:r>
              <a:rPr b="1" i="0" lang="en-US" sz="1000" u="none" cap="none" strike="noStrike">
                <a:solidFill>
                  <a:schemeClr val="lt1"/>
                </a:solidFill>
                <a:latin typeface="Rubik"/>
                <a:ea typeface="Rubik"/>
                <a:cs typeface="Rubik"/>
                <a:sym typeface="Rubik"/>
              </a:rPr>
              <a:t>4</a:t>
            </a:r>
            <a:endParaRPr>
              <a:solidFill>
                <a:schemeClr val="lt1"/>
              </a:solidFill>
            </a:endParaRPr>
          </a:p>
        </p:txBody>
      </p:sp>
      <p:sp>
        <p:nvSpPr>
          <p:cNvPr id="134" name="Google Shape;134;p3"/>
          <p:cNvSpPr/>
          <p:nvPr/>
        </p:nvSpPr>
        <p:spPr>
          <a:xfrm>
            <a:off x="360000" y="3438000"/>
            <a:ext cx="2880000" cy="324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spcBef>
                <a:spcPts val="0"/>
              </a:spcBef>
              <a:spcAft>
                <a:spcPts val="0"/>
              </a:spcAft>
              <a:buNone/>
            </a:pPr>
            <a:r>
              <a:rPr b="1" i="0" lang="en-US" sz="900" u="none" cap="none" strike="noStrike">
                <a:solidFill>
                  <a:srgbClr val="000000"/>
                </a:solidFill>
                <a:latin typeface="Rubik"/>
                <a:ea typeface="Rubik"/>
                <a:cs typeface="Rubik"/>
                <a:sym typeface="Rubik"/>
              </a:rPr>
              <a:t>Gouvernance des Données</a:t>
            </a:r>
            <a:endParaRPr/>
          </a:p>
        </p:txBody>
      </p:sp>
      <p:sp>
        <p:nvSpPr>
          <p:cNvPr id="135" name="Google Shape;135;p3"/>
          <p:cNvSpPr/>
          <p:nvPr/>
        </p:nvSpPr>
        <p:spPr>
          <a:xfrm>
            <a:off x="3311999" y="3438000"/>
            <a:ext cx="1080000" cy="324000"/>
          </a:xfrm>
          <a:prstGeom prst="roundRect">
            <a:avLst>
              <a:gd fmla="val 5000" name="adj"/>
            </a:avLst>
          </a:prstGeom>
          <a:solidFill>
            <a:srgbClr val="282A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ctr">
              <a:spcBef>
                <a:spcPts val="0"/>
              </a:spcBef>
              <a:spcAft>
                <a:spcPts val="0"/>
              </a:spcAft>
              <a:buNone/>
            </a:pPr>
            <a:r>
              <a:rPr b="1" i="0" lang="en-US" sz="1000" u="none" cap="none" strike="noStrike">
                <a:solidFill>
                  <a:srgbClr val="FFFFFF"/>
                </a:solidFill>
                <a:latin typeface="Rubik"/>
                <a:ea typeface="Rubik"/>
                <a:cs typeface="Rubik"/>
                <a:sym typeface="Rubik"/>
              </a:rPr>
              <a:t>2</a:t>
            </a:r>
            <a:endParaRPr/>
          </a:p>
        </p:txBody>
      </p:sp>
      <p:sp>
        <p:nvSpPr>
          <p:cNvPr id="136" name="Google Shape;136;p3"/>
          <p:cNvSpPr/>
          <p:nvPr/>
        </p:nvSpPr>
        <p:spPr>
          <a:xfrm>
            <a:off x="4464000" y="3438000"/>
            <a:ext cx="1440000" cy="324000"/>
          </a:xfrm>
          <a:prstGeom prst="roundRect">
            <a:avLst>
              <a:gd fmla="val 5000" name="adj"/>
            </a:avLst>
          </a:prstGeom>
          <a:solidFill>
            <a:schemeClr val="accent6"/>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ctr">
              <a:spcBef>
                <a:spcPts val="0"/>
              </a:spcBef>
              <a:spcAft>
                <a:spcPts val="0"/>
              </a:spcAft>
              <a:buNone/>
            </a:pPr>
            <a:r>
              <a:rPr b="1" i="0" lang="en-US" sz="1000" u="none" cap="none" strike="noStrike">
                <a:solidFill>
                  <a:schemeClr val="lt1"/>
                </a:solidFill>
                <a:latin typeface="Rubik"/>
                <a:ea typeface="Rubik"/>
                <a:cs typeface="Rubik"/>
                <a:sym typeface="Rubik"/>
              </a:rPr>
              <a:t>4</a:t>
            </a:r>
            <a:endParaRPr>
              <a:solidFill>
                <a:schemeClr val="lt1"/>
              </a:solidFill>
            </a:endParaRPr>
          </a:p>
        </p:txBody>
      </p:sp>
      <p:sp>
        <p:nvSpPr>
          <p:cNvPr id="137" name="Google Shape;137;p3"/>
          <p:cNvSpPr/>
          <p:nvPr/>
        </p:nvSpPr>
        <p:spPr>
          <a:xfrm>
            <a:off x="360000" y="3816000"/>
            <a:ext cx="2880000" cy="324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spcBef>
                <a:spcPts val="0"/>
              </a:spcBef>
              <a:spcAft>
                <a:spcPts val="0"/>
              </a:spcAft>
              <a:buNone/>
            </a:pPr>
            <a:r>
              <a:rPr b="1" i="0" lang="en-US" sz="900" u="none" cap="none" strike="noStrike">
                <a:solidFill>
                  <a:srgbClr val="000000"/>
                </a:solidFill>
                <a:latin typeface="Rubik"/>
                <a:ea typeface="Rubik"/>
                <a:cs typeface="Rubik"/>
                <a:sym typeface="Rubik"/>
              </a:rPr>
              <a:t>Intégration des Données</a:t>
            </a:r>
            <a:endParaRPr/>
          </a:p>
        </p:txBody>
      </p:sp>
      <p:sp>
        <p:nvSpPr>
          <p:cNvPr id="138" name="Google Shape;138;p3"/>
          <p:cNvSpPr/>
          <p:nvPr/>
        </p:nvSpPr>
        <p:spPr>
          <a:xfrm>
            <a:off x="3311999" y="3816000"/>
            <a:ext cx="1080000" cy="324000"/>
          </a:xfrm>
          <a:prstGeom prst="roundRect">
            <a:avLst>
              <a:gd fmla="val 5000" name="adj"/>
            </a:avLst>
          </a:prstGeom>
          <a:solidFill>
            <a:srgbClr val="282A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ctr">
              <a:spcBef>
                <a:spcPts val="0"/>
              </a:spcBef>
              <a:spcAft>
                <a:spcPts val="0"/>
              </a:spcAft>
              <a:buNone/>
            </a:pPr>
            <a:r>
              <a:rPr b="1" i="0" lang="en-US" sz="1000" u="none" cap="none" strike="noStrike">
                <a:solidFill>
                  <a:srgbClr val="FFFFFF"/>
                </a:solidFill>
                <a:latin typeface="Rubik"/>
                <a:ea typeface="Rubik"/>
                <a:cs typeface="Rubik"/>
                <a:sym typeface="Rubik"/>
              </a:rPr>
              <a:t>2</a:t>
            </a:r>
            <a:endParaRPr/>
          </a:p>
        </p:txBody>
      </p:sp>
      <p:sp>
        <p:nvSpPr>
          <p:cNvPr id="139" name="Google Shape;139;p3"/>
          <p:cNvSpPr/>
          <p:nvPr/>
        </p:nvSpPr>
        <p:spPr>
          <a:xfrm>
            <a:off x="4464000" y="3816000"/>
            <a:ext cx="1440000" cy="324000"/>
          </a:xfrm>
          <a:prstGeom prst="roundRect">
            <a:avLst>
              <a:gd fmla="val 5000" name="adj"/>
            </a:avLst>
          </a:prstGeom>
          <a:solidFill>
            <a:schemeClr val="accent6"/>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ctr">
              <a:spcBef>
                <a:spcPts val="0"/>
              </a:spcBef>
              <a:spcAft>
                <a:spcPts val="0"/>
              </a:spcAft>
              <a:buNone/>
            </a:pPr>
            <a:r>
              <a:rPr b="1" i="0" lang="en-US" sz="1000" u="none" cap="none" strike="noStrike">
                <a:solidFill>
                  <a:schemeClr val="lt1"/>
                </a:solidFill>
                <a:latin typeface="Rubik"/>
                <a:ea typeface="Rubik"/>
                <a:cs typeface="Rubik"/>
                <a:sym typeface="Rubik"/>
              </a:rPr>
              <a:t>4</a:t>
            </a:r>
            <a:endParaRPr>
              <a:solidFill>
                <a:schemeClr val="lt1"/>
              </a:solidFill>
            </a:endParaRPr>
          </a:p>
        </p:txBody>
      </p:sp>
      <p:sp>
        <p:nvSpPr>
          <p:cNvPr id="140" name="Google Shape;140;p3"/>
          <p:cNvSpPr/>
          <p:nvPr/>
        </p:nvSpPr>
        <p:spPr>
          <a:xfrm>
            <a:off x="360000" y="4248000"/>
            <a:ext cx="5760000" cy="360000"/>
          </a:xfrm>
          <a:prstGeom prst="roundRect">
            <a:avLst>
              <a:gd fmla="val 5000" name="adj"/>
            </a:avLst>
          </a:prstGeom>
          <a:solidFill>
            <a:srgbClr val="282A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spcBef>
                <a:spcPts val="0"/>
              </a:spcBef>
              <a:spcAft>
                <a:spcPts val="0"/>
              </a:spcAft>
              <a:buNone/>
            </a:pPr>
            <a:r>
              <a:rPr b="1" i="0" lang="en-US" sz="1100" u="none" cap="none" strike="noStrike">
                <a:solidFill>
                  <a:srgbClr val="FFFFFF"/>
                </a:solidFill>
                <a:latin typeface="Rubik"/>
                <a:ea typeface="Rubik"/>
                <a:cs typeface="Rubik"/>
                <a:sym typeface="Rubik"/>
              </a:rPr>
              <a:t>Score global : 3,25/5  →  Objectif : 4,0/5 en 18 mois</a:t>
            </a:r>
            <a:endParaRPr/>
          </a:p>
        </p:txBody>
      </p:sp>
      <p:pic>
        <p:nvPicPr>
          <p:cNvPr id="141" name="Google Shape;141;p3"/>
          <p:cNvPicPr preferRelativeResize="0"/>
          <p:nvPr/>
        </p:nvPicPr>
        <p:blipFill>
          <a:blip r:embed="rId3">
            <a:alphaModFix/>
          </a:blip>
          <a:stretch>
            <a:fillRect/>
          </a:stretch>
        </p:blipFill>
        <p:spPr>
          <a:xfrm>
            <a:off x="5115987" y="727363"/>
            <a:ext cx="5324575" cy="347727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8E3D4"/>
        </a:solidFill>
      </p:bgPr>
    </p:bg>
    <p:spTree>
      <p:nvGrpSpPr>
        <p:cNvPr id="145" name="Shape 145"/>
        <p:cNvGrpSpPr/>
        <p:nvPr/>
      </p:nvGrpSpPr>
      <p:grpSpPr>
        <a:xfrm>
          <a:off x="0" y="0"/>
          <a:ext cx="0" cy="0"/>
          <a:chOff x="0" y="0"/>
          <a:chExt cx="0" cy="0"/>
        </a:xfrm>
      </p:grpSpPr>
      <p:sp>
        <p:nvSpPr>
          <p:cNvPr id="146" name="Google Shape;146;p4"/>
          <p:cNvSpPr/>
          <p:nvPr/>
        </p:nvSpPr>
        <p:spPr>
          <a:xfrm>
            <a:off x="936000" y="396000"/>
            <a:ext cx="5544000" cy="540000"/>
          </a:xfrm>
          <a:prstGeom prst="rect">
            <a:avLst/>
          </a:prstGeom>
          <a:solidFill>
            <a:srgbClr val="282A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7" name="Google Shape;147;p4"/>
          <p:cNvSpPr/>
          <p:nvPr/>
        </p:nvSpPr>
        <p:spPr>
          <a:xfrm>
            <a:off x="1044000" y="324000"/>
            <a:ext cx="5544000" cy="540000"/>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b="1" i="0" lang="en-US" sz="1800" u="none" cap="none" strike="noStrike">
                <a:solidFill>
                  <a:srgbClr val="000000"/>
                </a:solidFill>
                <a:latin typeface="Rubik"/>
                <a:ea typeface="Rubik"/>
                <a:cs typeface="Rubik"/>
                <a:sym typeface="Rubik"/>
              </a:rPr>
              <a:t>MODÈLE ORGANISATIONNEL : CENTRE D'EXCELLENCE (CoE)</a:t>
            </a:r>
            <a:endParaRPr/>
          </a:p>
        </p:txBody>
      </p:sp>
      <p:sp>
        <p:nvSpPr>
          <p:cNvPr id="148" name="Google Shape;148;p4"/>
          <p:cNvSpPr/>
          <p:nvPr/>
        </p:nvSpPr>
        <p:spPr>
          <a:xfrm>
            <a:off x="540000" y="3289275"/>
            <a:ext cx="2340000" cy="612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9" name="Google Shape;149;p4"/>
          <p:cNvSpPr/>
          <p:nvPr/>
        </p:nvSpPr>
        <p:spPr>
          <a:xfrm>
            <a:off x="612000" y="3361275"/>
            <a:ext cx="2340000" cy="612000"/>
          </a:xfrm>
          <a:prstGeom prst="roundRect">
            <a:avLst>
              <a:gd fmla="val 5000" name="adj"/>
            </a:avLst>
          </a:prstGeom>
          <a:solidFill>
            <a:srgbClr val="26DBE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400" u="none" cap="none" strike="noStrike">
                <a:solidFill>
                  <a:srgbClr val="FFFFFF"/>
                </a:solidFill>
                <a:latin typeface="Rubik"/>
                <a:ea typeface="Rubik"/>
                <a:cs typeface="Rubik"/>
                <a:sym typeface="Rubik"/>
              </a:rPr>
              <a:t>CENTRALISÉ</a:t>
            </a:r>
            <a:endParaRPr/>
          </a:p>
        </p:txBody>
      </p:sp>
      <p:sp>
        <p:nvSpPr>
          <p:cNvPr id="150" name="Google Shape;150;p4"/>
          <p:cNvSpPr/>
          <p:nvPr/>
        </p:nvSpPr>
        <p:spPr>
          <a:xfrm>
            <a:off x="3384000" y="3289275"/>
            <a:ext cx="2340000" cy="612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1" name="Google Shape;151;p4"/>
          <p:cNvSpPr/>
          <p:nvPr/>
        </p:nvSpPr>
        <p:spPr>
          <a:xfrm>
            <a:off x="3456000" y="3361275"/>
            <a:ext cx="2340000" cy="612000"/>
          </a:xfrm>
          <a:prstGeom prst="roundRect">
            <a:avLst>
              <a:gd fmla="val 5000" name="adj"/>
            </a:avLst>
          </a:prstGeom>
          <a:solidFill>
            <a:srgbClr val="A329DE"/>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400" u="none" cap="none" strike="noStrike">
                <a:solidFill>
                  <a:srgbClr val="FFFFFF"/>
                </a:solidFill>
                <a:latin typeface="Rubik"/>
                <a:ea typeface="Rubik"/>
                <a:cs typeface="Rubik"/>
                <a:sym typeface="Rubik"/>
              </a:rPr>
              <a:t>FÉDÉRÉ</a:t>
            </a:r>
            <a:endParaRPr/>
          </a:p>
        </p:txBody>
      </p:sp>
      <p:sp>
        <p:nvSpPr>
          <p:cNvPr id="152" name="Google Shape;152;p4"/>
          <p:cNvSpPr/>
          <p:nvPr/>
        </p:nvSpPr>
        <p:spPr>
          <a:xfrm>
            <a:off x="6192000" y="3289275"/>
            <a:ext cx="2340000" cy="612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3" name="Google Shape;153;p4"/>
          <p:cNvSpPr/>
          <p:nvPr/>
        </p:nvSpPr>
        <p:spPr>
          <a:xfrm>
            <a:off x="6264000" y="3361275"/>
            <a:ext cx="2340000" cy="612000"/>
          </a:xfrm>
          <a:prstGeom prst="roundRect">
            <a:avLst>
              <a:gd fmla="val 5000" name="adj"/>
            </a:avLst>
          </a:prstGeom>
          <a:solidFill>
            <a:srgbClr val="282A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400" u="none" cap="none" strike="noStrike">
                <a:solidFill>
                  <a:srgbClr val="FFFFFF"/>
                </a:solidFill>
                <a:latin typeface="Rubik"/>
                <a:ea typeface="Rubik"/>
                <a:cs typeface="Rubik"/>
                <a:sym typeface="Rubik"/>
              </a:rPr>
              <a:t>CoE HYBRIDE</a:t>
            </a:r>
            <a:endParaRPr/>
          </a:p>
        </p:txBody>
      </p:sp>
      <p:sp>
        <p:nvSpPr>
          <p:cNvPr id="154" name="Google Shape;154;p4"/>
          <p:cNvSpPr/>
          <p:nvPr/>
        </p:nvSpPr>
        <p:spPr>
          <a:xfrm>
            <a:off x="540000" y="4081275"/>
            <a:ext cx="2340000" cy="324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spcBef>
                <a:spcPts val="0"/>
              </a:spcBef>
              <a:spcAft>
                <a:spcPts val="0"/>
              </a:spcAft>
              <a:buNone/>
            </a:pPr>
            <a:r>
              <a:rPr b="1" i="0" lang="en-US" sz="900" u="none" cap="none" strike="noStrike">
                <a:solidFill>
                  <a:srgbClr val="000000"/>
                </a:solidFill>
                <a:latin typeface="Rubik"/>
                <a:ea typeface="Rubik"/>
                <a:cs typeface="Rubik"/>
                <a:sym typeface="Rubik"/>
              </a:rPr>
              <a:t>Trop lent, incompatible Squad</a:t>
            </a:r>
            <a:endParaRPr/>
          </a:p>
        </p:txBody>
      </p:sp>
      <p:sp>
        <p:nvSpPr>
          <p:cNvPr id="155" name="Google Shape;155;p4"/>
          <p:cNvSpPr/>
          <p:nvPr/>
        </p:nvSpPr>
        <p:spPr>
          <a:xfrm>
            <a:off x="3384000" y="4081275"/>
            <a:ext cx="2340000" cy="324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spcBef>
                <a:spcPts val="0"/>
              </a:spcBef>
              <a:spcAft>
                <a:spcPts val="0"/>
              </a:spcAft>
              <a:buNone/>
            </a:pPr>
            <a:r>
              <a:rPr b="1" i="0" lang="en-US" sz="900" u="none" cap="none" strike="noStrike">
                <a:solidFill>
                  <a:srgbClr val="000000"/>
                </a:solidFill>
                <a:latin typeface="Rubik"/>
                <a:ea typeface="Rubik"/>
                <a:cs typeface="Rubik"/>
                <a:sym typeface="Rubik"/>
              </a:rPr>
              <a:t>Perpétue les silos existants</a:t>
            </a:r>
            <a:endParaRPr/>
          </a:p>
        </p:txBody>
      </p:sp>
      <p:sp>
        <p:nvSpPr>
          <p:cNvPr id="156" name="Google Shape;156;p4"/>
          <p:cNvSpPr/>
          <p:nvPr/>
        </p:nvSpPr>
        <p:spPr>
          <a:xfrm>
            <a:off x="6192000" y="4081275"/>
            <a:ext cx="2340000" cy="324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spcBef>
                <a:spcPts val="0"/>
              </a:spcBef>
              <a:spcAft>
                <a:spcPts val="0"/>
              </a:spcAft>
              <a:buNone/>
            </a:pPr>
            <a:r>
              <a:rPr b="1" i="0" lang="en-US" sz="900" u="none" cap="none" strike="noStrike">
                <a:solidFill>
                  <a:srgbClr val="000000"/>
                </a:solidFill>
                <a:latin typeface="Rubik"/>
                <a:ea typeface="Rubik"/>
                <a:cs typeface="Rubik"/>
                <a:sym typeface="Rubik"/>
              </a:rPr>
              <a:t>Équilibre agilité et rigueur</a:t>
            </a:r>
            <a:endParaRPr/>
          </a:p>
        </p:txBody>
      </p:sp>
      <p:pic>
        <p:nvPicPr>
          <p:cNvPr id="157" name="Google Shape;157;p4"/>
          <p:cNvPicPr preferRelativeResize="0"/>
          <p:nvPr/>
        </p:nvPicPr>
        <p:blipFill rotWithShape="1">
          <a:blip r:embed="rId3">
            <a:alphaModFix/>
          </a:blip>
          <a:srcRect b="18114" l="12465" r="0" t="21162"/>
          <a:stretch/>
        </p:blipFill>
        <p:spPr>
          <a:xfrm>
            <a:off x="612003" y="1225300"/>
            <a:ext cx="2340001" cy="1846664"/>
          </a:xfrm>
          <a:prstGeom prst="rect">
            <a:avLst/>
          </a:prstGeom>
          <a:noFill/>
          <a:ln>
            <a:noFill/>
          </a:ln>
        </p:spPr>
      </p:pic>
      <p:pic>
        <p:nvPicPr>
          <p:cNvPr id="158" name="Google Shape;158;p4"/>
          <p:cNvPicPr preferRelativeResize="0"/>
          <p:nvPr/>
        </p:nvPicPr>
        <p:blipFill rotWithShape="1">
          <a:blip r:embed="rId4">
            <a:alphaModFix/>
          </a:blip>
          <a:srcRect b="0" l="0" r="57935" t="20433"/>
          <a:stretch/>
        </p:blipFill>
        <p:spPr>
          <a:xfrm>
            <a:off x="6309475" y="1189300"/>
            <a:ext cx="2249052" cy="1846675"/>
          </a:xfrm>
          <a:prstGeom prst="rect">
            <a:avLst/>
          </a:prstGeom>
          <a:noFill/>
          <a:ln>
            <a:noFill/>
          </a:ln>
        </p:spPr>
      </p:pic>
      <p:pic>
        <p:nvPicPr>
          <p:cNvPr id="159" name="Google Shape;159;p4"/>
          <p:cNvPicPr preferRelativeResize="0"/>
          <p:nvPr/>
        </p:nvPicPr>
        <p:blipFill rotWithShape="1">
          <a:blip r:embed="rId5">
            <a:alphaModFix/>
          </a:blip>
          <a:srcRect b="0" l="0" r="58411" t="23313"/>
          <a:stretch/>
        </p:blipFill>
        <p:spPr>
          <a:xfrm>
            <a:off x="3278320" y="1144017"/>
            <a:ext cx="2483323" cy="20279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63" name="Shape 163"/>
        <p:cNvGrpSpPr/>
        <p:nvPr/>
      </p:nvGrpSpPr>
      <p:grpSpPr>
        <a:xfrm>
          <a:off x="0" y="0"/>
          <a:ext cx="0" cy="0"/>
          <a:chOff x="0" y="0"/>
          <a:chExt cx="0" cy="0"/>
        </a:xfrm>
      </p:grpSpPr>
      <p:sp>
        <p:nvSpPr>
          <p:cNvPr id="164" name="Google Shape;164;g39655f934ed_0_48"/>
          <p:cNvSpPr/>
          <p:nvPr/>
        </p:nvSpPr>
        <p:spPr>
          <a:xfrm>
            <a:off x="936000" y="396000"/>
            <a:ext cx="5544000" cy="540000"/>
          </a:xfrm>
          <a:prstGeom prst="rect">
            <a:avLst/>
          </a:prstGeom>
          <a:solidFill>
            <a:srgbClr val="282AFF"/>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5" name="Google Shape;165;g39655f934ed_0_48"/>
          <p:cNvSpPr/>
          <p:nvPr/>
        </p:nvSpPr>
        <p:spPr>
          <a:xfrm>
            <a:off x="1044000" y="324000"/>
            <a:ext cx="5544000" cy="540000"/>
          </a:xfrm>
          <a:prstGeom prst="rect">
            <a:avLst/>
          </a:prstGeom>
          <a:solidFill>
            <a:srgbClr val="FFFFFF"/>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b="1" i="0" lang="en-US" sz="1800" u="none" cap="none" strike="noStrike">
                <a:solidFill>
                  <a:srgbClr val="000000"/>
                </a:solidFill>
                <a:latin typeface="Rubik"/>
                <a:ea typeface="Rubik"/>
                <a:cs typeface="Rubik"/>
                <a:sym typeface="Rubik"/>
              </a:rPr>
              <a:t>MODÈLE ORGANISATIONNEL : </a:t>
            </a:r>
            <a:r>
              <a:rPr b="1" lang="en-US" sz="1800">
                <a:latin typeface="Rubik"/>
                <a:ea typeface="Rubik"/>
                <a:cs typeface="Rubik"/>
                <a:sym typeface="Rubik"/>
              </a:rPr>
              <a:t>ORGANIGRAMME</a:t>
            </a:r>
            <a:endParaRPr/>
          </a:p>
        </p:txBody>
      </p:sp>
      <p:pic>
        <p:nvPicPr>
          <p:cNvPr id="166" name="Google Shape;166;g39655f934ed_0_48"/>
          <p:cNvPicPr preferRelativeResize="0"/>
          <p:nvPr/>
        </p:nvPicPr>
        <p:blipFill>
          <a:blip r:embed="rId3">
            <a:alphaModFix/>
          </a:blip>
          <a:stretch>
            <a:fillRect/>
          </a:stretch>
        </p:blipFill>
        <p:spPr>
          <a:xfrm>
            <a:off x="1921325" y="997675"/>
            <a:ext cx="5900052" cy="390359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8E3D4"/>
        </a:solidFill>
      </p:bgPr>
    </p:bg>
    <p:spTree>
      <p:nvGrpSpPr>
        <p:cNvPr id="170" name="Shape 170"/>
        <p:cNvGrpSpPr/>
        <p:nvPr/>
      </p:nvGrpSpPr>
      <p:grpSpPr>
        <a:xfrm>
          <a:off x="0" y="0"/>
          <a:ext cx="0" cy="0"/>
          <a:chOff x="0" y="0"/>
          <a:chExt cx="0" cy="0"/>
        </a:xfrm>
      </p:grpSpPr>
      <p:sp>
        <p:nvSpPr>
          <p:cNvPr id="171" name="Google Shape;171;p5"/>
          <p:cNvSpPr/>
          <p:nvPr/>
        </p:nvSpPr>
        <p:spPr>
          <a:xfrm>
            <a:off x="936000" y="396000"/>
            <a:ext cx="5544000" cy="540000"/>
          </a:xfrm>
          <a:prstGeom prst="rect">
            <a:avLst/>
          </a:prstGeom>
          <a:solidFill>
            <a:schemeClr val="accent6"/>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2" name="Google Shape;172;p5"/>
          <p:cNvSpPr/>
          <p:nvPr/>
        </p:nvSpPr>
        <p:spPr>
          <a:xfrm>
            <a:off x="1044000" y="324000"/>
            <a:ext cx="5544000" cy="540000"/>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b="1" i="0" lang="en-US" sz="1800" u="none" cap="none" strike="noStrike">
                <a:solidFill>
                  <a:srgbClr val="000000"/>
                </a:solidFill>
                <a:latin typeface="Rubik"/>
                <a:ea typeface="Rubik"/>
                <a:cs typeface="Rubik"/>
                <a:sym typeface="Rubik"/>
              </a:rPr>
              <a:t>ÉCOSYSTÈME TECHNOLOGIQUE</a:t>
            </a:r>
            <a:endParaRPr/>
          </a:p>
        </p:txBody>
      </p:sp>
      <p:sp>
        <p:nvSpPr>
          <p:cNvPr id="173" name="Google Shape;173;p5"/>
          <p:cNvSpPr/>
          <p:nvPr/>
        </p:nvSpPr>
        <p:spPr>
          <a:xfrm>
            <a:off x="3509613" y="1790775"/>
            <a:ext cx="3906000" cy="360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spcBef>
                <a:spcPts val="0"/>
              </a:spcBef>
              <a:spcAft>
                <a:spcPts val="0"/>
              </a:spcAft>
              <a:buNone/>
            </a:pPr>
            <a:r>
              <a:rPr b="0" i="0" lang="en-US" sz="900" u="none" cap="none" strike="noStrike">
                <a:solidFill>
                  <a:srgbClr val="000000"/>
                </a:solidFill>
                <a:latin typeface="Rubik"/>
                <a:ea typeface="Rubik"/>
                <a:cs typeface="Rubik"/>
                <a:sym typeface="Rubik"/>
              </a:rPr>
              <a:t>UX supérieure pour Stewards métier. Source unique de vérité.</a:t>
            </a:r>
            <a:endParaRPr/>
          </a:p>
        </p:txBody>
      </p:sp>
      <p:sp>
        <p:nvSpPr>
          <p:cNvPr id="174" name="Google Shape;174;p5"/>
          <p:cNvSpPr/>
          <p:nvPr/>
        </p:nvSpPr>
        <p:spPr>
          <a:xfrm>
            <a:off x="3509613" y="2710950"/>
            <a:ext cx="3906000" cy="360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spcBef>
                <a:spcPts val="0"/>
              </a:spcBef>
              <a:spcAft>
                <a:spcPts val="0"/>
              </a:spcAft>
              <a:buNone/>
            </a:pPr>
            <a:r>
              <a:rPr b="0" i="0" lang="en-US" sz="900" u="none" cap="none" strike="noStrike">
                <a:solidFill>
                  <a:srgbClr val="000000"/>
                </a:solidFill>
                <a:latin typeface="Rubik"/>
                <a:ea typeface="Rubik"/>
                <a:cs typeface="Rubik"/>
                <a:sym typeface="Rubik"/>
              </a:rPr>
              <a:t>Data quality as code — intègre nativement dbt/Airflow Spotify.</a:t>
            </a:r>
            <a:endParaRPr/>
          </a:p>
        </p:txBody>
      </p:sp>
      <p:sp>
        <p:nvSpPr>
          <p:cNvPr id="175" name="Google Shape;175;p5"/>
          <p:cNvSpPr/>
          <p:nvPr/>
        </p:nvSpPr>
        <p:spPr>
          <a:xfrm>
            <a:off x="3509613" y="3599463"/>
            <a:ext cx="3906000" cy="360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spcBef>
                <a:spcPts val="0"/>
              </a:spcBef>
              <a:spcAft>
                <a:spcPts val="0"/>
              </a:spcAft>
              <a:buNone/>
            </a:pPr>
            <a:r>
              <a:rPr b="0" i="0" lang="en-US" sz="900" u="none" cap="none" strike="noStrike">
                <a:solidFill>
                  <a:srgbClr val="000000"/>
                </a:solidFill>
                <a:latin typeface="Rubik"/>
                <a:ea typeface="Rubik"/>
                <a:cs typeface="Rubik"/>
                <a:sym typeface="Rubik"/>
              </a:rPr>
              <a:t>Leader Gartner 2024. Automation DSAR 180+ pays.</a:t>
            </a:r>
            <a:endParaRPr/>
          </a:p>
        </p:txBody>
      </p:sp>
      <p:sp>
        <p:nvSpPr>
          <p:cNvPr id="176" name="Google Shape;176;p5"/>
          <p:cNvSpPr/>
          <p:nvPr/>
        </p:nvSpPr>
        <p:spPr>
          <a:xfrm>
            <a:off x="3509613" y="4484400"/>
            <a:ext cx="3906000" cy="360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spcBef>
                <a:spcPts val="0"/>
              </a:spcBef>
              <a:spcAft>
                <a:spcPts val="0"/>
              </a:spcAft>
              <a:buNone/>
            </a:pPr>
            <a:r>
              <a:rPr b="0" i="0" lang="en-US" sz="900" u="none" cap="none" strike="noStrike">
                <a:solidFill>
                  <a:srgbClr val="000000"/>
                </a:solidFill>
                <a:latin typeface="Rubik"/>
                <a:ea typeface="Rubik"/>
                <a:cs typeface="Rubik"/>
                <a:sym typeface="Rubik"/>
              </a:rPr>
              <a:t>Détection proactive anomalies. Alertes schema drift &amp; freshness.</a:t>
            </a:r>
            <a:endParaRPr/>
          </a:p>
        </p:txBody>
      </p:sp>
      <p:sp>
        <p:nvSpPr>
          <p:cNvPr id="177" name="Google Shape;177;p5"/>
          <p:cNvSpPr/>
          <p:nvPr/>
        </p:nvSpPr>
        <p:spPr>
          <a:xfrm>
            <a:off x="3509613" y="4160450"/>
            <a:ext cx="3600000" cy="360000"/>
          </a:xfrm>
          <a:prstGeom prst="roundRect">
            <a:avLst>
              <a:gd fmla="val 5000" name="adj"/>
            </a:avLst>
          </a:prstGeom>
          <a:solidFill>
            <a:schemeClr val="accent6"/>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spcBef>
                <a:spcPts val="0"/>
              </a:spcBef>
              <a:spcAft>
                <a:spcPts val="0"/>
              </a:spcAft>
              <a:buNone/>
            </a:pPr>
            <a:r>
              <a:rPr b="1" i="0" lang="en-US" sz="1100" u="none" cap="none" strike="noStrike">
                <a:solidFill>
                  <a:srgbClr val="FFFFFF"/>
                </a:solidFill>
                <a:latin typeface="Rubik"/>
                <a:ea typeface="Rubik"/>
                <a:cs typeface="Rubik"/>
                <a:sym typeface="Rubik"/>
              </a:rPr>
              <a:t>Monte Carlo  —  Observabilité pipelines</a:t>
            </a:r>
            <a:endParaRPr/>
          </a:p>
        </p:txBody>
      </p:sp>
      <p:sp>
        <p:nvSpPr>
          <p:cNvPr id="178" name="Google Shape;178;p5"/>
          <p:cNvSpPr/>
          <p:nvPr/>
        </p:nvSpPr>
        <p:spPr>
          <a:xfrm>
            <a:off x="3509613" y="3271938"/>
            <a:ext cx="3600000" cy="360000"/>
          </a:xfrm>
          <a:prstGeom prst="roundRect">
            <a:avLst>
              <a:gd fmla="val 5000" name="adj"/>
            </a:avLst>
          </a:prstGeom>
          <a:solidFill>
            <a:srgbClr val="282A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spcBef>
                <a:spcPts val="0"/>
              </a:spcBef>
              <a:spcAft>
                <a:spcPts val="0"/>
              </a:spcAft>
              <a:buNone/>
            </a:pPr>
            <a:r>
              <a:rPr b="1" i="0" lang="en-US" sz="1100" u="none" cap="none" strike="noStrike">
                <a:solidFill>
                  <a:srgbClr val="FFFFFF"/>
                </a:solidFill>
                <a:latin typeface="Rubik"/>
                <a:ea typeface="Rubik"/>
                <a:cs typeface="Rubik"/>
                <a:sym typeface="Rubik"/>
              </a:rPr>
              <a:t>OneTrust  —  Conformité / Consentement</a:t>
            </a:r>
            <a:endParaRPr/>
          </a:p>
        </p:txBody>
      </p:sp>
      <p:sp>
        <p:nvSpPr>
          <p:cNvPr id="179" name="Google Shape;179;p5"/>
          <p:cNvSpPr/>
          <p:nvPr/>
        </p:nvSpPr>
        <p:spPr>
          <a:xfrm>
            <a:off x="3509613" y="2374750"/>
            <a:ext cx="3600000" cy="360000"/>
          </a:xfrm>
          <a:prstGeom prst="roundRect">
            <a:avLst>
              <a:gd fmla="val 5000" name="adj"/>
            </a:avLst>
          </a:prstGeom>
          <a:solidFill>
            <a:srgbClr val="A329DE"/>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spcBef>
                <a:spcPts val="0"/>
              </a:spcBef>
              <a:spcAft>
                <a:spcPts val="0"/>
              </a:spcAft>
              <a:buNone/>
            </a:pPr>
            <a:r>
              <a:rPr b="1" i="0" lang="en-US" sz="1100" u="none" cap="none" strike="noStrike">
                <a:solidFill>
                  <a:srgbClr val="FFFFFF"/>
                </a:solidFill>
                <a:latin typeface="Rubik"/>
                <a:ea typeface="Rubik"/>
                <a:cs typeface="Rubik"/>
                <a:sym typeface="Rubik"/>
              </a:rPr>
              <a:t>Soda.io  —  Qualité des données</a:t>
            </a:r>
            <a:endParaRPr/>
          </a:p>
        </p:txBody>
      </p:sp>
      <p:sp>
        <p:nvSpPr>
          <p:cNvPr id="180" name="Google Shape;180;p5"/>
          <p:cNvSpPr/>
          <p:nvPr/>
        </p:nvSpPr>
        <p:spPr>
          <a:xfrm>
            <a:off x="3509613" y="1445900"/>
            <a:ext cx="3600000" cy="360000"/>
          </a:xfrm>
          <a:prstGeom prst="roundRect">
            <a:avLst>
              <a:gd fmla="val 5000" name="adj"/>
            </a:avLst>
          </a:prstGeom>
          <a:solidFill>
            <a:srgbClr val="26DBE0"/>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spcBef>
                <a:spcPts val="0"/>
              </a:spcBef>
              <a:spcAft>
                <a:spcPts val="0"/>
              </a:spcAft>
              <a:buNone/>
            </a:pPr>
            <a:r>
              <a:rPr b="1" i="0" lang="en-US" sz="1100" u="none" cap="none" strike="noStrike">
                <a:solidFill>
                  <a:srgbClr val="FFFFFF"/>
                </a:solidFill>
                <a:latin typeface="Rubik"/>
                <a:ea typeface="Rubik"/>
                <a:cs typeface="Rubik"/>
                <a:sym typeface="Rubik"/>
              </a:rPr>
              <a:t>Alation  —  Catalogue de données</a:t>
            </a:r>
            <a:endParaRPr/>
          </a:p>
        </p:txBody>
      </p:sp>
      <p:pic>
        <p:nvPicPr>
          <p:cNvPr id="181" name="Google Shape;181;p5"/>
          <p:cNvPicPr preferRelativeResize="0"/>
          <p:nvPr/>
        </p:nvPicPr>
        <p:blipFill>
          <a:blip r:embed="rId3">
            <a:alphaModFix/>
          </a:blip>
          <a:stretch>
            <a:fillRect/>
          </a:stretch>
        </p:blipFill>
        <p:spPr>
          <a:xfrm>
            <a:off x="1350010" y="1090936"/>
            <a:ext cx="1435325" cy="1435325"/>
          </a:xfrm>
          <a:prstGeom prst="rect">
            <a:avLst/>
          </a:prstGeom>
          <a:noFill/>
          <a:ln>
            <a:noFill/>
          </a:ln>
        </p:spPr>
      </p:pic>
      <p:pic>
        <p:nvPicPr>
          <p:cNvPr id="182" name="Google Shape;182;p5"/>
          <p:cNvPicPr preferRelativeResize="0"/>
          <p:nvPr/>
        </p:nvPicPr>
        <p:blipFill>
          <a:blip r:embed="rId4">
            <a:alphaModFix/>
          </a:blip>
          <a:stretch>
            <a:fillRect/>
          </a:stretch>
        </p:blipFill>
        <p:spPr>
          <a:xfrm>
            <a:off x="1660863" y="2114596"/>
            <a:ext cx="1219850" cy="1219850"/>
          </a:xfrm>
          <a:prstGeom prst="rect">
            <a:avLst/>
          </a:prstGeom>
          <a:noFill/>
          <a:ln>
            <a:noFill/>
          </a:ln>
        </p:spPr>
      </p:pic>
      <p:pic>
        <p:nvPicPr>
          <p:cNvPr id="183" name="Google Shape;183;p5"/>
          <p:cNvPicPr preferRelativeResize="0"/>
          <p:nvPr/>
        </p:nvPicPr>
        <p:blipFill>
          <a:blip r:embed="rId5">
            <a:alphaModFix/>
          </a:blip>
          <a:stretch>
            <a:fillRect/>
          </a:stretch>
        </p:blipFill>
        <p:spPr>
          <a:xfrm>
            <a:off x="1271197" y="3370625"/>
            <a:ext cx="1514149" cy="414225"/>
          </a:xfrm>
          <a:prstGeom prst="rect">
            <a:avLst/>
          </a:prstGeom>
          <a:noFill/>
          <a:ln>
            <a:noFill/>
          </a:ln>
        </p:spPr>
      </p:pic>
      <p:pic>
        <p:nvPicPr>
          <p:cNvPr id="184" name="Google Shape;184;p5"/>
          <p:cNvPicPr preferRelativeResize="0"/>
          <p:nvPr/>
        </p:nvPicPr>
        <p:blipFill>
          <a:blip r:embed="rId6">
            <a:alphaModFix/>
          </a:blip>
          <a:stretch>
            <a:fillRect/>
          </a:stretch>
        </p:blipFill>
        <p:spPr>
          <a:xfrm>
            <a:off x="1354025" y="4256543"/>
            <a:ext cx="1430224" cy="46892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8E3D4"/>
        </a:solidFill>
      </p:bgPr>
    </p:bg>
    <p:spTree>
      <p:nvGrpSpPr>
        <p:cNvPr id="188" name="Shape 188"/>
        <p:cNvGrpSpPr/>
        <p:nvPr/>
      </p:nvGrpSpPr>
      <p:grpSpPr>
        <a:xfrm>
          <a:off x="0" y="0"/>
          <a:ext cx="0" cy="0"/>
          <a:chOff x="0" y="0"/>
          <a:chExt cx="0" cy="0"/>
        </a:xfrm>
      </p:grpSpPr>
      <p:sp>
        <p:nvSpPr>
          <p:cNvPr id="189" name="Google Shape;189;p6"/>
          <p:cNvSpPr/>
          <p:nvPr/>
        </p:nvSpPr>
        <p:spPr>
          <a:xfrm>
            <a:off x="936000" y="396000"/>
            <a:ext cx="5544000" cy="540000"/>
          </a:xfrm>
          <a:prstGeom prst="rect">
            <a:avLst/>
          </a:prstGeom>
          <a:solidFill>
            <a:srgbClr val="26DBE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0" name="Google Shape;190;p6"/>
          <p:cNvSpPr/>
          <p:nvPr/>
        </p:nvSpPr>
        <p:spPr>
          <a:xfrm>
            <a:off x="1044000" y="324000"/>
            <a:ext cx="5544000" cy="540000"/>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b="1" i="0" lang="en-US" sz="1800" u="none" cap="none" strike="noStrike">
                <a:solidFill>
                  <a:srgbClr val="000000"/>
                </a:solidFill>
                <a:latin typeface="Rubik"/>
                <a:ea typeface="Rubik"/>
                <a:cs typeface="Rubik"/>
                <a:sym typeface="Rubik"/>
              </a:rPr>
              <a:t>RISQUES ET MITIGATION</a:t>
            </a:r>
            <a:endParaRPr/>
          </a:p>
        </p:txBody>
      </p:sp>
      <p:sp>
        <p:nvSpPr>
          <p:cNvPr id="191" name="Google Shape;191;p6"/>
          <p:cNvSpPr/>
          <p:nvPr/>
        </p:nvSpPr>
        <p:spPr>
          <a:xfrm>
            <a:off x="360000" y="1080000"/>
            <a:ext cx="3060000" cy="324000"/>
          </a:xfrm>
          <a:prstGeom prst="roundRect">
            <a:avLst>
              <a:gd fmla="val 5000" name="adj"/>
            </a:avLst>
          </a:prstGeom>
          <a:solidFill>
            <a:srgbClr val="282A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spcBef>
                <a:spcPts val="0"/>
              </a:spcBef>
              <a:spcAft>
                <a:spcPts val="0"/>
              </a:spcAft>
              <a:buNone/>
            </a:pPr>
            <a:r>
              <a:rPr b="1" i="0" lang="en-US" sz="1000" u="none" cap="none" strike="noStrike">
                <a:solidFill>
                  <a:srgbClr val="FFFFFF"/>
                </a:solidFill>
                <a:latin typeface="Rubik"/>
                <a:ea typeface="Rubik"/>
                <a:cs typeface="Rubik"/>
                <a:sym typeface="Rubik"/>
              </a:rPr>
              <a:t>Risque</a:t>
            </a:r>
            <a:endParaRPr/>
          </a:p>
        </p:txBody>
      </p:sp>
      <p:sp>
        <p:nvSpPr>
          <p:cNvPr id="192" name="Google Shape;192;p6"/>
          <p:cNvSpPr/>
          <p:nvPr/>
        </p:nvSpPr>
        <p:spPr>
          <a:xfrm>
            <a:off x="3491999" y="1080000"/>
            <a:ext cx="720000" cy="324000"/>
          </a:xfrm>
          <a:prstGeom prst="roundRect">
            <a:avLst>
              <a:gd fmla="val 5000" name="adj"/>
            </a:avLst>
          </a:prstGeom>
          <a:solidFill>
            <a:srgbClr val="26DBE0"/>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spcBef>
                <a:spcPts val="0"/>
              </a:spcBef>
              <a:spcAft>
                <a:spcPts val="0"/>
              </a:spcAft>
              <a:buNone/>
            </a:pPr>
            <a:r>
              <a:rPr b="1" i="0" lang="en-US" sz="1000" u="none" cap="none" strike="noStrike">
                <a:solidFill>
                  <a:srgbClr val="FFFFFF"/>
                </a:solidFill>
                <a:latin typeface="Rubik"/>
                <a:ea typeface="Rubik"/>
                <a:cs typeface="Rubik"/>
                <a:sym typeface="Rubik"/>
              </a:rPr>
              <a:t>Score</a:t>
            </a:r>
            <a:endParaRPr/>
          </a:p>
        </p:txBody>
      </p:sp>
      <p:sp>
        <p:nvSpPr>
          <p:cNvPr id="193" name="Google Shape;193;p6"/>
          <p:cNvSpPr/>
          <p:nvPr/>
        </p:nvSpPr>
        <p:spPr>
          <a:xfrm>
            <a:off x="4284000" y="1080000"/>
            <a:ext cx="4500000" cy="324000"/>
          </a:xfrm>
          <a:prstGeom prst="roundRect">
            <a:avLst>
              <a:gd fmla="val 5000" name="adj"/>
            </a:avLst>
          </a:prstGeom>
          <a:solidFill>
            <a:srgbClr val="A329DE"/>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spcBef>
                <a:spcPts val="0"/>
              </a:spcBef>
              <a:spcAft>
                <a:spcPts val="0"/>
              </a:spcAft>
              <a:buNone/>
            </a:pPr>
            <a:r>
              <a:rPr b="1" i="0" lang="en-US" sz="1000" u="none" cap="none" strike="noStrike">
                <a:solidFill>
                  <a:srgbClr val="FFFFFF"/>
                </a:solidFill>
                <a:latin typeface="Rubik"/>
                <a:ea typeface="Rubik"/>
                <a:cs typeface="Rubik"/>
                <a:sym typeface="Rubik"/>
              </a:rPr>
              <a:t>Mitigation</a:t>
            </a:r>
            <a:endParaRPr/>
          </a:p>
        </p:txBody>
      </p:sp>
      <p:sp>
        <p:nvSpPr>
          <p:cNvPr id="194" name="Google Shape;194;p6"/>
          <p:cNvSpPr/>
          <p:nvPr/>
        </p:nvSpPr>
        <p:spPr>
          <a:xfrm>
            <a:off x="360000" y="1475999"/>
            <a:ext cx="3060000" cy="324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spcBef>
                <a:spcPts val="0"/>
              </a:spcBef>
              <a:spcAft>
                <a:spcPts val="0"/>
              </a:spcAft>
              <a:buNone/>
            </a:pPr>
            <a:r>
              <a:rPr b="1" i="0" lang="en-US" sz="900" u="none" cap="none" strike="noStrike">
                <a:solidFill>
                  <a:srgbClr val="000000"/>
                </a:solidFill>
                <a:latin typeface="Rubik"/>
                <a:ea typeface="Rubik"/>
                <a:cs typeface="Rubik"/>
                <a:sym typeface="Rubik"/>
              </a:rPr>
              <a:t>Résistance au changement</a:t>
            </a:r>
            <a:endParaRPr/>
          </a:p>
        </p:txBody>
      </p:sp>
      <p:sp>
        <p:nvSpPr>
          <p:cNvPr id="195" name="Google Shape;195;p6"/>
          <p:cNvSpPr/>
          <p:nvPr/>
        </p:nvSpPr>
        <p:spPr>
          <a:xfrm>
            <a:off x="3491999" y="1475999"/>
            <a:ext cx="720000" cy="324000"/>
          </a:xfrm>
          <a:prstGeom prst="roundRect">
            <a:avLst>
              <a:gd fmla="val 5000" name="adj"/>
            </a:avLst>
          </a:prstGeom>
          <a:solidFill>
            <a:srgbClr val="282A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ctr">
              <a:spcBef>
                <a:spcPts val="0"/>
              </a:spcBef>
              <a:spcAft>
                <a:spcPts val="0"/>
              </a:spcAft>
              <a:buNone/>
            </a:pPr>
            <a:r>
              <a:rPr b="1" i="0" lang="en-US" sz="1000" u="none" cap="none" strike="noStrike">
                <a:solidFill>
                  <a:srgbClr val="FFFFFF"/>
                </a:solidFill>
                <a:latin typeface="Rubik"/>
                <a:ea typeface="Rubik"/>
                <a:cs typeface="Rubik"/>
                <a:sym typeface="Rubik"/>
              </a:rPr>
              <a:t>9/9</a:t>
            </a:r>
            <a:endParaRPr/>
          </a:p>
        </p:txBody>
      </p:sp>
      <p:sp>
        <p:nvSpPr>
          <p:cNvPr id="196" name="Google Shape;196;p6"/>
          <p:cNvSpPr/>
          <p:nvPr/>
        </p:nvSpPr>
        <p:spPr>
          <a:xfrm>
            <a:off x="4284000" y="1475999"/>
            <a:ext cx="4500000" cy="324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spcBef>
                <a:spcPts val="0"/>
              </a:spcBef>
              <a:spcAft>
                <a:spcPts val="0"/>
              </a:spcAft>
              <a:buNone/>
            </a:pPr>
            <a:r>
              <a:rPr b="0" i="0" lang="en-US" sz="800" u="none" cap="none" strike="noStrike">
                <a:solidFill>
                  <a:srgbClr val="000000"/>
                </a:solidFill>
                <a:latin typeface="Rubik"/>
                <a:ea typeface="Rubik"/>
                <a:cs typeface="Rubik"/>
                <a:sym typeface="Rubik"/>
              </a:rPr>
              <a:t>Champions, communication CDO, quick wins Mois 3</a:t>
            </a:r>
            <a:endParaRPr/>
          </a:p>
        </p:txBody>
      </p:sp>
      <p:sp>
        <p:nvSpPr>
          <p:cNvPr id="197" name="Google Shape;197;p6"/>
          <p:cNvSpPr/>
          <p:nvPr/>
        </p:nvSpPr>
        <p:spPr>
          <a:xfrm>
            <a:off x="360000" y="1871999"/>
            <a:ext cx="3060000" cy="324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spcBef>
                <a:spcPts val="0"/>
              </a:spcBef>
              <a:spcAft>
                <a:spcPts val="0"/>
              </a:spcAft>
              <a:buNone/>
            </a:pPr>
            <a:r>
              <a:rPr b="1" i="0" lang="en-US" sz="900" u="none" cap="none" strike="noStrike">
                <a:solidFill>
                  <a:srgbClr val="000000"/>
                </a:solidFill>
                <a:latin typeface="Rubik"/>
                <a:ea typeface="Rubik"/>
                <a:cs typeface="Rubik"/>
                <a:sym typeface="Rubik"/>
              </a:rPr>
              <a:t>Violation données pendant transition</a:t>
            </a:r>
            <a:endParaRPr/>
          </a:p>
        </p:txBody>
      </p:sp>
      <p:sp>
        <p:nvSpPr>
          <p:cNvPr id="198" name="Google Shape;198;p6"/>
          <p:cNvSpPr/>
          <p:nvPr/>
        </p:nvSpPr>
        <p:spPr>
          <a:xfrm>
            <a:off x="3491999" y="1871999"/>
            <a:ext cx="720000" cy="324000"/>
          </a:xfrm>
          <a:prstGeom prst="roundRect">
            <a:avLst>
              <a:gd fmla="val 5000" name="adj"/>
            </a:avLst>
          </a:prstGeom>
          <a:solidFill>
            <a:srgbClr val="282A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ctr">
              <a:spcBef>
                <a:spcPts val="0"/>
              </a:spcBef>
              <a:spcAft>
                <a:spcPts val="0"/>
              </a:spcAft>
              <a:buNone/>
            </a:pPr>
            <a:r>
              <a:rPr b="1" i="0" lang="en-US" sz="1000" u="none" cap="none" strike="noStrike">
                <a:solidFill>
                  <a:srgbClr val="FFFFFF"/>
                </a:solidFill>
                <a:latin typeface="Rubik"/>
                <a:ea typeface="Rubik"/>
                <a:cs typeface="Rubik"/>
                <a:sym typeface="Rubik"/>
              </a:rPr>
              <a:t>9/9</a:t>
            </a:r>
            <a:endParaRPr/>
          </a:p>
        </p:txBody>
      </p:sp>
      <p:sp>
        <p:nvSpPr>
          <p:cNvPr id="199" name="Google Shape;199;p6"/>
          <p:cNvSpPr/>
          <p:nvPr/>
        </p:nvSpPr>
        <p:spPr>
          <a:xfrm>
            <a:off x="4284000" y="1871999"/>
            <a:ext cx="4500000" cy="324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spcBef>
                <a:spcPts val="0"/>
              </a:spcBef>
              <a:spcAft>
                <a:spcPts val="0"/>
              </a:spcAft>
              <a:buNone/>
            </a:pPr>
            <a:r>
              <a:rPr b="0" i="0" lang="en-US" sz="800" u="none" cap="none" strike="noStrike">
                <a:solidFill>
                  <a:srgbClr val="000000"/>
                </a:solidFill>
                <a:latin typeface="Rubik"/>
                <a:ea typeface="Rubik"/>
                <a:cs typeface="Rubik"/>
                <a:sym typeface="Rubik"/>
              </a:rPr>
              <a:t>Procédure 72h opérationnelle ; OneTrust priorité Phase 2</a:t>
            </a:r>
            <a:endParaRPr/>
          </a:p>
        </p:txBody>
      </p:sp>
      <p:sp>
        <p:nvSpPr>
          <p:cNvPr id="200" name="Google Shape;200;p6"/>
          <p:cNvSpPr/>
          <p:nvPr/>
        </p:nvSpPr>
        <p:spPr>
          <a:xfrm>
            <a:off x="360000" y="2267999"/>
            <a:ext cx="3060000" cy="324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spcBef>
                <a:spcPts val="0"/>
              </a:spcBef>
              <a:spcAft>
                <a:spcPts val="0"/>
              </a:spcAft>
              <a:buNone/>
            </a:pPr>
            <a:r>
              <a:rPr b="1" i="0" lang="en-US" sz="900" u="none" cap="none" strike="noStrike">
                <a:solidFill>
                  <a:srgbClr val="000000"/>
                </a:solidFill>
                <a:latin typeface="Rubik"/>
                <a:ea typeface="Rubik"/>
                <a:cs typeface="Rubik"/>
                <a:sym typeface="Rubik"/>
              </a:rPr>
              <a:t>Retard procurement Alation</a:t>
            </a:r>
            <a:endParaRPr/>
          </a:p>
        </p:txBody>
      </p:sp>
      <p:sp>
        <p:nvSpPr>
          <p:cNvPr id="201" name="Google Shape;201;p6"/>
          <p:cNvSpPr/>
          <p:nvPr/>
        </p:nvSpPr>
        <p:spPr>
          <a:xfrm>
            <a:off x="3491999" y="2267999"/>
            <a:ext cx="720000" cy="324000"/>
          </a:xfrm>
          <a:prstGeom prst="roundRect">
            <a:avLst>
              <a:gd fmla="val 5000" name="adj"/>
            </a:avLst>
          </a:prstGeom>
          <a:solidFill>
            <a:srgbClr val="282A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ctr">
              <a:spcBef>
                <a:spcPts val="0"/>
              </a:spcBef>
              <a:spcAft>
                <a:spcPts val="0"/>
              </a:spcAft>
              <a:buNone/>
            </a:pPr>
            <a:r>
              <a:rPr b="1" i="0" lang="en-US" sz="1000" u="none" cap="none" strike="noStrike">
                <a:solidFill>
                  <a:srgbClr val="FFFFFF"/>
                </a:solidFill>
                <a:latin typeface="Rubik"/>
                <a:ea typeface="Rubik"/>
                <a:cs typeface="Rubik"/>
                <a:sym typeface="Rubik"/>
              </a:rPr>
              <a:t>9/9</a:t>
            </a:r>
            <a:endParaRPr/>
          </a:p>
        </p:txBody>
      </p:sp>
      <p:sp>
        <p:nvSpPr>
          <p:cNvPr id="202" name="Google Shape;202;p6"/>
          <p:cNvSpPr/>
          <p:nvPr/>
        </p:nvSpPr>
        <p:spPr>
          <a:xfrm>
            <a:off x="4284000" y="2267999"/>
            <a:ext cx="4500000" cy="324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spcBef>
                <a:spcPts val="0"/>
              </a:spcBef>
              <a:spcAft>
                <a:spcPts val="0"/>
              </a:spcAft>
              <a:buNone/>
            </a:pPr>
            <a:r>
              <a:rPr b="0" i="0" lang="en-US" sz="800" u="none" cap="none" strike="noStrike">
                <a:solidFill>
                  <a:srgbClr val="000000"/>
                </a:solidFill>
                <a:latin typeface="Rubik"/>
                <a:ea typeface="Rubik"/>
                <a:cs typeface="Rubik"/>
                <a:sym typeface="Rubik"/>
              </a:rPr>
              <a:t>Lancement achat Mois 1 ; DataHub en contingence</a:t>
            </a:r>
            <a:endParaRPr/>
          </a:p>
        </p:txBody>
      </p:sp>
      <p:sp>
        <p:nvSpPr>
          <p:cNvPr id="203" name="Google Shape;203;p6"/>
          <p:cNvSpPr/>
          <p:nvPr/>
        </p:nvSpPr>
        <p:spPr>
          <a:xfrm>
            <a:off x="360000" y="2663999"/>
            <a:ext cx="3060000" cy="324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spcBef>
                <a:spcPts val="0"/>
              </a:spcBef>
              <a:spcAft>
                <a:spcPts val="0"/>
              </a:spcAft>
              <a:buNone/>
            </a:pPr>
            <a:r>
              <a:rPr b="1" i="0" lang="en-US" sz="900" u="none" cap="none" strike="noStrike">
                <a:solidFill>
                  <a:srgbClr val="000000"/>
                </a:solidFill>
                <a:latin typeface="Rubik"/>
                <a:ea typeface="Rubik"/>
                <a:cs typeface="Rubik"/>
                <a:sym typeface="Rubik"/>
              </a:rPr>
              <a:t>Turnover des Data Stewards</a:t>
            </a:r>
            <a:endParaRPr/>
          </a:p>
        </p:txBody>
      </p:sp>
      <p:sp>
        <p:nvSpPr>
          <p:cNvPr id="204" name="Google Shape;204;p6"/>
          <p:cNvSpPr/>
          <p:nvPr/>
        </p:nvSpPr>
        <p:spPr>
          <a:xfrm>
            <a:off x="3491999" y="2663999"/>
            <a:ext cx="720000" cy="324000"/>
          </a:xfrm>
          <a:prstGeom prst="roundRect">
            <a:avLst>
              <a:gd fmla="val 5000" name="adj"/>
            </a:avLst>
          </a:prstGeom>
          <a:solidFill>
            <a:srgbClr val="A329DE"/>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ctr">
              <a:spcBef>
                <a:spcPts val="0"/>
              </a:spcBef>
              <a:spcAft>
                <a:spcPts val="0"/>
              </a:spcAft>
              <a:buNone/>
            </a:pPr>
            <a:r>
              <a:rPr b="1" i="0" lang="en-US" sz="1000" u="none" cap="none" strike="noStrike">
                <a:solidFill>
                  <a:srgbClr val="FFFFFF"/>
                </a:solidFill>
                <a:latin typeface="Rubik"/>
                <a:ea typeface="Rubik"/>
                <a:cs typeface="Rubik"/>
                <a:sym typeface="Rubik"/>
              </a:rPr>
              <a:t>6/9</a:t>
            </a:r>
            <a:endParaRPr/>
          </a:p>
        </p:txBody>
      </p:sp>
      <p:sp>
        <p:nvSpPr>
          <p:cNvPr id="205" name="Google Shape;205;p6"/>
          <p:cNvSpPr/>
          <p:nvPr/>
        </p:nvSpPr>
        <p:spPr>
          <a:xfrm>
            <a:off x="4284000" y="2663999"/>
            <a:ext cx="4500000" cy="324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spcBef>
                <a:spcPts val="0"/>
              </a:spcBef>
              <a:spcAft>
                <a:spcPts val="0"/>
              </a:spcAft>
              <a:buNone/>
            </a:pPr>
            <a:r>
              <a:rPr b="0" i="0" lang="en-US" sz="800" u="none" cap="none" strike="noStrike">
                <a:solidFill>
                  <a:srgbClr val="000000"/>
                </a:solidFill>
                <a:latin typeface="Rubik"/>
                <a:ea typeface="Rubik"/>
                <a:cs typeface="Rubik"/>
                <a:sym typeface="Rubik"/>
              </a:rPr>
              <a:t>Documentation rôles ; backup par domaine ; OKR</a:t>
            </a:r>
            <a:endParaRPr/>
          </a:p>
        </p:txBody>
      </p:sp>
      <p:sp>
        <p:nvSpPr>
          <p:cNvPr id="206" name="Google Shape;206;p6"/>
          <p:cNvSpPr/>
          <p:nvPr/>
        </p:nvSpPr>
        <p:spPr>
          <a:xfrm>
            <a:off x="360000" y="3059999"/>
            <a:ext cx="3060000" cy="324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spcBef>
                <a:spcPts val="0"/>
              </a:spcBef>
              <a:spcAft>
                <a:spcPts val="0"/>
              </a:spcAft>
              <a:buNone/>
            </a:pPr>
            <a:r>
              <a:rPr b="1" i="0" lang="en-US" sz="900" u="none" cap="none" strike="noStrike">
                <a:solidFill>
                  <a:srgbClr val="000000"/>
                </a:solidFill>
                <a:latin typeface="Rubik"/>
                <a:ea typeface="Rubik"/>
                <a:cs typeface="Rubik"/>
                <a:sym typeface="Rubik"/>
              </a:rPr>
              <a:t>Dépassement budgétaire</a:t>
            </a:r>
            <a:endParaRPr/>
          </a:p>
        </p:txBody>
      </p:sp>
      <p:sp>
        <p:nvSpPr>
          <p:cNvPr id="207" name="Google Shape;207;p6"/>
          <p:cNvSpPr/>
          <p:nvPr/>
        </p:nvSpPr>
        <p:spPr>
          <a:xfrm>
            <a:off x="3491999" y="3059999"/>
            <a:ext cx="720000" cy="324000"/>
          </a:xfrm>
          <a:prstGeom prst="roundRect">
            <a:avLst>
              <a:gd fmla="val 5000" name="adj"/>
            </a:avLst>
          </a:prstGeom>
          <a:solidFill>
            <a:srgbClr val="A329DE"/>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ctr">
              <a:spcBef>
                <a:spcPts val="0"/>
              </a:spcBef>
              <a:spcAft>
                <a:spcPts val="0"/>
              </a:spcAft>
              <a:buNone/>
            </a:pPr>
            <a:r>
              <a:rPr b="1" i="0" lang="en-US" sz="1000" u="none" cap="none" strike="noStrike">
                <a:solidFill>
                  <a:srgbClr val="FFFFFF"/>
                </a:solidFill>
                <a:latin typeface="Rubik"/>
                <a:ea typeface="Rubik"/>
                <a:cs typeface="Rubik"/>
                <a:sym typeface="Rubik"/>
              </a:rPr>
              <a:t>6/9</a:t>
            </a:r>
            <a:endParaRPr/>
          </a:p>
        </p:txBody>
      </p:sp>
      <p:sp>
        <p:nvSpPr>
          <p:cNvPr id="208" name="Google Shape;208;p6"/>
          <p:cNvSpPr/>
          <p:nvPr/>
        </p:nvSpPr>
        <p:spPr>
          <a:xfrm>
            <a:off x="4284000" y="3059999"/>
            <a:ext cx="4500000" cy="324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spcBef>
                <a:spcPts val="0"/>
              </a:spcBef>
              <a:spcAft>
                <a:spcPts val="0"/>
              </a:spcAft>
              <a:buNone/>
            </a:pPr>
            <a:r>
              <a:rPr b="0" i="0" lang="en-US" sz="800" u="none" cap="none" strike="noStrike">
                <a:solidFill>
                  <a:srgbClr val="000000"/>
                </a:solidFill>
                <a:latin typeface="Rubik"/>
                <a:ea typeface="Rubik"/>
                <a:cs typeface="Rubik"/>
                <a:sym typeface="Rubik"/>
              </a:rPr>
              <a:t>Réserve de 15 % ; arbitrage CDO</a:t>
            </a:r>
            <a:endParaRPr/>
          </a:p>
        </p:txBody>
      </p:sp>
      <p:sp>
        <p:nvSpPr>
          <p:cNvPr id="209" name="Google Shape;209;p6"/>
          <p:cNvSpPr/>
          <p:nvPr/>
        </p:nvSpPr>
        <p:spPr>
          <a:xfrm>
            <a:off x="360000" y="3455999"/>
            <a:ext cx="3060000" cy="324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spcBef>
                <a:spcPts val="0"/>
              </a:spcBef>
              <a:spcAft>
                <a:spcPts val="0"/>
              </a:spcAft>
              <a:buNone/>
            </a:pPr>
            <a:r>
              <a:rPr b="1" i="0" lang="en-US" sz="900" u="none" cap="none" strike="noStrike">
                <a:solidFill>
                  <a:srgbClr val="000000"/>
                </a:solidFill>
                <a:latin typeface="Rubik"/>
                <a:ea typeface="Rubik"/>
                <a:cs typeface="Rubik"/>
                <a:sym typeface="Rubik"/>
              </a:rPr>
              <a:t>Échec du pilote</a:t>
            </a:r>
            <a:endParaRPr/>
          </a:p>
        </p:txBody>
      </p:sp>
      <p:sp>
        <p:nvSpPr>
          <p:cNvPr id="210" name="Google Shape;210;p6"/>
          <p:cNvSpPr/>
          <p:nvPr/>
        </p:nvSpPr>
        <p:spPr>
          <a:xfrm>
            <a:off x="3491999" y="3455999"/>
            <a:ext cx="720000" cy="324000"/>
          </a:xfrm>
          <a:prstGeom prst="roundRect">
            <a:avLst>
              <a:gd fmla="val 5000" name="adj"/>
            </a:avLst>
          </a:prstGeom>
          <a:solidFill>
            <a:srgbClr val="26DBE0"/>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ctr">
              <a:spcBef>
                <a:spcPts val="0"/>
              </a:spcBef>
              <a:spcAft>
                <a:spcPts val="0"/>
              </a:spcAft>
              <a:buNone/>
            </a:pPr>
            <a:r>
              <a:rPr b="1" i="0" lang="en-US" sz="1000" u="none" cap="none" strike="noStrike">
                <a:solidFill>
                  <a:srgbClr val="FFFFFF"/>
                </a:solidFill>
                <a:latin typeface="Rubik"/>
                <a:ea typeface="Rubik"/>
                <a:cs typeface="Rubik"/>
                <a:sym typeface="Rubik"/>
              </a:rPr>
              <a:t>4/9</a:t>
            </a:r>
            <a:endParaRPr/>
          </a:p>
        </p:txBody>
      </p:sp>
      <p:sp>
        <p:nvSpPr>
          <p:cNvPr id="211" name="Google Shape;211;p6"/>
          <p:cNvSpPr/>
          <p:nvPr/>
        </p:nvSpPr>
        <p:spPr>
          <a:xfrm>
            <a:off x="4284000" y="3455999"/>
            <a:ext cx="4500000" cy="324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spcBef>
                <a:spcPts val="0"/>
              </a:spcBef>
              <a:spcAft>
                <a:spcPts val="0"/>
              </a:spcAft>
              <a:buNone/>
            </a:pPr>
            <a:r>
              <a:rPr b="0" i="0" lang="en-US" sz="800" u="none" cap="none" strike="noStrike">
                <a:solidFill>
                  <a:srgbClr val="000000"/>
                </a:solidFill>
                <a:latin typeface="Rubik"/>
                <a:ea typeface="Rubik"/>
                <a:cs typeface="Rubik"/>
                <a:sym typeface="Rubik"/>
              </a:rPr>
              <a:t>Revue Go/No-Go Mois 6 ; exit criteria clairs</a:t>
            </a:r>
            <a:endParaRPr/>
          </a:p>
        </p:txBody>
      </p:sp>
      <p:sp>
        <p:nvSpPr>
          <p:cNvPr id="212" name="Google Shape;212;p6"/>
          <p:cNvSpPr/>
          <p:nvPr/>
        </p:nvSpPr>
        <p:spPr>
          <a:xfrm>
            <a:off x="360000" y="3960000"/>
            <a:ext cx="8280000" cy="324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spcBef>
                <a:spcPts val="0"/>
              </a:spcBef>
              <a:spcAft>
                <a:spcPts val="0"/>
              </a:spcAft>
              <a:buNone/>
            </a:pPr>
            <a:r>
              <a:rPr b="0" i="0" lang="en-US" sz="800" u="none" cap="none" strike="noStrike">
                <a:solidFill>
                  <a:srgbClr val="000000"/>
                </a:solidFill>
                <a:latin typeface="Rubik"/>
                <a:ea typeface="Rubik"/>
                <a:cs typeface="Rubik"/>
                <a:sym typeface="Rubik"/>
              </a:rPr>
              <a:t>Score = Probabilité × Impact (échelle 1-3 chacun). </a:t>
            </a:r>
            <a:r>
              <a:rPr b="1" i="0" lang="en-US" sz="800" u="none" cap="none" strike="noStrike">
                <a:solidFill>
                  <a:schemeClr val="accent6"/>
                </a:solidFill>
                <a:latin typeface="Rubik"/>
                <a:ea typeface="Rubik"/>
                <a:cs typeface="Rubik"/>
                <a:sym typeface="Rubik"/>
              </a:rPr>
              <a:t>70 % des échecs de gouvernance sont d'origine humaine (Gartner).</a:t>
            </a:r>
            <a:endParaRPr b="1">
              <a:solidFill>
                <a:schemeClr val="accent6"/>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8E3D4"/>
        </a:solidFill>
      </p:bgPr>
    </p:bg>
    <p:spTree>
      <p:nvGrpSpPr>
        <p:cNvPr id="216" name="Shape 216"/>
        <p:cNvGrpSpPr/>
        <p:nvPr/>
      </p:nvGrpSpPr>
      <p:grpSpPr>
        <a:xfrm>
          <a:off x="0" y="0"/>
          <a:ext cx="0" cy="0"/>
          <a:chOff x="0" y="0"/>
          <a:chExt cx="0" cy="0"/>
        </a:xfrm>
      </p:grpSpPr>
      <p:sp>
        <p:nvSpPr>
          <p:cNvPr id="217" name="Google Shape;217;p7"/>
          <p:cNvSpPr/>
          <p:nvPr/>
        </p:nvSpPr>
        <p:spPr>
          <a:xfrm>
            <a:off x="936000" y="396000"/>
            <a:ext cx="5544000" cy="540000"/>
          </a:xfrm>
          <a:prstGeom prst="rect">
            <a:avLst/>
          </a:prstGeom>
          <a:solidFill>
            <a:srgbClr val="A329DE"/>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8" name="Google Shape;218;p7"/>
          <p:cNvSpPr/>
          <p:nvPr/>
        </p:nvSpPr>
        <p:spPr>
          <a:xfrm>
            <a:off x="1044000" y="324000"/>
            <a:ext cx="5544000" cy="540000"/>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b="1" i="0" lang="en-US" sz="1800" u="none" cap="none" strike="noStrike">
                <a:solidFill>
                  <a:srgbClr val="000000"/>
                </a:solidFill>
                <a:latin typeface="Rubik"/>
                <a:ea typeface="Rubik"/>
                <a:cs typeface="Rubik"/>
                <a:sym typeface="Rubik"/>
              </a:rPr>
              <a:t>ROADMAP ET PILOTE</a:t>
            </a:r>
            <a:endParaRPr/>
          </a:p>
        </p:txBody>
      </p:sp>
      <p:sp>
        <p:nvSpPr>
          <p:cNvPr id="219" name="Google Shape;219;p7"/>
          <p:cNvSpPr/>
          <p:nvPr/>
        </p:nvSpPr>
        <p:spPr>
          <a:xfrm>
            <a:off x="540000" y="1152000"/>
            <a:ext cx="2340000" cy="612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0" name="Google Shape;220;p7"/>
          <p:cNvSpPr/>
          <p:nvPr/>
        </p:nvSpPr>
        <p:spPr>
          <a:xfrm>
            <a:off x="612000" y="1224000"/>
            <a:ext cx="2340000" cy="612000"/>
          </a:xfrm>
          <a:prstGeom prst="roundRect">
            <a:avLst>
              <a:gd fmla="val 5000" name="adj"/>
            </a:avLst>
          </a:prstGeom>
          <a:solidFill>
            <a:srgbClr val="26DBE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400" u="none" cap="none" strike="noStrike">
                <a:solidFill>
                  <a:srgbClr val="FFFFFF"/>
                </a:solidFill>
                <a:latin typeface="Rubik"/>
                <a:ea typeface="Rubik"/>
                <a:cs typeface="Rubik"/>
                <a:sym typeface="Rubik"/>
              </a:rPr>
              <a:t>FONDATION</a:t>
            </a:r>
            <a:br>
              <a:rPr b="1" i="0" lang="en-US" sz="1400" u="none" cap="none" strike="noStrike">
                <a:solidFill>
                  <a:srgbClr val="FFFFFF"/>
                </a:solidFill>
                <a:latin typeface="Rubik"/>
                <a:ea typeface="Rubik"/>
                <a:cs typeface="Rubik"/>
                <a:sym typeface="Rubik"/>
              </a:rPr>
            </a:br>
            <a:r>
              <a:rPr b="1" i="0" lang="en-US" sz="1400" u="none" cap="none" strike="noStrike">
                <a:solidFill>
                  <a:srgbClr val="FFFFFF"/>
                </a:solidFill>
                <a:latin typeface="Rubik"/>
                <a:ea typeface="Rubik"/>
                <a:cs typeface="Rubik"/>
                <a:sym typeface="Rubik"/>
              </a:rPr>
              <a:t>Mois 1-3</a:t>
            </a:r>
            <a:endParaRPr/>
          </a:p>
        </p:txBody>
      </p:sp>
      <p:sp>
        <p:nvSpPr>
          <p:cNvPr id="221" name="Google Shape;221;p7"/>
          <p:cNvSpPr/>
          <p:nvPr/>
        </p:nvSpPr>
        <p:spPr>
          <a:xfrm>
            <a:off x="3384000" y="1152000"/>
            <a:ext cx="2340000" cy="612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2" name="Google Shape;222;p7"/>
          <p:cNvSpPr/>
          <p:nvPr/>
        </p:nvSpPr>
        <p:spPr>
          <a:xfrm>
            <a:off x="3456000" y="1224000"/>
            <a:ext cx="2340000" cy="612000"/>
          </a:xfrm>
          <a:prstGeom prst="roundRect">
            <a:avLst>
              <a:gd fmla="val 5000" name="adj"/>
            </a:avLst>
          </a:prstGeom>
          <a:solidFill>
            <a:srgbClr val="A329DE"/>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400" u="none" cap="none" strike="noStrike">
                <a:solidFill>
                  <a:srgbClr val="FFFFFF"/>
                </a:solidFill>
                <a:latin typeface="Rubik"/>
                <a:ea typeface="Rubik"/>
                <a:cs typeface="Rubik"/>
                <a:sym typeface="Rubik"/>
              </a:rPr>
              <a:t>PILOTE</a:t>
            </a:r>
            <a:br>
              <a:rPr b="1" i="0" lang="en-US" sz="1400" u="none" cap="none" strike="noStrike">
                <a:solidFill>
                  <a:srgbClr val="FFFFFF"/>
                </a:solidFill>
                <a:latin typeface="Rubik"/>
                <a:ea typeface="Rubik"/>
                <a:cs typeface="Rubik"/>
                <a:sym typeface="Rubik"/>
              </a:rPr>
            </a:br>
            <a:r>
              <a:rPr b="1" i="0" lang="en-US" sz="1400" u="none" cap="none" strike="noStrike">
                <a:solidFill>
                  <a:srgbClr val="FFFFFF"/>
                </a:solidFill>
                <a:latin typeface="Rubik"/>
                <a:ea typeface="Rubik"/>
                <a:cs typeface="Rubik"/>
                <a:sym typeface="Rubik"/>
              </a:rPr>
              <a:t>Mois 4-9</a:t>
            </a:r>
            <a:endParaRPr/>
          </a:p>
        </p:txBody>
      </p:sp>
      <p:sp>
        <p:nvSpPr>
          <p:cNvPr id="223" name="Google Shape;223;p7"/>
          <p:cNvSpPr/>
          <p:nvPr/>
        </p:nvSpPr>
        <p:spPr>
          <a:xfrm>
            <a:off x="6192000" y="1152000"/>
            <a:ext cx="2340000" cy="612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4" name="Google Shape;224;p7"/>
          <p:cNvSpPr/>
          <p:nvPr/>
        </p:nvSpPr>
        <p:spPr>
          <a:xfrm>
            <a:off x="6264000" y="1224000"/>
            <a:ext cx="2340000" cy="612000"/>
          </a:xfrm>
          <a:prstGeom prst="roundRect">
            <a:avLst>
              <a:gd fmla="val 5000" name="adj"/>
            </a:avLst>
          </a:prstGeom>
          <a:solidFill>
            <a:srgbClr val="282A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400" u="none" cap="none" strike="noStrike">
                <a:solidFill>
                  <a:srgbClr val="FFFFFF"/>
                </a:solidFill>
                <a:latin typeface="Rubik"/>
                <a:ea typeface="Rubik"/>
                <a:cs typeface="Rubik"/>
                <a:sym typeface="Rubik"/>
              </a:rPr>
              <a:t>DÉPLOIEMENT</a:t>
            </a:r>
            <a:br>
              <a:rPr b="1" i="0" lang="en-US" sz="1400" u="none" cap="none" strike="noStrike">
                <a:solidFill>
                  <a:srgbClr val="FFFFFF"/>
                </a:solidFill>
                <a:latin typeface="Rubik"/>
                <a:ea typeface="Rubik"/>
                <a:cs typeface="Rubik"/>
                <a:sym typeface="Rubik"/>
              </a:rPr>
            </a:br>
            <a:r>
              <a:rPr b="1" i="0" lang="en-US" sz="1400" u="none" cap="none" strike="noStrike">
                <a:solidFill>
                  <a:srgbClr val="FFFFFF"/>
                </a:solidFill>
                <a:latin typeface="Rubik"/>
                <a:ea typeface="Rubik"/>
                <a:cs typeface="Rubik"/>
                <a:sym typeface="Rubik"/>
              </a:rPr>
              <a:t>Mois 10-18</a:t>
            </a:r>
            <a:endParaRPr/>
          </a:p>
        </p:txBody>
      </p:sp>
      <p:sp>
        <p:nvSpPr>
          <p:cNvPr id="225" name="Google Shape;225;p7"/>
          <p:cNvSpPr/>
          <p:nvPr/>
        </p:nvSpPr>
        <p:spPr>
          <a:xfrm>
            <a:off x="360000" y="2015999"/>
            <a:ext cx="2592000" cy="251999"/>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spcBef>
                <a:spcPts val="0"/>
              </a:spcBef>
              <a:spcAft>
                <a:spcPts val="0"/>
              </a:spcAft>
              <a:buNone/>
            </a:pPr>
            <a:r>
              <a:rPr b="1" i="0" lang="en-US" sz="750" u="none" cap="none" strike="noStrike">
                <a:solidFill>
                  <a:srgbClr val="000000"/>
                </a:solidFill>
                <a:latin typeface="Rubik"/>
                <a:ea typeface="Rubik"/>
                <a:cs typeface="Rubik"/>
                <a:sym typeface="Rubik"/>
              </a:rPr>
              <a:t>Recrutement DGO (4 pers.)</a:t>
            </a:r>
            <a:endParaRPr/>
          </a:p>
        </p:txBody>
      </p:sp>
      <p:sp>
        <p:nvSpPr>
          <p:cNvPr id="226" name="Google Shape;226;p7"/>
          <p:cNvSpPr/>
          <p:nvPr/>
        </p:nvSpPr>
        <p:spPr>
          <a:xfrm>
            <a:off x="360000" y="2321999"/>
            <a:ext cx="2592000" cy="251999"/>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spcBef>
                <a:spcPts val="0"/>
              </a:spcBef>
              <a:spcAft>
                <a:spcPts val="0"/>
              </a:spcAft>
              <a:buNone/>
            </a:pPr>
            <a:r>
              <a:rPr b="1" i="0" lang="en-US" sz="750" u="none" cap="none" strike="noStrike">
                <a:solidFill>
                  <a:srgbClr val="000000"/>
                </a:solidFill>
                <a:latin typeface="Rubik"/>
                <a:ea typeface="Rubik"/>
                <a:cs typeface="Rubik"/>
                <a:sym typeface="Rubik"/>
              </a:rPr>
              <a:t>Signature Politique (COMEX)</a:t>
            </a:r>
            <a:endParaRPr/>
          </a:p>
        </p:txBody>
      </p:sp>
      <p:sp>
        <p:nvSpPr>
          <p:cNvPr id="227" name="Google Shape;227;p7"/>
          <p:cNvSpPr/>
          <p:nvPr/>
        </p:nvSpPr>
        <p:spPr>
          <a:xfrm>
            <a:off x="360000" y="2627999"/>
            <a:ext cx="2592000" cy="251999"/>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spcBef>
                <a:spcPts val="0"/>
              </a:spcBef>
              <a:spcAft>
                <a:spcPts val="0"/>
              </a:spcAft>
              <a:buNone/>
            </a:pPr>
            <a:r>
              <a:rPr b="1" i="0" lang="en-US" sz="750" u="none" cap="none" strike="noStrike">
                <a:solidFill>
                  <a:srgbClr val="000000"/>
                </a:solidFill>
                <a:latin typeface="Rubik"/>
                <a:ea typeface="Rubik"/>
                <a:cs typeface="Rubik"/>
                <a:sym typeface="Rubik"/>
              </a:rPr>
              <a:t>Nomination Data Stewards (×4)</a:t>
            </a:r>
            <a:endParaRPr/>
          </a:p>
        </p:txBody>
      </p:sp>
      <p:sp>
        <p:nvSpPr>
          <p:cNvPr id="228" name="Google Shape;228;p7"/>
          <p:cNvSpPr/>
          <p:nvPr/>
        </p:nvSpPr>
        <p:spPr>
          <a:xfrm>
            <a:off x="360000" y="2933999"/>
            <a:ext cx="2592000" cy="251999"/>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spcBef>
                <a:spcPts val="0"/>
              </a:spcBef>
              <a:spcAft>
                <a:spcPts val="0"/>
              </a:spcAft>
              <a:buNone/>
            </a:pPr>
            <a:r>
              <a:rPr b="1" i="0" lang="en-US" sz="750" u="none" cap="none" strike="noStrike">
                <a:solidFill>
                  <a:srgbClr val="000000"/>
                </a:solidFill>
                <a:latin typeface="Rubik"/>
                <a:ea typeface="Rubik"/>
                <a:cs typeface="Rubik"/>
                <a:sym typeface="Rubik"/>
              </a:rPr>
              <a:t>Déploiement Alation v0</a:t>
            </a:r>
            <a:endParaRPr/>
          </a:p>
        </p:txBody>
      </p:sp>
      <p:sp>
        <p:nvSpPr>
          <p:cNvPr id="229" name="Google Shape;229;p7"/>
          <p:cNvSpPr/>
          <p:nvPr/>
        </p:nvSpPr>
        <p:spPr>
          <a:xfrm>
            <a:off x="360000" y="3239999"/>
            <a:ext cx="2592000" cy="251999"/>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spcBef>
                <a:spcPts val="0"/>
              </a:spcBef>
              <a:spcAft>
                <a:spcPts val="0"/>
              </a:spcAft>
              <a:buNone/>
            </a:pPr>
            <a:r>
              <a:rPr b="1" i="0" lang="en-US" sz="750" u="none" cap="none" strike="noStrike">
                <a:solidFill>
                  <a:srgbClr val="000000"/>
                </a:solidFill>
                <a:latin typeface="Rubik"/>
                <a:ea typeface="Rubik"/>
                <a:cs typeface="Rubik"/>
                <a:sym typeface="Rubik"/>
              </a:rPr>
              <a:t>Audit flash métadonnées</a:t>
            </a:r>
            <a:endParaRPr/>
          </a:p>
        </p:txBody>
      </p:sp>
      <p:sp>
        <p:nvSpPr>
          <p:cNvPr id="230" name="Google Shape;230;p7"/>
          <p:cNvSpPr/>
          <p:nvPr/>
        </p:nvSpPr>
        <p:spPr>
          <a:xfrm>
            <a:off x="3240000" y="2015999"/>
            <a:ext cx="2592000" cy="251999"/>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spcBef>
                <a:spcPts val="0"/>
              </a:spcBef>
              <a:spcAft>
                <a:spcPts val="0"/>
              </a:spcAft>
              <a:buNone/>
            </a:pPr>
            <a:r>
              <a:rPr b="1" i="0" lang="en-US" sz="750" u="none" cap="none" strike="noStrike">
                <a:solidFill>
                  <a:srgbClr val="000000"/>
                </a:solidFill>
                <a:latin typeface="Rubik"/>
                <a:ea typeface="Rubik"/>
                <a:cs typeface="Rubik"/>
                <a:sym typeface="Rubik"/>
              </a:rPr>
              <a:t>Profiling baseline métadonnées</a:t>
            </a:r>
            <a:endParaRPr/>
          </a:p>
        </p:txBody>
      </p:sp>
      <p:sp>
        <p:nvSpPr>
          <p:cNvPr id="231" name="Google Shape;231;p7"/>
          <p:cNvSpPr/>
          <p:nvPr/>
        </p:nvSpPr>
        <p:spPr>
          <a:xfrm>
            <a:off x="3240000" y="2321999"/>
            <a:ext cx="2592000" cy="251999"/>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spcBef>
                <a:spcPts val="0"/>
              </a:spcBef>
              <a:spcAft>
                <a:spcPts val="0"/>
              </a:spcAft>
              <a:buNone/>
            </a:pPr>
            <a:r>
              <a:rPr b="1" i="0" lang="en-US" sz="750" u="none" cap="none" strike="noStrike">
                <a:solidFill>
                  <a:srgbClr val="000000"/>
                </a:solidFill>
                <a:latin typeface="Rubik"/>
                <a:ea typeface="Rubik"/>
                <a:cs typeface="Rubik"/>
                <a:sym typeface="Rubik"/>
              </a:rPr>
              <a:t>Règles Soda.io en production</a:t>
            </a:r>
            <a:endParaRPr/>
          </a:p>
        </p:txBody>
      </p:sp>
      <p:sp>
        <p:nvSpPr>
          <p:cNvPr id="232" name="Google Shape;232;p7"/>
          <p:cNvSpPr/>
          <p:nvPr/>
        </p:nvSpPr>
        <p:spPr>
          <a:xfrm>
            <a:off x="3240000" y="2627999"/>
            <a:ext cx="2592000" cy="251999"/>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spcBef>
                <a:spcPts val="0"/>
              </a:spcBef>
              <a:spcAft>
                <a:spcPts val="0"/>
              </a:spcAft>
              <a:buNone/>
            </a:pPr>
            <a:r>
              <a:rPr b="1" i="0" lang="en-US" sz="750" u="none" cap="none" strike="noStrike">
                <a:solidFill>
                  <a:srgbClr val="000000"/>
                </a:solidFill>
                <a:latin typeface="Rubik"/>
                <a:ea typeface="Rubik"/>
                <a:cs typeface="Rubik"/>
                <a:sym typeface="Rubik"/>
              </a:rPr>
              <a:t>OneTrust : DSAR RGPD/CCPA</a:t>
            </a:r>
            <a:endParaRPr/>
          </a:p>
        </p:txBody>
      </p:sp>
      <p:sp>
        <p:nvSpPr>
          <p:cNvPr id="233" name="Google Shape;233;p7"/>
          <p:cNvSpPr/>
          <p:nvPr/>
        </p:nvSpPr>
        <p:spPr>
          <a:xfrm>
            <a:off x="3240000" y="2933999"/>
            <a:ext cx="2592000" cy="251999"/>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spcBef>
                <a:spcPts val="0"/>
              </a:spcBef>
              <a:spcAft>
                <a:spcPts val="0"/>
              </a:spcAft>
              <a:buNone/>
            </a:pPr>
            <a:r>
              <a:rPr b="1" i="0" lang="en-US" sz="750" u="none" cap="none" strike="noStrike">
                <a:solidFill>
                  <a:srgbClr val="000000"/>
                </a:solidFill>
                <a:latin typeface="Rubik"/>
                <a:ea typeface="Rubik"/>
                <a:cs typeface="Rubik"/>
                <a:sym typeface="Rubik"/>
              </a:rPr>
              <a:t>Revue Go/No-Go (Mois 6)</a:t>
            </a:r>
            <a:endParaRPr/>
          </a:p>
        </p:txBody>
      </p:sp>
      <p:sp>
        <p:nvSpPr>
          <p:cNvPr id="234" name="Google Shape;234;p7"/>
          <p:cNvSpPr/>
          <p:nvPr/>
        </p:nvSpPr>
        <p:spPr>
          <a:xfrm>
            <a:off x="3240000" y="3239999"/>
            <a:ext cx="2592000" cy="251999"/>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spcBef>
                <a:spcPts val="0"/>
              </a:spcBef>
              <a:spcAft>
                <a:spcPts val="0"/>
              </a:spcAft>
              <a:buNone/>
            </a:pPr>
            <a:r>
              <a:rPr b="1" i="0" lang="en-US" sz="750" u="none" cap="none" strike="noStrike">
                <a:solidFill>
                  <a:srgbClr val="000000"/>
                </a:solidFill>
                <a:latin typeface="Rubik"/>
                <a:ea typeface="Rubik"/>
                <a:cs typeface="Rubik"/>
                <a:sym typeface="Rubik"/>
              </a:rPr>
              <a:t>Cible : complétude ≥ 92 %</a:t>
            </a:r>
            <a:endParaRPr/>
          </a:p>
        </p:txBody>
      </p:sp>
      <p:sp>
        <p:nvSpPr>
          <p:cNvPr id="235" name="Google Shape;235;p7"/>
          <p:cNvSpPr/>
          <p:nvPr/>
        </p:nvSpPr>
        <p:spPr>
          <a:xfrm>
            <a:off x="6120000" y="2015999"/>
            <a:ext cx="2592000" cy="251999"/>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spcBef>
                <a:spcPts val="0"/>
              </a:spcBef>
              <a:spcAft>
                <a:spcPts val="0"/>
              </a:spcAft>
              <a:buNone/>
            </a:pPr>
            <a:r>
              <a:rPr b="1" i="0" lang="en-US" sz="750" u="none" cap="none" strike="noStrike">
                <a:solidFill>
                  <a:srgbClr val="000000"/>
                </a:solidFill>
                <a:latin typeface="Rubik"/>
                <a:ea typeface="Rubik"/>
                <a:cs typeface="Rubik"/>
                <a:sym typeface="Rubik"/>
              </a:rPr>
              <a:t>Extension Alation data lakes</a:t>
            </a:r>
            <a:endParaRPr/>
          </a:p>
        </p:txBody>
      </p:sp>
      <p:sp>
        <p:nvSpPr>
          <p:cNvPr id="236" name="Google Shape;236;p7"/>
          <p:cNvSpPr/>
          <p:nvPr/>
        </p:nvSpPr>
        <p:spPr>
          <a:xfrm>
            <a:off x="6120000" y="2321999"/>
            <a:ext cx="2592000" cy="251999"/>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spcBef>
                <a:spcPts val="0"/>
              </a:spcBef>
              <a:spcAft>
                <a:spcPts val="0"/>
              </a:spcAft>
              <a:buNone/>
            </a:pPr>
            <a:r>
              <a:rPr b="1" i="0" lang="en-US" sz="750" u="none" cap="none" strike="noStrike">
                <a:solidFill>
                  <a:srgbClr val="000000"/>
                </a:solidFill>
                <a:latin typeface="Rubik"/>
                <a:ea typeface="Rubik"/>
                <a:cs typeface="Rubik"/>
                <a:sym typeface="Rubik"/>
              </a:rPr>
              <a:t>Soda.io Marketing + Finance</a:t>
            </a:r>
            <a:endParaRPr/>
          </a:p>
        </p:txBody>
      </p:sp>
      <p:sp>
        <p:nvSpPr>
          <p:cNvPr id="237" name="Google Shape;237;p7"/>
          <p:cNvSpPr/>
          <p:nvPr/>
        </p:nvSpPr>
        <p:spPr>
          <a:xfrm>
            <a:off x="6120000" y="2627999"/>
            <a:ext cx="2592000" cy="251999"/>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spcBef>
                <a:spcPts val="0"/>
              </a:spcBef>
              <a:spcAft>
                <a:spcPts val="0"/>
              </a:spcAft>
              <a:buNone/>
            </a:pPr>
            <a:r>
              <a:rPr b="1" i="0" lang="en-US" sz="750" u="none" cap="none" strike="noStrike">
                <a:solidFill>
                  <a:srgbClr val="000000"/>
                </a:solidFill>
                <a:latin typeface="Rubik"/>
                <a:ea typeface="Rubik"/>
                <a:cs typeface="Rubik"/>
                <a:sym typeface="Rubik"/>
              </a:rPr>
              <a:t>Monte Carlo : observabilité</a:t>
            </a:r>
            <a:endParaRPr/>
          </a:p>
        </p:txBody>
      </p:sp>
      <p:sp>
        <p:nvSpPr>
          <p:cNvPr id="238" name="Google Shape;238;p7"/>
          <p:cNvSpPr/>
          <p:nvPr/>
        </p:nvSpPr>
        <p:spPr>
          <a:xfrm>
            <a:off x="6120000" y="2933999"/>
            <a:ext cx="2592000" cy="251999"/>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spcBef>
                <a:spcPts val="0"/>
              </a:spcBef>
              <a:spcAft>
                <a:spcPts val="0"/>
              </a:spcAft>
              <a:buNone/>
            </a:pPr>
            <a:r>
              <a:rPr b="1" i="0" lang="en-US" sz="750" u="none" cap="none" strike="noStrike">
                <a:solidFill>
                  <a:srgbClr val="000000"/>
                </a:solidFill>
                <a:latin typeface="Rubik"/>
                <a:ea typeface="Rubik"/>
                <a:cs typeface="Rubik"/>
                <a:sym typeface="Rubik"/>
              </a:rPr>
              <a:t>Formation WCAG 2.1 AA</a:t>
            </a:r>
            <a:endParaRPr/>
          </a:p>
        </p:txBody>
      </p:sp>
      <p:sp>
        <p:nvSpPr>
          <p:cNvPr id="239" name="Google Shape;239;p7"/>
          <p:cNvSpPr/>
          <p:nvPr/>
        </p:nvSpPr>
        <p:spPr>
          <a:xfrm>
            <a:off x="6120000" y="3239999"/>
            <a:ext cx="2592000" cy="251999"/>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spcBef>
                <a:spcPts val="0"/>
              </a:spcBef>
              <a:spcAft>
                <a:spcPts val="0"/>
              </a:spcAft>
              <a:buNone/>
            </a:pPr>
            <a:r>
              <a:rPr b="1" i="0" lang="en-US" sz="750" u="none" cap="none" strike="noStrike">
                <a:solidFill>
                  <a:srgbClr val="000000"/>
                </a:solidFill>
                <a:latin typeface="Rubik"/>
                <a:ea typeface="Rubik"/>
                <a:cs typeface="Rubik"/>
                <a:sym typeface="Rubik"/>
              </a:rPr>
              <a:t>Premier audit externe annuel</a:t>
            </a:r>
            <a:endParaRPr/>
          </a:p>
        </p:txBody>
      </p:sp>
      <p:sp>
        <p:nvSpPr>
          <p:cNvPr id="240" name="Google Shape;240;p7"/>
          <p:cNvSpPr/>
          <p:nvPr/>
        </p:nvSpPr>
        <p:spPr>
          <a:xfrm>
            <a:off x="360000" y="3888000"/>
            <a:ext cx="8280000" cy="432000"/>
          </a:xfrm>
          <a:prstGeom prst="roundRect">
            <a:avLst>
              <a:gd fmla="val 5000" name="adj"/>
            </a:avLst>
          </a:prstGeom>
          <a:solidFill>
            <a:schemeClr val="accent6"/>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spcBef>
                <a:spcPts val="0"/>
              </a:spcBef>
              <a:spcAft>
                <a:spcPts val="0"/>
              </a:spcAft>
              <a:buNone/>
            </a:pPr>
            <a:r>
              <a:rPr b="1" i="0" lang="en-US" sz="1100" u="none" cap="none" strike="noStrike">
                <a:solidFill>
                  <a:srgbClr val="FFFFFF"/>
                </a:solidFill>
                <a:latin typeface="Rubik"/>
                <a:ea typeface="Rubik"/>
                <a:cs typeface="Rubik"/>
                <a:sym typeface="Rubik"/>
              </a:rPr>
              <a:t>KPI </a:t>
            </a:r>
            <a:r>
              <a:rPr b="1" lang="en-US" sz="1100">
                <a:solidFill>
                  <a:srgbClr val="FFFFFF"/>
                </a:solidFill>
                <a:latin typeface="Rubik"/>
                <a:ea typeface="Rubik"/>
                <a:cs typeface="Rubik"/>
                <a:sym typeface="Rubik"/>
              </a:rPr>
              <a:t>PHARE</a:t>
            </a:r>
            <a:r>
              <a:rPr b="1" i="0" lang="en-US" sz="1100" u="none" cap="none" strike="noStrike">
                <a:solidFill>
                  <a:srgbClr val="FFFFFF"/>
                </a:solidFill>
                <a:latin typeface="Rubik"/>
                <a:ea typeface="Rubik"/>
                <a:cs typeface="Rubik"/>
                <a:sym typeface="Rubik"/>
              </a:rPr>
              <a:t> — Complétude métadonnées pistes : baseline (M4) → 92 % (M6) → 97 % (M9) → 99 % (M18)</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8E3D4"/>
        </a:solidFill>
      </p:bgPr>
    </p:bg>
    <p:spTree>
      <p:nvGrpSpPr>
        <p:cNvPr id="244" name="Shape 244"/>
        <p:cNvGrpSpPr/>
        <p:nvPr/>
      </p:nvGrpSpPr>
      <p:grpSpPr>
        <a:xfrm>
          <a:off x="0" y="0"/>
          <a:ext cx="0" cy="0"/>
          <a:chOff x="0" y="0"/>
          <a:chExt cx="0" cy="0"/>
        </a:xfrm>
      </p:grpSpPr>
      <p:sp>
        <p:nvSpPr>
          <p:cNvPr id="245" name="Google Shape;245;p8"/>
          <p:cNvSpPr/>
          <p:nvPr/>
        </p:nvSpPr>
        <p:spPr>
          <a:xfrm>
            <a:off x="936000" y="396000"/>
            <a:ext cx="5544000" cy="540000"/>
          </a:xfrm>
          <a:prstGeom prst="rect">
            <a:avLst/>
          </a:prstGeom>
          <a:solidFill>
            <a:srgbClr val="A329DE"/>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6" name="Google Shape;246;p8"/>
          <p:cNvSpPr/>
          <p:nvPr/>
        </p:nvSpPr>
        <p:spPr>
          <a:xfrm>
            <a:off x="1044000" y="324000"/>
            <a:ext cx="5544000" cy="540000"/>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b="1" i="0" lang="en-US" sz="1800" u="none" cap="none" strike="noStrike">
                <a:solidFill>
                  <a:srgbClr val="000000"/>
                </a:solidFill>
                <a:latin typeface="Rubik"/>
                <a:ea typeface="Rubik"/>
                <a:cs typeface="Rubik"/>
                <a:sym typeface="Rubik"/>
              </a:rPr>
              <a:t>ROI ET IMPACT FINANCIER</a:t>
            </a:r>
            <a:endParaRPr/>
          </a:p>
        </p:txBody>
      </p:sp>
      <p:sp>
        <p:nvSpPr>
          <p:cNvPr id="247" name="Google Shape;247;p8"/>
          <p:cNvSpPr/>
          <p:nvPr/>
        </p:nvSpPr>
        <p:spPr>
          <a:xfrm>
            <a:off x="360000" y="1368000"/>
            <a:ext cx="3420000" cy="360000"/>
          </a:xfrm>
          <a:prstGeom prst="roundRect">
            <a:avLst>
              <a:gd fmla="val 5000" name="adj"/>
            </a:avLst>
          </a:prstGeom>
          <a:solidFill>
            <a:srgbClr val="26DBE0"/>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spcBef>
                <a:spcPts val="0"/>
              </a:spcBef>
              <a:spcAft>
                <a:spcPts val="0"/>
              </a:spcAft>
              <a:buNone/>
            </a:pPr>
            <a:r>
              <a:rPr b="1" i="0" lang="en-US" sz="1100" u="none" cap="none" strike="noStrike">
                <a:solidFill>
                  <a:srgbClr val="FFFFFF"/>
                </a:solidFill>
                <a:latin typeface="Rubik"/>
                <a:ea typeface="Rubik"/>
                <a:cs typeface="Rubik"/>
                <a:sym typeface="Rubik"/>
              </a:rPr>
              <a:t>Amendes RGPD évitées</a:t>
            </a:r>
            <a:endParaRPr/>
          </a:p>
        </p:txBody>
      </p:sp>
      <p:sp>
        <p:nvSpPr>
          <p:cNvPr id="248" name="Google Shape;248;p8"/>
          <p:cNvSpPr/>
          <p:nvPr/>
        </p:nvSpPr>
        <p:spPr>
          <a:xfrm>
            <a:off x="3888000" y="1368000"/>
            <a:ext cx="1440000" cy="360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spcBef>
                <a:spcPts val="0"/>
              </a:spcBef>
              <a:spcAft>
                <a:spcPts val="0"/>
              </a:spcAft>
              <a:buNone/>
            </a:pPr>
            <a:r>
              <a:rPr b="1" i="0" lang="en-US" sz="1100" u="none" cap="none" strike="noStrike">
                <a:solidFill>
                  <a:srgbClr val="000000"/>
                </a:solidFill>
                <a:latin typeface="Rubik"/>
                <a:ea typeface="Rubik"/>
                <a:cs typeface="Rubik"/>
                <a:sym typeface="Rubik"/>
              </a:rPr>
              <a:t>&gt;&gt; 628M EUR</a:t>
            </a:r>
            <a:endParaRPr/>
          </a:p>
        </p:txBody>
      </p:sp>
      <p:sp>
        <p:nvSpPr>
          <p:cNvPr id="249" name="Google Shape;249;p8"/>
          <p:cNvSpPr/>
          <p:nvPr/>
        </p:nvSpPr>
        <p:spPr>
          <a:xfrm>
            <a:off x="5400000" y="1368000"/>
            <a:ext cx="3420000" cy="360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spcBef>
                <a:spcPts val="0"/>
              </a:spcBef>
              <a:spcAft>
                <a:spcPts val="0"/>
              </a:spcAft>
              <a:buNone/>
            </a:pPr>
            <a:r>
              <a:rPr b="0" i="0" lang="en-US" sz="800" u="none" cap="none" strike="noStrike">
                <a:solidFill>
                  <a:srgbClr val="000000"/>
                </a:solidFill>
                <a:latin typeface="Rubik"/>
                <a:ea typeface="Rubik"/>
                <a:cs typeface="Rubik"/>
                <a:sym typeface="Rubik"/>
              </a:rPr>
              <a:t>4 % × CA 2024 (15,67Md EUR)</a:t>
            </a:r>
            <a:endParaRPr/>
          </a:p>
        </p:txBody>
      </p:sp>
      <p:sp>
        <p:nvSpPr>
          <p:cNvPr id="250" name="Google Shape;250;p8"/>
          <p:cNvSpPr/>
          <p:nvPr/>
        </p:nvSpPr>
        <p:spPr>
          <a:xfrm>
            <a:off x="360000" y="1836000"/>
            <a:ext cx="3420000" cy="360000"/>
          </a:xfrm>
          <a:prstGeom prst="roundRect">
            <a:avLst>
              <a:gd fmla="val 5000" name="adj"/>
            </a:avLst>
          </a:prstGeom>
          <a:solidFill>
            <a:srgbClr val="A329DE"/>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spcBef>
                <a:spcPts val="0"/>
              </a:spcBef>
              <a:spcAft>
                <a:spcPts val="0"/>
              </a:spcAft>
              <a:buNone/>
            </a:pPr>
            <a:r>
              <a:rPr b="1" i="0" lang="en-US" sz="1100" u="none" cap="none" strike="noStrike">
                <a:solidFill>
                  <a:srgbClr val="FFFFFF"/>
                </a:solidFill>
                <a:latin typeface="Rubik"/>
                <a:ea typeface="Rubik"/>
                <a:cs typeface="Rubik"/>
                <a:sym typeface="Rubik"/>
              </a:rPr>
              <a:t>Rétention améliorée (-0,1 pt churn)</a:t>
            </a:r>
            <a:endParaRPr/>
          </a:p>
        </p:txBody>
      </p:sp>
      <p:sp>
        <p:nvSpPr>
          <p:cNvPr id="251" name="Google Shape;251;p8"/>
          <p:cNvSpPr/>
          <p:nvPr/>
        </p:nvSpPr>
        <p:spPr>
          <a:xfrm>
            <a:off x="3888000" y="1836000"/>
            <a:ext cx="1440000" cy="360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spcBef>
                <a:spcPts val="0"/>
              </a:spcBef>
              <a:spcAft>
                <a:spcPts val="0"/>
              </a:spcAft>
              <a:buNone/>
            </a:pPr>
            <a:r>
              <a:rPr b="1" i="0" lang="en-US" sz="1100" u="none" cap="none" strike="noStrike">
                <a:solidFill>
                  <a:srgbClr val="000000"/>
                </a:solidFill>
                <a:latin typeface="Rubik"/>
                <a:ea typeface="Rubik"/>
                <a:cs typeface="Rubik"/>
                <a:sym typeface="Rubik"/>
              </a:rPr>
              <a:t>~15M EUR/an</a:t>
            </a:r>
            <a:endParaRPr/>
          </a:p>
        </p:txBody>
      </p:sp>
      <p:sp>
        <p:nvSpPr>
          <p:cNvPr id="252" name="Google Shape;252;p8"/>
          <p:cNvSpPr/>
          <p:nvPr/>
        </p:nvSpPr>
        <p:spPr>
          <a:xfrm>
            <a:off x="5400000" y="1836000"/>
            <a:ext cx="3420000" cy="360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spcBef>
                <a:spcPts val="0"/>
              </a:spcBef>
              <a:spcAft>
                <a:spcPts val="0"/>
              </a:spcAft>
              <a:buNone/>
            </a:pPr>
            <a:r>
              <a:rPr b="0" i="0" lang="en-US" sz="800" u="none" cap="none" strike="noStrike">
                <a:solidFill>
                  <a:srgbClr val="000000"/>
                </a:solidFill>
                <a:latin typeface="Rubik"/>
                <a:ea typeface="Rubik"/>
                <a:cs typeface="Rubik"/>
                <a:sym typeface="Rubik"/>
              </a:rPr>
              <a:t>263M abonnés × ARPU 4,69 EUR/mois</a:t>
            </a:r>
            <a:endParaRPr/>
          </a:p>
        </p:txBody>
      </p:sp>
      <p:sp>
        <p:nvSpPr>
          <p:cNvPr id="253" name="Google Shape;253;p8"/>
          <p:cNvSpPr/>
          <p:nvPr/>
        </p:nvSpPr>
        <p:spPr>
          <a:xfrm>
            <a:off x="360000" y="2304000"/>
            <a:ext cx="3420000" cy="360000"/>
          </a:xfrm>
          <a:prstGeom prst="roundRect">
            <a:avLst>
              <a:gd fmla="val 5000" name="adj"/>
            </a:avLst>
          </a:prstGeom>
          <a:solidFill>
            <a:srgbClr val="282A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spcBef>
                <a:spcPts val="0"/>
              </a:spcBef>
              <a:spcAft>
                <a:spcPts val="0"/>
              </a:spcAft>
              <a:buNone/>
            </a:pPr>
            <a:r>
              <a:rPr b="1" i="0" lang="en-US" sz="1100" u="none" cap="none" strike="noStrike">
                <a:solidFill>
                  <a:srgbClr val="FFFFFF"/>
                </a:solidFill>
                <a:latin typeface="Rubik"/>
                <a:ea typeface="Rubik"/>
                <a:cs typeface="Rubik"/>
                <a:sym typeface="Rubik"/>
              </a:rPr>
              <a:t>Gains efficacité opérationnelle</a:t>
            </a:r>
            <a:endParaRPr/>
          </a:p>
        </p:txBody>
      </p:sp>
      <p:sp>
        <p:nvSpPr>
          <p:cNvPr id="254" name="Google Shape;254;p8"/>
          <p:cNvSpPr/>
          <p:nvPr/>
        </p:nvSpPr>
        <p:spPr>
          <a:xfrm>
            <a:off x="3888000" y="2304000"/>
            <a:ext cx="1440000" cy="360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spcBef>
                <a:spcPts val="0"/>
              </a:spcBef>
              <a:spcAft>
                <a:spcPts val="0"/>
              </a:spcAft>
              <a:buNone/>
            </a:pPr>
            <a:r>
              <a:rPr b="1" i="0" lang="en-US" sz="1100" u="none" cap="none" strike="noStrike">
                <a:solidFill>
                  <a:srgbClr val="000000"/>
                </a:solidFill>
                <a:latin typeface="Rubik"/>
                <a:ea typeface="Rubik"/>
                <a:cs typeface="Rubik"/>
                <a:sym typeface="Rubik"/>
              </a:rPr>
              <a:t>~5M EUR/an</a:t>
            </a:r>
            <a:endParaRPr/>
          </a:p>
        </p:txBody>
      </p:sp>
      <p:sp>
        <p:nvSpPr>
          <p:cNvPr id="255" name="Google Shape;255;p8"/>
          <p:cNvSpPr/>
          <p:nvPr/>
        </p:nvSpPr>
        <p:spPr>
          <a:xfrm>
            <a:off x="5400000" y="2304000"/>
            <a:ext cx="3420000" cy="360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spcBef>
                <a:spcPts val="0"/>
              </a:spcBef>
              <a:spcAft>
                <a:spcPts val="0"/>
              </a:spcAft>
              <a:buNone/>
            </a:pPr>
            <a:r>
              <a:rPr b="0" i="0" lang="en-US" sz="800" u="none" cap="none" strike="noStrike">
                <a:solidFill>
                  <a:srgbClr val="000000"/>
                </a:solidFill>
                <a:latin typeface="Rubik"/>
                <a:ea typeface="Rubik"/>
                <a:cs typeface="Rubik"/>
                <a:sym typeface="Rubik"/>
              </a:rPr>
              <a:t>Élimination duplications + accès accéléré</a:t>
            </a:r>
            <a:endParaRPr/>
          </a:p>
        </p:txBody>
      </p:sp>
      <p:sp>
        <p:nvSpPr>
          <p:cNvPr id="256" name="Google Shape;256;p8"/>
          <p:cNvSpPr/>
          <p:nvPr/>
        </p:nvSpPr>
        <p:spPr>
          <a:xfrm>
            <a:off x="360000" y="2772000"/>
            <a:ext cx="3420000" cy="360000"/>
          </a:xfrm>
          <a:prstGeom prst="roundRect">
            <a:avLst>
              <a:gd fmla="val 5000" name="adj"/>
            </a:avLst>
          </a:prstGeom>
          <a:solidFill>
            <a:schemeClr val="accent6"/>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spcBef>
                <a:spcPts val="0"/>
              </a:spcBef>
              <a:spcAft>
                <a:spcPts val="0"/>
              </a:spcAft>
              <a:buNone/>
            </a:pPr>
            <a:r>
              <a:rPr b="1" i="0" lang="en-US" sz="1100" u="none" cap="none" strike="noStrike">
                <a:solidFill>
                  <a:srgbClr val="FFFFFF"/>
                </a:solidFill>
                <a:latin typeface="Rubik"/>
                <a:ea typeface="Rubik"/>
                <a:cs typeface="Rubik"/>
                <a:sym typeface="Rubik"/>
              </a:rPr>
              <a:t>Pénalités secteur évitées (réf. Netflix)</a:t>
            </a:r>
            <a:endParaRPr/>
          </a:p>
        </p:txBody>
      </p:sp>
      <p:sp>
        <p:nvSpPr>
          <p:cNvPr id="257" name="Google Shape;257;p8"/>
          <p:cNvSpPr/>
          <p:nvPr/>
        </p:nvSpPr>
        <p:spPr>
          <a:xfrm>
            <a:off x="3888000" y="2772000"/>
            <a:ext cx="1440000" cy="360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spcBef>
                <a:spcPts val="0"/>
              </a:spcBef>
              <a:spcAft>
                <a:spcPts val="0"/>
              </a:spcAft>
              <a:buNone/>
            </a:pPr>
            <a:r>
              <a:rPr b="1" i="0" lang="en-US" sz="1100" u="none" cap="none" strike="noStrike">
                <a:solidFill>
                  <a:srgbClr val="000000"/>
                </a:solidFill>
                <a:latin typeface="Rubik"/>
                <a:ea typeface="Rubik"/>
                <a:cs typeface="Rubik"/>
                <a:sym typeface="Rubik"/>
              </a:rPr>
              <a:t>4,75M EUR</a:t>
            </a:r>
            <a:endParaRPr/>
          </a:p>
        </p:txBody>
      </p:sp>
      <p:sp>
        <p:nvSpPr>
          <p:cNvPr id="258" name="Google Shape;258;p8"/>
          <p:cNvSpPr/>
          <p:nvPr/>
        </p:nvSpPr>
        <p:spPr>
          <a:xfrm>
            <a:off x="5400000" y="2772000"/>
            <a:ext cx="3420000" cy="360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spcBef>
                <a:spcPts val="0"/>
              </a:spcBef>
              <a:spcAft>
                <a:spcPts val="0"/>
              </a:spcAft>
              <a:buNone/>
            </a:pPr>
            <a:r>
              <a:rPr b="0" i="0" lang="en-US" sz="800" u="none" cap="none" strike="noStrike">
                <a:solidFill>
                  <a:srgbClr val="000000"/>
                </a:solidFill>
                <a:latin typeface="Rubik"/>
                <a:ea typeface="Rubik"/>
                <a:cs typeface="Rubik"/>
                <a:sym typeface="Rubik"/>
              </a:rPr>
              <a:t>Amende AP néerlandaise déc. 2024</a:t>
            </a:r>
            <a:endParaRPr/>
          </a:p>
        </p:txBody>
      </p:sp>
      <p:sp>
        <p:nvSpPr>
          <p:cNvPr id="259" name="Google Shape;259;p8"/>
          <p:cNvSpPr/>
          <p:nvPr/>
        </p:nvSpPr>
        <p:spPr>
          <a:xfrm>
            <a:off x="360000" y="3953400"/>
            <a:ext cx="8280000" cy="468000"/>
          </a:xfrm>
          <a:prstGeom prst="roundRect">
            <a:avLst>
              <a:gd fmla="val 5000" name="adj"/>
            </a:avLst>
          </a:prstGeom>
          <a:solidFill>
            <a:srgbClr val="282A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ctr">
              <a:spcBef>
                <a:spcPts val="0"/>
              </a:spcBef>
              <a:spcAft>
                <a:spcPts val="0"/>
              </a:spcAft>
              <a:buNone/>
            </a:pPr>
            <a:r>
              <a:rPr b="1" i="0" lang="en-US" sz="1100" u="none" cap="none" strike="noStrike">
                <a:solidFill>
                  <a:srgbClr val="FFFFFF"/>
                </a:solidFill>
                <a:latin typeface="Rubik"/>
                <a:ea typeface="Rubik"/>
                <a:cs typeface="Rubik"/>
                <a:sym typeface="Rubik"/>
              </a:rPr>
              <a:t>ROI projeté : ×10 minimum sur 3 ans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8E3D4"/>
        </a:solidFill>
      </p:bgPr>
    </p:bg>
    <p:spTree>
      <p:nvGrpSpPr>
        <p:cNvPr id="263" name="Shape 263"/>
        <p:cNvGrpSpPr/>
        <p:nvPr/>
      </p:nvGrpSpPr>
      <p:grpSpPr>
        <a:xfrm>
          <a:off x="0" y="0"/>
          <a:ext cx="0" cy="0"/>
          <a:chOff x="0" y="0"/>
          <a:chExt cx="0" cy="0"/>
        </a:xfrm>
      </p:grpSpPr>
      <p:sp>
        <p:nvSpPr>
          <p:cNvPr id="264" name="Google Shape;264;p9"/>
          <p:cNvSpPr/>
          <p:nvPr/>
        </p:nvSpPr>
        <p:spPr>
          <a:xfrm>
            <a:off x="936000" y="396000"/>
            <a:ext cx="5544000" cy="540000"/>
          </a:xfrm>
          <a:prstGeom prst="rect">
            <a:avLst/>
          </a:prstGeom>
          <a:solidFill>
            <a:schemeClr val="accent6"/>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5" name="Google Shape;265;p9"/>
          <p:cNvSpPr/>
          <p:nvPr/>
        </p:nvSpPr>
        <p:spPr>
          <a:xfrm>
            <a:off x="1044000" y="324000"/>
            <a:ext cx="5544000" cy="540000"/>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b="1" i="0" lang="en-US" sz="1800" u="none" cap="none" strike="noStrike">
                <a:solidFill>
                  <a:srgbClr val="000000"/>
                </a:solidFill>
                <a:latin typeface="Rubik"/>
                <a:ea typeface="Rubik"/>
                <a:cs typeface="Rubik"/>
                <a:sym typeface="Rubik"/>
              </a:rPr>
              <a:t>CONFORMITÉ ET ACCESSIBILITÉ INTÉGRÉES</a:t>
            </a:r>
            <a:endParaRPr/>
          </a:p>
        </p:txBody>
      </p:sp>
      <p:sp>
        <p:nvSpPr>
          <p:cNvPr id="266" name="Google Shape;266;p9"/>
          <p:cNvSpPr/>
          <p:nvPr/>
        </p:nvSpPr>
        <p:spPr>
          <a:xfrm>
            <a:off x="540000" y="1152000"/>
            <a:ext cx="2340000" cy="612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7" name="Google Shape;267;p9"/>
          <p:cNvSpPr/>
          <p:nvPr/>
        </p:nvSpPr>
        <p:spPr>
          <a:xfrm>
            <a:off x="612000" y="1224000"/>
            <a:ext cx="2340000" cy="612000"/>
          </a:xfrm>
          <a:prstGeom prst="roundRect">
            <a:avLst>
              <a:gd fmla="val 5000" name="adj"/>
            </a:avLst>
          </a:prstGeom>
          <a:solidFill>
            <a:srgbClr val="282A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400" u="none" cap="none" strike="noStrike">
                <a:solidFill>
                  <a:srgbClr val="FFFFFF"/>
                </a:solidFill>
                <a:latin typeface="Rubik"/>
                <a:ea typeface="Rubik"/>
                <a:cs typeface="Rubik"/>
                <a:sym typeface="Rubik"/>
              </a:rPr>
              <a:t>CONFORMITÉ</a:t>
            </a:r>
            <a:endParaRPr/>
          </a:p>
        </p:txBody>
      </p:sp>
      <p:sp>
        <p:nvSpPr>
          <p:cNvPr id="268" name="Google Shape;268;p9"/>
          <p:cNvSpPr/>
          <p:nvPr/>
        </p:nvSpPr>
        <p:spPr>
          <a:xfrm>
            <a:off x="5760000" y="1152000"/>
            <a:ext cx="2340000" cy="612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9" name="Google Shape;269;p9"/>
          <p:cNvSpPr/>
          <p:nvPr/>
        </p:nvSpPr>
        <p:spPr>
          <a:xfrm>
            <a:off x="5832000" y="1224000"/>
            <a:ext cx="2340000" cy="612000"/>
          </a:xfrm>
          <a:prstGeom prst="roundRect">
            <a:avLst>
              <a:gd fmla="val 5000" name="adj"/>
            </a:avLst>
          </a:prstGeom>
          <a:solidFill>
            <a:srgbClr val="A329DE"/>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400" u="none" cap="none" strike="noStrike">
                <a:solidFill>
                  <a:srgbClr val="FFFFFF"/>
                </a:solidFill>
                <a:latin typeface="Rubik"/>
                <a:ea typeface="Rubik"/>
                <a:cs typeface="Rubik"/>
                <a:sym typeface="Rubik"/>
              </a:rPr>
              <a:t>ACCESSIBILITÉ</a:t>
            </a:r>
            <a:endParaRPr/>
          </a:p>
        </p:txBody>
      </p:sp>
      <p:sp>
        <p:nvSpPr>
          <p:cNvPr id="270" name="Google Shape;270;p9"/>
          <p:cNvSpPr/>
          <p:nvPr/>
        </p:nvSpPr>
        <p:spPr>
          <a:xfrm>
            <a:off x="346950" y="2124000"/>
            <a:ext cx="5040000" cy="360000"/>
          </a:xfrm>
          <a:prstGeom prst="roundRect">
            <a:avLst>
              <a:gd fmla="val 5000" name="adj"/>
            </a:avLst>
          </a:prstGeom>
          <a:solidFill>
            <a:srgbClr val="26DBE0"/>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spcBef>
                <a:spcPts val="0"/>
              </a:spcBef>
              <a:spcAft>
                <a:spcPts val="0"/>
              </a:spcAft>
              <a:buNone/>
            </a:pPr>
            <a:r>
              <a:rPr b="1" i="0" lang="en-US" sz="1100" u="none" cap="none" strike="noStrike">
                <a:solidFill>
                  <a:srgbClr val="FFFFFF"/>
                </a:solidFill>
                <a:latin typeface="Rubik"/>
                <a:ea typeface="Rubik"/>
                <a:cs typeface="Rubik"/>
                <a:sym typeface="Rubik"/>
              </a:rPr>
              <a:t>RGPD : Consentement, DSAR 30j, notification 72h (Art. 33)</a:t>
            </a:r>
            <a:endParaRPr/>
          </a:p>
        </p:txBody>
      </p:sp>
      <p:sp>
        <p:nvSpPr>
          <p:cNvPr id="271" name="Google Shape;271;p9"/>
          <p:cNvSpPr/>
          <p:nvPr/>
        </p:nvSpPr>
        <p:spPr>
          <a:xfrm>
            <a:off x="346950" y="2878800"/>
            <a:ext cx="5040000" cy="360000"/>
          </a:xfrm>
          <a:prstGeom prst="roundRect">
            <a:avLst>
              <a:gd fmla="val 5000" name="adj"/>
            </a:avLst>
          </a:prstGeom>
          <a:solidFill>
            <a:srgbClr val="A329DE"/>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spcBef>
                <a:spcPts val="0"/>
              </a:spcBef>
              <a:spcAft>
                <a:spcPts val="0"/>
              </a:spcAft>
              <a:buNone/>
            </a:pPr>
            <a:r>
              <a:rPr b="1" i="0" lang="en-US" sz="1100" u="none" cap="none" strike="noStrike">
                <a:solidFill>
                  <a:srgbClr val="FFFFFF"/>
                </a:solidFill>
                <a:latin typeface="Rubik"/>
                <a:ea typeface="Rubik"/>
                <a:cs typeface="Rubik"/>
                <a:sym typeface="Rubik"/>
              </a:rPr>
              <a:t>CCPA : Opt-out intégré workflow DSAR unifié OneTrust</a:t>
            </a:r>
            <a:endParaRPr/>
          </a:p>
        </p:txBody>
      </p:sp>
      <p:sp>
        <p:nvSpPr>
          <p:cNvPr id="272" name="Google Shape;272;p9"/>
          <p:cNvSpPr/>
          <p:nvPr/>
        </p:nvSpPr>
        <p:spPr>
          <a:xfrm>
            <a:off x="346950" y="3633600"/>
            <a:ext cx="5040000" cy="360000"/>
          </a:xfrm>
          <a:prstGeom prst="roundRect">
            <a:avLst>
              <a:gd fmla="val 5000" name="adj"/>
            </a:avLst>
          </a:prstGeom>
          <a:solidFill>
            <a:srgbClr val="282A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spcBef>
                <a:spcPts val="0"/>
              </a:spcBef>
              <a:spcAft>
                <a:spcPts val="0"/>
              </a:spcAft>
              <a:buNone/>
            </a:pPr>
            <a:r>
              <a:rPr b="1" i="0" lang="en-US" sz="1100" u="none" cap="none" strike="noStrike">
                <a:solidFill>
                  <a:srgbClr val="FFFFFF"/>
                </a:solidFill>
                <a:latin typeface="Rubik"/>
                <a:ea typeface="Rubik"/>
                <a:cs typeface="Rubik"/>
                <a:sym typeface="Rubik"/>
              </a:rPr>
              <a:t>PCI-DSS v4.0 : Périmètre paiement, AES-256, pentest</a:t>
            </a:r>
            <a:endParaRPr/>
          </a:p>
        </p:txBody>
      </p:sp>
      <p:sp>
        <p:nvSpPr>
          <p:cNvPr id="273" name="Google Shape;273;p9"/>
          <p:cNvSpPr/>
          <p:nvPr/>
        </p:nvSpPr>
        <p:spPr>
          <a:xfrm>
            <a:off x="346950" y="4388400"/>
            <a:ext cx="5040000" cy="360000"/>
          </a:xfrm>
          <a:prstGeom prst="roundRect">
            <a:avLst>
              <a:gd fmla="val 5000" name="adj"/>
            </a:avLst>
          </a:prstGeom>
          <a:solidFill>
            <a:schemeClr val="accent6"/>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spcBef>
                <a:spcPts val="0"/>
              </a:spcBef>
              <a:spcAft>
                <a:spcPts val="0"/>
              </a:spcAft>
              <a:buNone/>
            </a:pPr>
            <a:r>
              <a:rPr b="1" i="0" lang="en-US" sz="1100" u="none" cap="none" strike="noStrike">
                <a:solidFill>
                  <a:srgbClr val="FFFFFF"/>
                </a:solidFill>
                <a:latin typeface="Rubik"/>
                <a:ea typeface="Rubik"/>
                <a:cs typeface="Rubik"/>
                <a:sym typeface="Rubik"/>
              </a:rPr>
              <a:t>EU AI Act : Transparence algorithmique, anti-biais</a:t>
            </a:r>
            <a:endParaRPr/>
          </a:p>
        </p:txBody>
      </p:sp>
      <p:sp>
        <p:nvSpPr>
          <p:cNvPr id="274" name="Google Shape;274;p9"/>
          <p:cNvSpPr/>
          <p:nvPr/>
        </p:nvSpPr>
        <p:spPr>
          <a:xfrm>
            <a:off x="5760000" y="1944000"/>
            <a:ext cx="3060000" cy="468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spcBef>
                <a:spcPts val="0"/>
              </a:spcBef>
              <a:spcAft>
                <a:spcPts val="0"/>
              </a:spcAft>
              <a:buNone/>
            </a:pPr>
            <a:r>
              <a:rPr b="1" i="0" lang="en-US" sz="900" u="none" cap="none" strike="noStrike">
                <a:solidFill>
                  <a:srgbClr val="000000"/>
                </a:solidFill>
                <a:latin typeface="Rubik"/>
                <a:ea typeface="Rubik"/>
                <a:cs typeface="Rubik"/>
                <a:sym typeface="Rubik"/>
              </a:rPr>
              <a:t>Formation conforme WCAG 2.1 AA</a:t>
            </a:r>
            <a:br>
              <a:rPr b="1" i="0" lang="en-US" sz="900" u="none" cap="none" strike="noStrike">
                <a:solidFill>
                  <a:srgbClr val="000000"/>
                </a:solidFill>
                <a:latin typeface="Rubik"/>
                <a:ea typeface="Rubik"/>
                <a:cs typeface="Rubik"/>
                <a:sym typeface="Rubik"/>
              </a:rPr>
            </a:br>
            <a:r>
              <a:rPr b="1" i="0" lang="en-US" sz="900" u="none" cap="none" strike="noStrike">
                <a:solidFill>
                  <a:srgbClr val="000000"/>
                </a:solidFill>
                <a:latin typeface="Rubik"/>
                <a:ea typeface="Rubik"/>
                <a:cs typeface="Rubik"/>
                <a:sym typeface="Rubik"/>
              </a:rPr>
              <a:t>et RGAA v4.1</a:t>
            </a:r>
            <a:endParaRPr/>
          </a:p>
        </p:txBody>
      </p:sp>
      <p:sp>
        <p:nvSpPr>
          <p:cNvPr id="275" name="Google Shape;275;p9"/>
          <p:cNvSpPr/>
          <p:nvPr/>
        </p:nvSpPr>
        <p:spPr>
          <a:xfrm>
            <a:off x="5760000" y="2502000"/>
            <a:ext cx="3060000" cy="468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spcBef>
                <a:spcPts val="0"/>
              </a:spcBef>
              <a:spcAft>
                <a:spcPts val="0"/>
              </a:spcAft>
              <a:buNone/>
            </a:pPr>
            <a:r>
              <a:rPr b="1" i="0" lang="en-US" sz="900" u="none" cap="none" strike="noStrike">
                <a:solidFill>
                  <a:srgbClr val="000000"/>
                </a:solidFill>
                <a:latin typeface="Rubik"/>
                <a:ea typeface="Rubik"/>
                <a:cs typeface="Rubik"/>
                <a:sym typeface="Rubik"/>
              </a:rPr>
              <a:t>Outils sélectionnés sur critères</a:t>
            </a:r>
            <a:br>
              <a:rPr b="1" i="0" lang="en-US" sz="900" u="none" cap="none" strike="noStrike">
                <a:solidFill>
                  <a:srgbClr val="000000"/>
                </a:solidFill>
                <a:latin typeface="Rubik"/>
                <a:ea typeface="Rubik"/>
                <a:cs typeface="Rubik"/>
                <a:sym typeface="Rubik"/>
              </a:rPr>
            </a:br>
            <a:r>
              <a:rPr b="1" i="0" lang="en-US" sz="900" u="none" cap="none" strike="noStrike">
                <a:solidFill>
                  <a:srgbClr val="000000"/>
                </a:solidFill>
                <a:latin typeface="Rubik"/>
                <a:ea typeface="Rubik"/>
                <a:cs typeface="Rubik"/>
                <a:sym typeface="Rubik"/>
              </a:rPr>
              <a:t>d'accessibilité</a:t>
            </a:r>
            <a:endParaRPr/>
          </a:p>
        </p:txBody>
      </p:sp>
      <p:sp>
        <p:nvSpPr>
          <p:cNvPr id="276" name="Google Shape;276;p9"/>
          <p:cNvSpPr/>
          <p:nvPr/>
        </p:nvSpPr>
        <p:spPr>
          <a:xfrm>
            <a:off x="5760000" y="3060000"/>
            <a:ext cx="3060000" cy="468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spcBef>
                <a:spcPts val="0"/>
              </a:spcBef>
              <a:spcAft>
                <a:spcPts val="0"/>
              </a:spcAft>
              <a:buNone/>
            </a:pPr>
            <a:r>
              <a:rPr b="1" i="0" lang="en-US" sz="900" u="none" cap="none" strike="noStrike">
                <a:solidFill>
                  <a:srgbClr val="000000"/>
                </a:solidFill>
                <a:latin typeface="Rubik"/>
                <a:ea typeface="Rubik"/>
                <a:cs typeface="Rubik"/>
                <a:sym typeface="Rubik"/>
              </a:rPr>
              <a:t>Taux completion mesuré de</a:t>
            </a:r>
            <a:br>
              <a:rPr b="1" i="0" lang="en-US" sz="900" u="none" cap="none" strike="noStrike">
                <a:solidFill>
                  <a:srgbClr val="000000"/>
                </a:solidFill>
                <a:latin typeface="Rubik"/>
                <a:ea typeface="Rubik"/>
                <a:cs typeface="Rubik"/>
                <a:sym typeface="Rubik"/>
              </a:rPr>
            </a:br>
            <a:r>
              <a:rPr b="1" i="0" lang="en-US" sz="900" u="none" cap="none" strike="noStrike">
                <a:solidFill>
                  <a:srgbClr val="000000"/>
                </a:solidFill>
                <a:latin typeface="Rubik"/>
                <a:ea typeface="Rubik"/>
                <a:cs typeface="Rubik"/>
                <a:sym typeface="Rubik"/>
              </a:rPr>
              <a:t>manière désagrégée</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8E3D4"/>
        </a:solidFill>
      </p:bgPr>
    </p:bg>
    <p:spTree>
      <p:nvGrpSpPr>
        <p:cNvPr id="280" name="Shape 280"/>
        <p:cNvGrpSpPr/>
        <p:nvPr/>
      </p:nvGrpSpPr>
      <p:grpSpPr>
        <a:xfrm>
          <a:off x="0" y="0"/>
          <a:ext cx="0" cy="0"/>
          <a:chOff x="0" y="0"/>
          <a:chExt cx="0" cy="0"/>
        </a:xfrm>
      </p:grpSpPr>
      <p:sp>
        <p:nvSpPr>
          <p:cNvPr id="281" name="Google Shape;281;p10"/>
          <p:cNvSpPr/>
          <p:nvPr/>
        </p:nvSpPr>
        <p:spPr>
          <a:xfrm>
            <a:off x="936000" y="396000"/>
            <a:ext cx="5544000" cy="540000"/>
          </a:xfrm>
          <a:prstGeom prst="rect">
            <a:avLst/>
          </a:prstGeom>
          <a:solidFill>
            <a:srgbClr val="26DBE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2" name="Google Shape;282;p10"/>
          <p:cNvSpPr/>
          <p:nvPr/>
        </p:nvSpPr>
        <p:spPr>
          <a:xfrm>
            <a:off x="1044000" y="324000"/>
            <a:ext cx="5544000" cy="540000"/>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b="1" i="0" lang="en-US" sz="1800" u="none" cap="none" strike="noStrike">
                <a:solidFill>
                  <a:srgbClr val="000000"/>
                </a:solidFill>
                <a:latin typeface="Rubik"/>
                <a:ea typeface="Rubik"/>
                <a:cs typeface="Rubik"/>
                <a:sym typeface="Rubik"/>
              </a:rPr>
              <a:t>CONCLUSION ET DEMANDE FORMELLE</a:t>
            </a:r>
            <a:endParaRPr/>
          </a:p>
        </p:txBody>
      </p:sp>
      <p:sp>
        <p:nvSpPr>
          <p:cNvPr id="283" name="Google Shape;283;p10"/>
          <p:cNvSpPr/>
          <p:nvPr/>
        </p:nvSpPr>
        <p:spPr>
          <a:xfrm>
            <a:off x="360000" y="1224000"/>
            <a:ext cx="8280000" cy="432000"/>
          </a:xfrm>
          <a:prstGeom prst="roundRect">
            <a:avLst>
              <a:gd fmla="val 5000" name="adj"/>
            </a:avLst>
          </a:prstGeom>
          <a:solidFill>
            <a:srgbClr val="26DBE0"/>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spcBef>
                <a:spcPts val="0"/>
              </a:spcBef>
              <a:spcAft>
                <a:spcPts val="0"/>
              </a:spcAft>
              <a:buNone/>
            </a:pPr>
            <a:r>
              <a:rPr b="1" i="0" lang="en-US" sz="1100" u="none" cap="none" strike="noStrike">
                <a:solidFill>
                  <a:srgbClr val="FFFFFF"/>
                </a:solidFill>
                <a:latin typeface="Rubik"/>
                <a:ea typeface="Rubik"/>
                <a:cs typeface="Rubik"/>
                <a:sym typeface="Rubik"/>
              </a:rPr>
              <a:t>1. La gouvernance est le moteur de la confiance — la confiance est le carburant de l'innovation.</a:t>
            </a:r>
            <a:endParaRPr/>
          </a:p>
        </p:txBody>
      </p:sp>
      <p:sp>
        <p:nvSpPr>
          <p:cNvPr id="284" name="Google Shape;284;p10"/>
          <p:cNvSpPr/>
          <p:nvPr/>
        </p:nvSpPr>
        <p:spPr>
          <a:xfrm>
            <a:off x="360000" y="1764000"/>
            <a:ext cx="8280000" cy="432000"/>
          </a:xfrm>
          <a:prstGeom prst="roundRect">
            <a:avLst>
              <a:gd fmla="val 5000" name="adj"/>
            </a:avLst>
          </a:prstGeom>
          <a:solidFill>
            <a:srgbClr val="A329DE"/>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spcBef>
                <a:spcPts val="0"/>
              </a:spcBef>
              <a:spcAft>
                <a:spcPts val="0"/>
              </a:spcAft>
              <a:buNone/>
            </a:pPr>
            <a:r>
              <a:rPr b="1" i="0" lang="en-US" sz="1100" u="none" cap="none" strike="noStrike">
                <a:solidFill>
                  <a:srgbClr val="FFFFFF"/>
                </a:solidFill>
                <a:latin typeface="Rubik"/>
                <a:ea typeface="Rubik"/>
                <a:cs typeface="Rubik"/>
                <a:sym typeface="Rubik"/>
              </a:rPr>
              <a:t>2. Investir maintenant, pendant que Spotify est profitable pour la 1ère fois, est stratégiquement optimal.</a:t>
            </a:r>
            <a:endParaRPr/>
          </a:p>
        </p:txBody>
      </p:sp>
      <p:sp>
        <p:nvSpPr>
          <p:cNvPr id="285" name="Google Shape;285;p10"/>
          <p:cNvSpPr/>
          <p:nvPr/>
        </p:nvSpPr>
        <p:spPr>
          <a:xfrm>
            <a:off x="360000" y="2304000"/>
            <a:ext cx="8280000" cy="432000"/>
          </a:xfrm>
          <a:prstGeom prst="roundRect">
            <a:avLst>
              <a:gd fmla="val 5000" name="adj"/>
            </a:avLst>
          </a:prstGeom>
          <a:solidFill>
            <a:srgbClr val="282A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spcBef>
                <a:spcPts val="0"/>
              </a:spcBef>
              <a:spcAft>
                <a:spcPts val="0"/>
              </a:spcAft>
              <a:buNone/>
            </a:pPr>
            <a:r>
              <a:rPr b="1" i="0" lang="en-US" sz="1100" u="none" cap="none" strike="noStrike">
                <a:solidFill>
                  <a:srgbClr val="FFFFFF"/>
                </a:solidFill>
                <a:latin typeface="Rubik"/>
                <a:ea typeface="Rubik"/>
                <a:cs typeface="Rubik"/>
                <a:sym typeface="Rubik"/>
              </a:rPr>
              <a:t>3. Un programme réussi permet aux équipes d'utiliser les données mieux, plus vite, en toute confiance.</a:t>
            </a:r>
            <a:endParaRPr/>
          </a:p>
        </p:txBody>
      </p:sp>
      <p:sp>
        <p:nvSpPr>
          <p:cNvPr id="286" name="Google Shape;286;p10"/>
          <p:cNvSpPr/>
          <p:nvPr/>
        </p:nvSpPr>
        <p:spPr>
          <a:xfrm>
            <a:off x="360000" y="3060000"/>
            <a:ext cx="8280000" cy="540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spcBef>
                <a:spcPts val="0"/>
              </a:spcBef>
              <a:spcAft>
                <a:spcPts val="0"/>
              </a:spcAft>
              <a:buNone/>
            </a:pPr>
            <a:r>
              <a:rPr b="1" i="0" lang="en-US" sz="1100" u="none" cap="none" strike="noStrike">
                <a:solidFill>
                  <a:srgbClr val="000000"/>
                </a:solidFill>
                <a:latin typeface="Rubik"/>
                <a:ea typeface="Rubik"/>
                <a:cs typeface="Rubik"/>
                <a:sym typeface="Rubik"/>
              </a:rPr>
              <a:t>Demande : approbation de 391 000 EUR pour la Phase 1 (Mois 1-3) — recrutement DGD, constitution DGO, procurement Alation.</a:t>
            </a:r>
            <a:endParaRPr/>
          </a:p>
        </p:txBody>
      </p:sp>
      <p:sp>
        <p:nvSpPr>
          <p:cNvPr id="287" name="Google Shape;287;p10"/>
          <p:cNvSpPr/>
          <p:nvPr/>
        </p:nvSpPr>
        <p:spPr>
          <a:xfrm>
            <a:off x="360000" y="4275800"/>
            <a:ext cx="8280000" cy="360000"/>
          </a:xfrm>
          <a:prstGeom prst="roundRect">
            <a:avLst>
              <a:gd fmla="val 5000" name="adj"/>
            </a:avLst>
          </a:prstGeom>
          <a:solidFill>
            <a:schemeClr val="accent6"/>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spcBef>
                <a:spcPts val="0"/>
              </a:spcBef>
              <a:spcAft>
                <a:spcPts val="0"/>
              </a:spcAft>
              <a:buNone/>
            </a:pPr>
            <a:r>
              <a:rPr b="1" i="0" lang="en-US" sz="1100" u="none" cap="none" strike="noStrike">
                <a:solidFill>
                  <a:srgbClr val="FFFFFF"/>
                </a:solidFill>
                <a:latin typeface="Rubik"/>
                <a:ea typeface="Rubik"/>
                <a:cs typeface="Rubik"/>
                <a:sym typeface="Rubik"/>
              </a:rPr>
              <a:t>Prochaine étape : lancement recrutement Directeur de Gouvernance dans les 2 semaines.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291" name="Shape 291"/>
        <p:cNvGrpSpPr/>
        <p:nvPr/>
      </p:nvGrpSpPr>
      <p:grpSpPr>
        <a:xfrm>
          <a:off x="0" y="0"/>
          <a:ext cx="0" cy="0"/>
          <a:chOff x="0" y="0"/>
          <a:chExt cx="0" cy="0"/>
        </a:xfrm>
      </p:grpSpPr>
      <p:sp>
        <p:nvSpPr>
          <p:cNvPr id="292" name="Google Shape;292;p11"/>
          <p:cNvSpPr/>
          <p:nvPr/>
        </p:nvSpPr>
        <p:spPr>
          <a:xfrm>
            <a:off x="1980000" y="1289400"/>
            <a:ext cx="5040000" cy="828000"/>
          </a:xfrm>
          <a:prstGeom prst="rect">
            <a:avLst/>
          </a:prstGeom>
          <a:solidFill>
            <a:srgbClr val="26DBE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3" name="Google Shape;293;p11"/>
          <p:cNvSpPr/>
          <p:nvPr/>
        </p:nvSpPr>
        <p:spPr>
          <a:xfrm>
            <a:off x="2124000" y="1145400"/>
            <a:ext cx="5040000" cy="828000"/>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3600" u="none" cap="none" strike="noStrike">
                <a:solidFill>
                  <a:schemeClr val="dk1"/>
                </a:solidFill>
                <a:latin typeface="Rubik"/>
                <a:ea typeface="Rubik"/>
                <a:cs typeface="Rubik"/>
                <a:sym typeface="Rubik"/>
              </a:rPr>
              <a:t>DES QUESTIONS ?</a:t>
            </a:r>
            <a:endParaRPr>
              <a:solidFill>
                <a:schemeClr val="dk1"/>
              </a:solidFill>
            </a:endParaRPr>
          </a:p>
        </p:txBody>
      </p:sp>
      <p:pic>
        <p:nvPicPr>
          <p:cNvPr id="294" name="Google Shape;294;p11"/>
          <p:cNvPicPr preferRelativeResize="0"/>
          <p:nvPr/>
        </p:nvPicPr>
        <p:blipFill>
          <a:blip r:embed="rId3">
            <a:alphaModFix/>
          </a:blip>
          <a:stretch>
            <a:fillRect/>
          </a:stretch>
        </p:blipFill>
        <p:spPr>
          <a:xfrm>
            <a:off x="3827588" y="2452280"/>
            <a:ext cx="1632824" cy="1546718"/>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8E3D4"/>
        </a:solidFill>
      </p:bgPr>
    </p:bg>
    <p:spTree>
      <p:nvGrpSpPr>
        <p:cNvPr id="298" name="Shape 298"/>
        <p:cNvGrpSpPr/>
        <p:nvPr/>
      </p:nvGrpSpPr>
      <p:grpSpPr>
        <a:xfrm>
          <a:off x="0" y="0"/>
          <a:ext cx="0" cy="0"/>
          <a:chOff x="0" y="0"/>
          <a:chExt cx="0" cy="0"/>
        </a:xfrm>
      </p:grpSpPr>
      <p:sp>
        <p:nvSpPr>
          <p:cNvPr id="299" name="Google Shape;299;p12"/>
          <p:cNvSpPr/>
          <p:nvPr/>
        </p:nvSpPr>
        <p:spPr>
          <a:xfrm>
            <a:off x="936000" y="396000"/>
            <a:ext cx="5544000" cy="540000"/>
          </a:xfrm>
          <a:prstGeom prst="rect">
            <a:avLst/>
          </a:prstGeom>
          <a:solidFill>
            <a:srgbClr val="26DBE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0" name="Google Shape;300;p12"/>
          <p:cNvSpPr/>
          <p:nvPr/>
        </p:nvSpPr>
        <p:spPr>
          <a:xfrm>
            <a:off x="1044000" y="324000"/>
            <a:ext cx="5544000" cy="540000"/>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b="1" i="0" lang="en-US" sz="1800" u="none" cap="none" strike="noStrike">
                <a:solidFill>
                  <a:srgbClr val="000000"/>
                </a:solidFill>
                <a:latin typeface="Rubik"/>
                <a:ea typeface="Rubik"/>
                <a:cs typeface="Rubik"/>
                <a:sym typeface="Rubik"/>
              </a:rPr>
              <a:t>ANNEXE A — BUDGET DÉTAILLÉ</a:t>
            </a:r>
            <a:endParaRPr/>
          </a:p>
        </p:txBody>
      </p:sp>
      <p:sp>
        <p:nvSpPr>
          <p:cNvPr id="301" name="Google Shape;301;p12"/>
          <p:cNvSpPr/>
          <p:nvPr/>
        </p:nvSpPr>
        <p:spPr>
          <a:xfrm>
            <a:off x="360000" y="1152000"/>
            <a:ext cx="2160000" cy="324000"/>
          </a:xfrm>
          <a:prstGeom prst="roundRect">
            <a:avLst>
              <a:gd fmla="val 5000" name="adj"/>
            </a:avLst>
          </a:prstGeom>
          <a:solidFill>
            <a:srgbClr val="26DBE0"/>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ctr">
              <a:spcBef>
                <a:spcPts val="0"/>
              </a:spcBef>
              <a:spcAft>
                <a:spcPts val="0"/>
              </a:spcAft>
              <a:buNone/>
            </a:pPr>
            <a:r>
              <a:rPr b="1" i="0" lang="en-US" sz="1000" u="none" cap="none" strike="noStrike">
                <a:solidFill>
                  <a:srgbClr val="FFFFFF"/>
                </a:solidFill>
                <a:latin typeface="Rubik"/>
                <a:ea typeface="Rubik"/>
                <a:cs typeface="Rubik"/>
                <a:sym typeface="Rubik"/>
              </a:rPr>
              <a:t>Poste</a:t>
            </a:r>
            <a:endParaRPr/>
          </a:p>
        </p:txBody>
      </p:sp>
      <p:sp>
        <p:nvSpPr>
          <p:cNvPr id="302" name="Google Shape;302;p12"/>
          <p:cNvSpPr/>
          <p:nvPr/>
        </p:nvSpPr>
        <p:spPr>
          <a:xfrm>
            <a:off x="2592000" y="1152000"/>
            <a:ext cx="1260000" cy="324000"/>
          </a:xfrm>
          <a:prstGeom prst="roundRect">
            <a:avLst>
              <a:gd fmla="val 5000" name="adj"/>
            </a:avLst>
          </a:prstGeom>
          <a:solidFill>
            <a:srgbClr val="26DBE0"/>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ctr">
              <a:spcBef>
                <a:spcPts val="0"/>
              </a:spcBef>
              <a:spcAft>
                <a:spcPts val="0"/>
              </a:spcAft>
              <a:buNone/>
            </a:pPr>
            <a:r>
              <a:rPr b="1" i="0" lang="en-US" sz="1000" u="none" cap="none" strike="noStrike">
                <a:solidFill>
                  <a:srgbClr val="FFFFFF"/>
                </a:solidFill>
                <a:latin typeface="Rubik"/>
                <a:ea typeface="Rubik"/>
                <a:cs typeface="Rubik"/>
                <a:sym typeface="Rubik"/>
              </a:rPr>
              <a:t>Phase 1</a:t>
            </a:r>
            <a:endParaRPr/>
          </a:p>
        </p:txBody>
      </p:sp>
      <p:sp>
        <p:nvSpPr>
          <p:cNvPr id="303" name="Google Shape;303;p12"/>
          <p:cNvSpPr/>
          <p:nvPr/>
        </p:nvSpPr>
        <p:spPr>
          <a:xfrm>
            <a:off x="3924000" y="1152000"/>
            <a:ext cx="1260000" cy="324000"/>
          </a:xfrm>
          <a:prstGeom prst="roundRect">
            <a:avLst>
              <a:gd fmla="val 5000" name="adj"/>
            </a:avLst>
          </a:prstGeom>
          <a:solidFill>
            <a:srgbClr val="26DBE0"/>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ctr">
              <a:spcBef>
                <a:spcPts val="0"/>
              </a:spcBef>
              <a:spcAft>
                <a:spcPts val="0"/>
              </a:spcAft>
              <a:buNone/>
            </a:pPr>
            <a:r>
              <a:rPr b="1" i="0" lang="en-US" sz="1000" u="none" cap="none" strike="noStrike">
                <a:solidFill>
                  <a:srgbClr val="FFFFFF"/>
                </a:solidFill>
                <a:latin typeface="Rubik"/>
                <a:ea typeface="Rubik"/>
                <a:cs typeface="Rubik"/>
                <a:sym typeface="Rubik"/>
              </a:rPr>
              <a:t>Phase 2</a:t>
            </a:r>
            <a:endParaRPr/>
          </a:p>
        </p:txBody>
      </p:sp>
      <p:sp>
        <p:nvSpPr>
          <p:cNvPr id="304" name="Google Shape;304;p12"/>
          <p:cNvSpPr/>
          <p:nvPr/>
        </p:nvSpPr>
        <p:spPr>
          <a:xfrm>
            <a:off x="5256000" y="1152000"/>
            <a:ext cx="1260000" cy="324000"/>
          </a:xfrm>
          <a:prstGeom prst="roundRect">
            <a:avLst>
              <a:gd fmla="val 5000" name="adj"/>
            </a:avLst>
          </a:prstGeom>
          <a:solidFill>
            <a:srgbClr val="26DBE0"/>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ctr">
              <a:spcBef>
                <a:spcPts val="0"/>
              </a:spcBef>
              <a:spcAft>
                <a:spcPts val="0"/>
              </a:spcAft>
              <a:buNone/>
            </a:pPr>
            <a:r>
              <a:rPr b="1" i="0" lang="en-US" sz="1000" u="none" cap="none" strike="noStrike">
                <a:solidFill>
                  <a:srgbClr val="FFFFFF"/>
                </a:solidFill>
                <a:latin typeface="Rubik"/>
                <a:ea typeface="Rubik"/>
                <a:cs typeface="Rubik"/>
                <a:sym typeface="Rubik"/>
              </a:rPr>
              <a:t>Phase 3</a:t>
            </a:r>
            <a:endParaRPr/>
          </a:p>
        </p:txBody>
      </p:sp>
      <p:sp>
        <p:nvSpPr>
          <p:cNvPr id="305" name="Google Shape;305;p12"/>
          <p:cNvSpPr/>
          <p:nvPr/>
        </p:nvSpPr>
        <p:spPr>
          <a:xfrm>
            <a:off x="6588000" y="1152000"/>
            <a:ext cx="1800000" cy="324000"/>
          </a:xfrm>
          <a:prstGeom prst="roundRect">
            <a:avLst>
              <a:gd fmla="val 5000" name="adj"/>
            </a:avLst>
          </a:prstGeom>
          <a:solidFill>
            <a:srgbClr val="26DBE0"/>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ctr">
              <a:spcBef>
                <a:spcPts val="0"/>
              </a:spcBef>
              <a:spcAft>
                <a:spcPts val="0"/>
              </a:spcAft>
              <a:buNone/>
            </a:pPr>
            <a:r>
              <a:rPr b="1" i="0" lang="en-US" sz="1000" u="none" cap="none" strike="noStrike">
                <a:solidFill>
                  <a:srgbClr val="FFFFFF"/>
                </a:solidFill>
                <a:latin typeface="Rubik"/>
                <a:ea typeface="Rubik"/>
                <a:cs typeface="Rubik"/>
                <a:sym typeface="Rubik"/>
              </a:rPr>
              <a:t>Total</a:t>
            </a:r>
            <a:endParaRPr/>
          </a:p>
        </p:txBody>
      </p:sp>
      <p:sp>
        <p:nvSpPr>
          <p:cNvPr id="306" name="Google Shape;306;p12"/>
          <p:cNvSpPr/>
          <p:nvPr/>
        </p:nvSpPr>
        <p:spPr>
          <a:xfrm>
            <a:off x="360000" y="1548000"/>
            <a:ext cx="2160000" cy="324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spcBef>
                <a:spcPts val="0"/>
              </a:spcBef>
              <a:spcAft>
                <a:spcPts val="0"/>
              </a:spcAft>
              <a:buNone/>
            </a:pPr>
            <a:r>
              <a:rPr b="0" i="0" lang="en-US" sz="900" u="none" cap="none" strike="noStrike">
                <a:solidFill>
                  <a:srgbClr val="000000"/>
                </a:solidFill>
                <a:latin typeface="Rubik"/>
                <a:ea typeface="Rubik"/>
                <a:cs typeface="Rubik"/>
                <a:sym typeface="Rubik"/>
              </a:rPr>
              <a:t>Équipe DGO</a:t>
            </a:r>
            <a:endParaRPr/>
          </a:p>
        </p:txBody>
      </p:sp>
      <p:sp>
        <p:nvSpPr>
          <p:cNvPr id="307" name="Google Shape;307;p12"/>
          <p:cNvSpPr/>
          <p:nvPr/>
        </p:nvSpPr>
        <p:spPr>
          <a:xfrm>
            <a:off x="2592000" y="1548000"/>
            <a:ext cx="1260000" cy="324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ctr">
              <a:spcBef>
                <a:spcPts val="0"/>
              </a:spcBef>
              <a:spcAft>
                <a:spcPts val="0"/>
              </a:spcAft>
              <a:buNone/>
            </a:pPr>
            <a:r>
              <a:rPr b="0" i="0" lang="en-US" sz="900" u="none" cap="none" strike="noStrike">
                <a:solidFill>
                  <a:srgbClr val="000000"/>
                </a:solidFill>
                <a:latin typeface="Rubik"/>
                <a:ea typeface="Rubik"/>
                <a:cs typeface="Rubik"/>
                <a:sym typeface="Rubik"/>
              </a:rPr>
              <a:t>150K</a:t>
            </a:r>
            <a:endParaRPr/>
          </a:p>
        </p:txBody>
      </p:sp>
      <p:sp>
        <p:nvSpPr>
          <p:cNvPr id="308" name="Google Shape;308;p12"/>
          <p:cNvSpPr/>
          <p:nvPr/>
        </p:nvSpPr>
        <p:spPr>
          <a:xfrm>
            <a:off x="3924000" y="1548000"/>
            <a:ext cx="1260000" cy="324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ctr">
              <a:spcBef>
                <a:spcPts val="0"/>
              </a:spcBef>
              <a:spcAft>
                <a:spcPts val="0"/>
              </a:spcAft>
              <a:buNone/>
            </a:pPr>
            <a:r>
              <a:rPr b="0" i="0" lang="en-US" sz="900" u="none" cap="none" strike="noStrike">
                <a:solidFill>
                  <a:srgbClr val="000000"/>
                </a:solidFill>
                <a:latin typeface="Rubik"/>
                <a:ea typeface="Rubik"/>
                <a:cs typeface="Rubik"/>
                <a:sym typeface="Rubik"/>
              </a:rPr>
              <a:t>300K</a:t>
            </a:r>
            <a:endParaRPr/>
          </a:p>
        </p:txBody>
      </p:sp>
      <p:sp>
        <p:nvSpPr>
          <p:cNvPr id="309" name="Google Shape;309;p12"/>
          <p:cNvSpPr/>
          <p:nvPr/>
        </p:nvSpPr>
        <p:spPr>
          <a:xfrm>
            <a:off x="5256000" y="1548000"/>
            <a:ext cx="1260000" cy="324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ctr">
              <a:spcBef>
                <a:spcPts val="0"/>
              </a:spcBef>
              <a:spcAft>
                <a:spcPts val="0"/>
              </a:spcAft>
              <a:buNone/>
            </a:pPr>
            <a:r>
              <a:rPr b="0" i="0" lang="en-US" sz="900" u="none" cap="none" strike="noStrike">
                <a:solidFill>
                  <a:srgbClr val="000000"/>
                </a:solidFill>
                <a:latin typeface="Rubik"/>
                <a:ea typeface="Rubik"/>
                <a:cs typeface="Rubik"/>
                <a:sym typeface="Rubik"/>
              </a:rPr>
              <a:t>300K</a:t>
            </a:r>
            <a:endParaRPr/>
          </a:p>
        </p:txBody>
      </p:sp>
      <p:sp>
        <p:nvSpPr>
          <p:cNvPr id="310" name="Google Shape;310;p12"/>
          <p:cNvSpPr/>
          <p:nvPr/>
        </p:nvSpPr>
        <p:spPr>
          <a:xfrm>
            <a:off x="6588000" y="1548000"/>
            <a:ext cx="1800000" cy="324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ctr">
              <a:spcBef>
                <a:spcPts val="0"/>
              </a:spcBef>
              <a:spcAft>
                <a:spcPts val="0"/>
              </a:spcAft>
              <a:buNone/>
            </a:pPr>
            <a:r>
              <a:rPr b="0" i="0" lang="en-US" sz="900" u="none" cap="none" strike="noStrike">
                <a:solidFill>
                  <a:srgbClr val="000000"/>
                </a:solidFill>
                <a:latin typeface="Rubik"/>
                <a:ea typeface="Rubik"/>
                <a:cs typeface="Rubik"/>
                <a:sym typeface="Rubik"/>
              </a:rPr>
              <a:t>750K</a:t>
            </a:r>
            <a:endParaRPr/>
          </a:p>
        </p:txBody>
      </p:sp>
      <p:sp>
        <p:nvSpPr>
          <p:cNvPr id="311" name="Google Shape;311;p12"/>
          <p:cNvSpPr/>
          <p:nvPr/>
        </p:nvSpPr>
        <p:spPr>
          <a:xfrm>
            <a:off x="360000" y="1890000"/>
            <a:ext cx="2160000" cy="324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spcBef>
                <a:spcPts val="0"/>
              </a:spcBef>
              <a:spcAft>
                <a:spcPts val="0"/>
              </a:spcAft>
              <a:buNone/>
            </a:pPr>
            <a:r>
              <a:rPr b="0" i="0" lang="en-US" sz="900" u="none" cap="none" strike="noStrike">
                <a:solidFill>
                  <a:srgbClr val="000000"/>
                </a:solidFill>
                <a:latin typeface="Rubik"/>
                <a:ea typeface="Rubik"/>
                <a:cs typeface="Rubik"/>
                <a:sym typeface="Rubik"/>
              </a:rPr>
              <a:t>Alation</a:t>
            </a:r>
            <a:endParaRPr/>
          </a:p>
        </p:txBody>
      </p:sp>
      <p:sp>
        <p:nvSpPr>
          <p:cNvPr id="312" name="Google Shape;312;p12"/>
          <p:cNvSpPr/>
          <p:nvPr/>
        </p:nvSpPr>
        <p:spPr>
          <a:xfrm>
            <a:off x="2592000" y="1890000"/>
            <a:ext cx="1260000" cy="324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ctr">
              <a:spcBef>
                <a:spcPts val="0"/>
              </a:spcBef>
              <a:spcAft>
                <a:spcPts val="0"/>
              </a:spcAft>
              <a:buNone/>
            </a:pPr>
            <a:r>
              <a:rPr b="0" i="0" lang="en-US" sz="900" u="none" cap="none" strike="noStrike">
                <a:solidFill>
                  <a:srgbClr val="000000"/>
                </a:solidFill>
                <a:latin typeface="Rubik"/>
                <a:ea typeface="Rubik"/>
                <a:cs typeface="Rubik"/>
                <a:sym typeface="Rubik"/>
              </a:rPr>
              <a:t>80K</a:t>
            </a:r>
            <a:endParaRPr/>
          </a:p>
        </p:txBody>
      </p:sp>
      <p:sp>
        <p:nvSpPr>
          <p:cNvPr id="313" name="Google Shape;313;p12"/>
          <p:cNvSpPr/>
          <p:nvPr/>
        </p:nvSpPr>
        <p:spPr>
          <a:xfrm>
            <a:off x="3924000" y="1890000"/>
            <a:ext cx="1260000" cy="324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ctr">
              <a:spcBef>
                <a:spcPts val="0"/>
              </a:spcBef>
              <a:spcAft>
                <a:spcPts val="0"/>
              </a:spcAft>
              <a:buNone/>
            </a:pPr>
            <a:r>
              <a:rPr b="0" i="0" lang="en-US" sz="900" u="none" cap="none" strike="noStrike">
                <a:solidFill>
                  <a:srgbClr val="000000"/>
                </a:solidFill>
                <a:latin typeface="Rubik"/>
                <a:ea typeface="Rubik"/>
                <a:cs typeface="Rubik"/>
                <a:sym typeface="Rubik"/>
              </a:rPr>
              <a:t>80K</a:t>
            </a:r>
            <a:endParaRPr/>
          </a:p>
        </p:txBody>
      </p:sp>
      <p:sp>
        <p:nvSpPr>
          <p:cNvPr id="314" name="Google Shape;314;p12"/>
          <p:cNvSpPr/>
          <p:nvPr/>
        </p:nvSpPr>
        <p:spPr>
          <a:xfrm>
            <a:off x="5256000" y="1890000"/>
            <a:ext cx="1260000" cy="324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ctr">
              <a:spcBef>
                <a:spcPts val="0"/>
              </a:spcBef>
              <a:spcAft>
                <a:spcPts val="0"/>
              </a:spcAft>
              <a:buNone/>
            </a:pPr>
            <a:r>
              <a:rPr b="0" i="0" lang="en-US" sz="900" u="none" cap="none" strike="noStrike">
                <a:solidFill>
                  <a:srgbClr val="000000"/>
                </a:solidFill>
                <a:latin typeface="Rubik"/>
                <a:ea typeface="Rubik"/>
                <a:cs typeface="Rubik"/>
                <a:sym typeface="Rubik"/>
              </a:rPr>
              <a:t>80K</a:t>
            </a:r>
            <a:endParaRPr/>
          </a:p>
        </p:txBody>
      </p:sp>
      <p:sp>
        <p:nvSpPr>
          <p:cNvPr id="315" name="Google Shape;315;p12"/>
          <p:cNvSpPr/>
          <p:nvPr/>
        </p:nvSpPr>
        <p:spPr>
          <a:xfrm>
            <a:off x="6588000" y="1890000"/>
            <a:ext cx="1800000" cy="324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ctr">
              <a:spcBef>
                <a:spcPts val="0"/>
              </a:spcBef>
              <a:spcAft>
                <a:spcPts val="0"/>
              </a:spcAft>
              <a:buNone/>
            </a:pPr>
            <a:r>
              <a:rPr b="0" i="0" lang="en-US" sz="900" u="none" cap="none" strike="noStrike">
                <a:solidFill>
                  <a:srgbClr val="000000"/>
                </a:solidFill>
                <a:latin typeface="Rubik"/>
                <a:ea typeface="Rubik"/>
                <a:cs typeface="Rubik"/>
                <a:sym typeface="Rubik"/>
              </a:rPr>
              <a:t>240K</a:t>
            </a:r>
            <a:endParaRPr/>
          </a:p>
        </p:txBody>
      </p:sp>
      <p:sp>
        <p:nvSpPr>
          <p:cNvPr id="316" name="Google Shape;316;p12"/>
          <p:cNvSpPr/>
          <p:nvPr/>
        </p:nvSpPr>
        <p:spPr>
          <a:xfrm>
            <a:off x="360000" y="2232000"/>
            <a:ext cx="2160000" cy="324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spcBef>
                <a:spcPts val="0"/>
              </a:spcBef>
              <a:spcAft>
                <a:spcPts val="0"/>
              </a:spcAft>
              <a:buNone/>
            </a:pPr>
            <a:r>
              <a:rPr b="0" i="0" lang="en-US" sz="900" u="none" cap="none" strike="noStrike">
                <a:solidFill>
                  <a:srgbClr val="000000"/>
                </a:solidFill>
                <a:latin typeface="Rubik"/>
                <a:ea typeface="Rubik"/>
                <a:cs typeface="Rubik"/>
                <a:sym typeface="Rubik"/>
              </a:rPr>
              <a:t>Soda.io</a:t>
            </a:r>
            <a:endParaRPr/>
          </a:p>
        </p:txBody>
      </p:sp>
      <p:sp>
        <p:nvSpPr>
          <p:cNvPr id="317" name="Google Shape;317;p12"/>
          <p:cNvSpPr/>
          <p:nvPr/>
        </p:nvSpPr>
        <p:spPr>
          <a:xfrm>
            <a:off x="2592000" y="2232000"/>
            <a:ext cx="1260000" cy="324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ctr">
              <a:spcBef>
                <a:spcPts val="0"/>
              </a:spcBef>
              <a:spcAft>
                <a:spcPts val="0"/>
              </a:spcAft>
              <a:buNone/>
            </a:pPr>
            <a:r>
              <a:rPr b="0" i="0" lang="en-US" sz="900" u="none" cap="none" strike="noStrike">
                <a:solidFill>
                  <a:srgbClr val="000000"/>
                </a:solidFill>
                <a:latin typeface="Rubik"/>
                <a:ea typeface="Rubik"/>
                <a:cs typeface="Rubik"/>
                <a:sym typeface="Rubik"/>
              </a:rPr>
              <a:t>30K</a:t>
            </a:r>
            <a:endParaRPr/>
          </a:p>
        </p:txBody>
      </p:sp>
      <p:sp>
        <p:nvSpPr>
          <p:cNvPr id="318" name="Google Shape;318;p12"/>
          <p:cNvSpPr/>
          <p:nvPr/>
        </p:nvSpPr>
        <p:spPr>
          <a:xfrm>
            <a:off x="3924000" y="2232000"/>
            <a:ext cx="1260000" cy="324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ctr">
              <a:spcBef>
                <a:spcPts val="0"/>
              </a:spcBef>
              <a:spcAft>
                <a:spcPts val="0"/>
              </a:spcAft>
              <a:buNone/>
            </a:pPr>
            <a:r>
              <a:rPr b="0" i="0" lang="en-US" sz="900" u="none" cap="none" strike="noStrike">
                <a:solidFill>
                  <a:srgbClr val="000000"/>
                </a:solidFill>
                <a:latin typeface="Rubik"/>
                <a:ea typeface="Rubik"/>
                <a:cs typeface="Rubik"/>
                <a:sym typeface="Rubik"/>
              </a:rPr>
              <a:t>30K</a:t>
            </a:r>
            <a:endParaRPr/>
          </a:p>
        </p:txBody>
      </p:sp>
      <p:sp>
        <p:nvSpPr>
          <p:cNvPr id="319" name="Google Shape;319;p12"/>
          <p:cNvSpPr/>
          <p:nvPr/>
        </p:nvSpPr>
        <p:spPr>
          <a:xfrm>
            <a:off x="5256000" y="2232000"/>
            <a:ext cx="1260000" cy="324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ctr">
              <a:spcBef>
                <a:spcPts val="0"/>
              </a:spcBef>
              <a:spcAft>
                <a:spcPts val="0"/>
              </a:spcAft>
              <a:buNone/>
            </a:pPr>
            <a:r>
              <a:rPr b="0" i="0" lang="en-US" sz="900" u="none" cap="none" strike="noStrike">
                <a:solidFill>
                  <a:srgbClr val="000000"/>
                </a:solidFill>
                <a:latin typeface="Rubik"/>
                <a:ea typeface="Rubik"/>
                <a:cs typeface="Rubik"/>
                <a:sym typeface="Rubik"/>
              </a:rPr>
              <a:t>30K</a:t>
            </a:r>
            <a:endParaRPr/>
          </a:p>
        </p:txBody>
      </p:sp>
      <p:sp>
        <p:nvSpPr>
          <p:cNvPr id="320" name="Google Shape;320;p12"/>
          <p:cNvSpPr/>
          <p:nvPr/>
        </p:nvSpPr>
        <p:spPr>
          <a:xfrm>
            <a:off x="6588000" y="2232000"/>
            <a:ext cx="1800000" cy="324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ctr">
              <a:spcBef>
                <a:spcPts val="0"/>
              </a:spcBef>
              <a:spcAft>
                <a:spcPts val="0"/>
              </a:spcAft>
              <a:buNone/>
            </a:pPr>
            <a:r>
              <a:rPr b="0" i="0" lang="en-US" sz="900" u="none" cap="none" strike="noStrike">
                <a:solidFill>
                  <a:srgbClr val="000000"/>
                </a:solidFill>
                <a:latin typeface="Rubik"/>
                <a:ea typeface="Rubik"/>
                <a:cs typeface="Rubik"/>
                <a:sym typeface="Rubik"/>
              </a:rPr>
              <a:t>90K</a:t>
            </a:r>
            <a:endParaRPr/>
          </a:p>
        </p:txBody>
      </p:sp>
      <p:sp>
        <p:nvSpPr>
          <p:cNvPr id="321" name="Google Shape;321;p12"/>
          <p:cNvSpPr/>
          <p:nvPr/>
        </p:nvSpPr>
        <p:spPr>
          <a:xfrm>
            <a:off x="360000" y="2574000"/>
            <a:ext cx="2160000" cy="324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spcBef>
                <a:spcPts val="0"/>
              </a:spcBef>
              <a:spcAft>
                <a:spcPts val="0"/>
              </a:spcAft>
              <a:buNone/>
            </a:pPr>
            <a:r>
              <a:rPr b="0" i="0" lang="en-US" sz="900" u="none" cap="none" strike="noStrike">
                <a:solidFill>
                  <a:srgbClr val="000000"/>
                </a:solidFill>
                <a:latin typeface="Rubik"/>
                <a:ea typeface="Rubik"/>
                <a:cs typeface="Rubik"/>
                <a:sym typeface="Rubik"/>
              </a:rPr>
              <a:t>OneTrust</a:t>
            </a:r>
            <a:endParaRPr/>
          </a:p>
        </p:txBody>
      </p:sp>
      <p:sp>
        <p:nvSpPr>
          <p:cNvPr id="322" name="Google Shape;322;p12"/>
          <p:cNvSpPr/>
          <p:nvPr/>
        </p:nvSpPr>
        <p:spPr>
          <a:xfrm>
            <a:off x="2592000" y="2574000"/>
            <a:ext cx="1260000" cy="324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ctr">
              <a:spcBef>
                <a:spcPts val="0"/>
              </a:spcBef>
              <a:spcAft>
                <a:spcPts val="0"/>
              </a:spcAft>
              <a:buNone/>
            </a:pPr>
            <a:r>
              <a:rPr b="0" i="0" lang="en-US" sz="900" u="none" cap="none" strike="noStrike">
                <a:solidFill>
                  <a:srgbClr val="000000"/>
                </a:solidFill>
                <a:latin typeface="Rubik"/>
                <a:ea typeface="Rubik"/>
                <a:cs typeface="Rubik"/>
                <a:sym typeface="Rubik"/>
              </a:rPr>
              <a:t>60K</a:t>
            </a:r>
            <a:endParaRPr/>
          </a:p>
        </p:txBody>
      </p:sp>
      <p:sp>
        <p:nvSpPr>
          <p:cNvPr id="323" name="Google Shape;323;p12"/>
          <p:cNvSpPr/>
          <p:nvPr/>
        </p:nvSpPr>
        <p:spPr>
          <a:xfrm>
            <a:off x="3924000" y="2574000"/>
            <a:ext cx="1260000" cy="324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ctr">
              <a:spcBef>
                <a:spcPts val="0"/>
              </a:spcBef>
              <a:spcAft>
                <a:spcPts val="0"/>
              </a:spcAft>
              <a:buNone/>
            </a:pPr>
            <a:r>
              <a:rPr b="0" i="0" lang="en-US" sz="900" u="none" cap="none" strike="noStrike">
                <a:solidFill>
                  <a:srgbClr val="000000"/>
                </a:solidFill>
                <a:latin typeface="Rubik"/>
                <a:ea typeface="Rubik"/>
                <a:cs typeface="Rubik"/>
                <a:sym typeface="Rubik"/>
              </a:rPr>
              <a:t>30K</a:t>
            </a:r>
            <a:endParaRPr/>
          </a:p>
        </p:txBody>
      </p:sp>
      <p:sp>
        <p:nvSpPr>
          <p:cNvPr id="324" name="Google Shape;324;p12"/>
          <p:cNvSpPr/>
          <p:nvPr/>
        </p:nvSpPr>
        <p:spPr>
          <a:xfrm>
            <a:off x="5256000" y="2574000"/>
            <a:ext cx="1260000" cy="324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ctr">
              <a:spcBef>
                <a:spcPts val="0"/>
              </a:spcBef>
              <a:spcAft>
                <a:spcPts val="0"/>
              </a:spcAft>
              <a:buNone/>
            </a:pPr>
            <a:r>
              <a:rPr b="0" i="0" lang="en-US" sz="900" u="none" cap="none" strike="noStrike">
                <a:solidFill>
                  <a:srgbClr val="000000"/>
                </a:solidFill>
                <a:latin typeface="Rubik"/>
                <a:ea typeface="Rubik"/>
                <a:cs typeface="Rubik"/>
                <a:sym typeface="Rubik"/>
              </a:rPr>
              <a:t>30K</a:t>
            </a:r>
            <a:endParaRPr/>
          </a:p>
        </p:txBody>
      </p:sp>
      <p:sp>
        <p:nvSpPr>
          <p:cNvPr id="325" name="Google Shape;325;p12"/>
          <p:cNvSpPr/>
          <p:nvPr/>
        </p:nvSpPr>
        <p:spPr>
          <a:xfrm>
            <a:off x="6588000" y="2574000"/>
            <a:ext cx="1800000" cy="324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ctr">
              <a:spcBef>
                <a:spcPts val="0"/>
              </a:spcBef>
              <a:spcAft>
                <a:spcPts val="0"/>
              </a:spcAft>
              <a:buNone/>
            </a:pPr>
            <a:r>
              <a:rPr b="0" i="0" lang="en-US" sz="900" u="none" cap="none" strike="noStrike">
                <a:solidFill>
                  <a:srgbClr val="000000"/>
                </a:solidFill>
                <a:latin typeface="Rubik"/>
                <a:ea typeface="Rubik"/>
                <a:cs typeface="Rubik"/>
                <a:sym typeface="Rubik"/>
              </a:rPr>
              <a:t>120K</a:t>
            </a:r>
            <a:endParaRPr/>
          </a:p>
        </p:txBody>
      </p:sp>
      <p:sp>
        <p:nvSpPr>
          <p:cNvPr id="326" name="Google Shape;326;p12"/>
          <p:cNvSpPr/>
          <p:nvPr/>
        </p:nvSpPr>
        <p:spPr>
          <a:xfrm>
            <a:off x="360000" y="2916000"/>
            <a:ext cx="2160000" cy="324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spcBef>
                <a:spcPts val="0"/>
              </a:spcBef>
              <a:spcAft>
                <a:spcPts val="0"/>
              </a:spcAft>
              <a:buNone/>
            </a:pPr>
            <a:r>
              <a:rPr b="0" i="0" lang="en-US" sz="900" u="none" cap="none" strike="noStrike">
                <a:solidFill>
                  <a:srgbClr val="000000"/>
                </a:solidFill>
                <a:latin typeface="Rubik"/>
                <a:ea typeface="Rubik"/>
                <a:cs typeface="Rubik"/>
                <a:sym typeface="Rubik"/>
              </a:rPr>
              <a:t>Monte Carlo</a:t>
            </a:r>
            <a:endParaRPr/>
          </a:p>
        </p:txBody>
      </p:sp>
      <p:sp>
        <p:nvSpPr>
          <p:cNvPr id="327" name="Google Shape;327;p12"/>
          <p:cNvSpPr/>
          <p:nvPr/>
        </p:nvSpPr>
        <p:spPr>
          <a:xfrm>
            <a:off x="2592000" y="2916000"/>
            <a:ext cx="1260000" cy="324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ctr">
              <a:spcBef>
                <a:spcPts val="0"/>
              </a:spcBef>
              <a:spcAft>
                <a:spcPts val="0"/>
              </a:spcAft>
              <a:buNone/>
            </a:pPr>
            <a:r>
              <a:rPr b="0" i="0" lang="en-US" sz="900" u="none" cap="none" strike="noStrike">
                <a:solidFill>
                  <a:srgbClr val="000000"/>
                </a:solidFill>
                <a:latin typeface="Rubik"/>
                <a:ea typeface="Rubik"/>
                <a:cs typeface="Rubik"/>
                <a:sym typeface="Rubik"/>
              </a:rPr>
              <a:t>—</a:t>
            </a:r>
            <a:endParaRPr/>
          </a:p>
        </p:txBody>
      </p:sp>
      <p:sp>
        <p:nvSpPr>
          <p:cNvPr id="328" name="Google Shape;328;p12"/>
          <p:cNvSpPr/>
          <p:nvPr/>
        </p:nvSpPr>
        <p:spPr>
          <a:xfrm>
            <a:off x="3924000" y="2916000"/>
            <a:ext cx="1260000" cy="324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ctr">
              <a:spcBef>
                <a:spcPts val="0"/>
              </a:spcBef>
              <a:spcAft>
                <a:spcPts val="0"/>
              </a:spcAft>
              <a:buNone/>
            </a:pPr>
            <a:r>
              <a:rPr b="0" i="0" lang="en-US" sz="900" u="none" cap="none" strike="noStrike">
                <a:solidFill>
                  <a:srgbClr val="000000"/>
                </a:solidFill>
                <a:latin typeface="Rubik"/>
                <a:ea typeface="Rubik"/>
                <a:cs typeface="Rubik"/>
                <a:sym typeface="Rubik"/>
              </a:rPr>
              <a:t>40K</a:t>
            </a:r>
            <a:endParaRPr/>
          </a:p>
        </p:txBody>
      </p:sp>
      <p:sp>
        <p:nvSpPr>
          <p:cNvPr id="329" name="Google Shape;329;p12"/>
          <p:cNvSpPr/>
          <p:nvPr/>
        </p:nvSpPr>
        <p:spPr>
          <a:xfrm>
            <a:off x="5256000" y="2916000"/>
            <a:ext cx="1260000" cy="324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ctr">
              <a:spcBef>
                <a:spcPts val="0"/>
              </a:spcBef>
              <a:spcAft>
                <a:spcPts val="0"/>
              </a:spcAft>
              <a:buNone/>
            </a:pPr>
            <a:r>
              <a:rPr b="0" i="0" lang="en-US" sz="900" u="none" cap="none" strike="noStrike">
                <a:solidFill>
                  <a:srgbClr val="000000"/>
                </a:solidFill>
                <a:latin typeface="Rubik"/>
                <a:ea typeface="Rubik"/>
                <a:cs typeface="Rubik"/>
                <a:sym typeface="Rubik"/>
              </a:rPr>
              <a:t>40K</a:t>
            </a:r>
            <a:endParaRPr/>
          </a:p>
        </p:txBody>
      </p:sp>
      <p:sp>
        <p:nvSpPr>
          <p:cNvPr id="330" name="Google Shape;330;p12"/>
          <p:cNvSpPr/>
          <p:nvPr/>
        </p:nvSpPr>
        <p:spPr>
          <a:xfrm>
            <a:off x="6588000" y="2916000"/>
            <a:ext cx="1800000" cy="324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ctr">
              <a:spcBef>
                <a:spcPts val="0"/>
              </a:spcBef>
              <a:spcAft>
                <a:spcPts val="0"/>
              </a:spcAft>
              <a:buNone/>
            </a:pPr>
            <a:r>
              <a:rPr b="0" i="0" lang="en-US" sz="900" u="none" cap="none" strike="noStrike">
                <a:solidFill>
                  <a:srgbClr val="000000"/>
                </a:solidFill>
                <a:latin typeface="Rubik"/>
                <a:ea typeface="Rubik"/>
                <a:cs typeface="Rubik"/>
                <a:sym typeface="Rubik"/>
              </a:rPr>
              <a:t>80K</a:t>
            </a:r>
            <a:endParaRPr/>
          </a:p>
        </p:txBody>
      </p:sp>
      <p:sp>
        <p:nvSpPr>
          <p:cNvPr id="331" name="Google Shape;331;p12"/>
          <p:cNvSpPr/>
          <p:nvPr/>
        </p:nvSpPr>
        <p:spPr>
          <a:xfrm>
            <a:off x="360000" y="3258000"/>
            <a:ext cx="2160000" cy="324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spcBef>
                <a:spcPts val="0"/>
              </a:spcBef>
              <a:spcAft>
                <a:spcPts val="0"/>
              </a:spcAft>
              <a:buNone/>
            </a:pPr>
            <a:r>
              <a:rPr b="0" i="0" lang="en-US" sz="900" u="none" cap="none" strike="noStrike">
                <a:solidFill>
                  <a:srgbClr val="000000"/>
                </a:solidFill>
                <a:latin typeface="Rubik"/>
                <a:ea typeface="Rubik"/>
                <a:cs typeface="Rubik"/>
                <a:sym typeface="Rubik"/>
              </a:rPr>
              <a:t>Formation</a:t>
            </a:r>
            <a:endParaRPr/>
          </a:p>
        </p:txBody>
      </p:sp>
      <p:sp>
        <p:nvSpPr>
          <p:cNvPr id="332" name="Google Shape;332;p12"/>
          <p:cNvSpPr/>
          <p:nvPr/>
        </p:nvSpPr>
        <p:spPr>
          <a:xfrm>
            <a:off x="2592000" y="3258000"/>
            <a:ext cx="1260000" cy="324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ctr">
              <a:spcBef>
                <a:spcPts val="0"/>
              </a:spcBef>
              <a:spcAft>
                <a:spcPts val="0"/>
              </a:spcAft>
              <a:buNone/>
            </a:pPr>
            <a:r>
              <a:rPr b="0" i="0" lang="en-US" sz="900" u="none" cap="none" strike="noStrike">
                <a:solidFill>
                  <a:srgbClr val="000000"/>
                </a:solidFill>
                <a:latin typeface="Rubik"/>
                <a:ea typeface="Rubik"/>
                <a:cs typeface="Rubik"/>
                <a:sym typeface="Rubik"/>
              </a:rPr>
              <a:t>20K</a:t>
            </a:r>
            <a:endParaRPr/>
          </a:p>
        </p:txBody>
      </p:sp>
      <p:sp>
        <p:nvSpPr>
          <p:cNvPr id="333" name="Google Shape;333;p12"/>
          <p:cNvSpPr/>
          <p:nvPr/>
        </p:nvSpPr>
        <p:spPr>
          <a:xfrm>
            <a:off x="3924000" y="3258000"/>
            <a:ext cx="1260000" cy="324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ctr">
              <a:spcBef>
                <a:spcPts val="0"/>
              </a:spcBef>
              <a:spcAft>
                <a:spcPts val="0"/>
              </a:spcAft>
              <a:buNone/>
            </a:pPr>
            <a:r>
              <a:rPr b="0" i="0" lang="en-US" sz="900" u="none" cap="none" strike="noStrike">
                <a:solidFill>
                  <a:srgbClr val="000000"/>
                </a:solidFill>
                <a:latin typeface="Rubik"/>
                <a:ea typeface="Rubik"/>
                <a:cs typeface="Rubik"/>
                <a:sym typeface="Rubik"/>
              </a:rPr>
              <a:t>30K</a:t>
            </a:r>
            <a:endParaRPr/>
          </a:p>
        </p:txBody>
      </p:sp>
      <p:sp>
        <p:nvSpPr>
          <p:cNvPr id="334" name="Google Shape;334;p12"/>
          <p:cNvSpPr/>
          <p:nvPr/>
        </p:nvSpPr>
        <p:spPr>
          <a:xfrm>
            <a:off x="5256000" y="3258000"/>
            <a:ext cx="1260000" cy="324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ctr">
              <a:spcBef>
                <a:spcPts val="0"/>
              </a:spcBef>
              <a:spcAft>
                <a:spcPts val="0"/>
              </a:spcAft>
              <a:buNone/>
            </a:pPr>
            <a:r>
              <a:rPr b="0" i="0" lang="en-US" sz="900" u="none" cap="none" strike="noStrike">
                <a:solidFill>
                  <a:srgbClr val="000000"/>
                </a:solidFill>
                <a:latin typeface="Rubik"/>
                <a:ea typeface="Rubik"/>
                <a:cs typeface="Rubik"/>
                <a:sym typeface="Rubik"/>
              </a:rPr>
              <a:t>80K</a:t>
            </a:r>
            <a:endParaRPr/>
          </a:p>
        </p:txBody>
      </p:sp>
      <p:sp>
        <p:nvSpPr>
          <p:cNvPr id="335" name="Google Shape;335;p12"/>
          <p:cNvSpPr/>
          <p:nvPr/>
        </p:nvSpPr>
        <p:spPr>
          <a:xfrm>
            <a:off x="6588000" y="3258000"/>
            <a:ext cx="1800000" cy="324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ctr">
              <a:spcBef>
                <a:spcPts val="0"/>
              </a:spcBef>
              <a:spcAft>
                <a:spcPts val="0"/>
              </a:spcAft>
              <a:buNone/>
            </a:pPr>
            <a:r>
              <a:rPr b="0" i="0" lang="en-US" sz="900" u="none" cap="none" strike="noStrike">
                <a:solidFill>
                  <a:srgbClr val="000000"/>
                </a:solidFill>
                <a:latin typeface="Rubik"/>
                <a:ea typeface="Rubik"/>
                <a:cs typeface="Rubik"/>
                <a:sym typeface="Rubik"/>
              </a:rPr>
              <a:t>130K</a:t>
            </a:r>
            <a:endParaRPr/>
          </a:p>
        </p:txBody>
      </p:sp>
      <p:sp>
        <p:nvSpPr>
          <p:cNvPr id="336" name="Google Shape;336;p12"/>
          <p:cNvSpPr/>
          <p:nvPr/>
        </p:nvSpPr>
        <p:spPr>
          <a:xfrm>
            <a:off x="360000" y="3600000"/>
            <a:ext cx="2160000" cy="324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spcBef>
                <a:spcPts val="0"/>
              </a:spcBef>
              <a:spcAft>
                <a:spcPts val="0"/>
              </a:spcAft>
              <a:buNone/>
            </a:pPr>
            <a:r>
              <a:rPr b="0" i="0" lang="en-US" sz="900" u="none" cap="none" strike="noStrike">
                <a:solidFill>
                  <a:srgbClr val="000000"/>
                </a:solidFill>
                <a:latin typeface="Rubik"/>
                <a:ea typeface="Rubik"/>
                <a:cs typeface="Rubik"/>
                <a:sym typeface="Rubik"/>
              </a:rPr>
              <a:t>Audit externe</a:t>
            </a:r>
            <a:endParaRPr/>
          </a:p>
        </p:txBody>
      </p:sp>
      <p:sp>
        <p:nvSpPr>
          <p:cNvPr id="337" name="Google Shape;337;p12"/>
          <p:cNvSpPr/>
          <p:nvPr/>
        </p:nvSpPr>
        <p:spPr>
          <a:xfrm>
            <a:off x="2592000" y="3600000"/>
            <a:ext cx="1260000" cy="324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ctr">
              <a:spcBef>
                <a:spcPts val="0"/>
              </a:spcBef>
              <a:spcAft>
                <a:spcPts val="0"/>
              </a:spcAft>
              <a:buNone/>
            </a:pPr>
            <a:r>
              <a:rPr b="0" i="0" lang="en-US" sz="900" u="none" cap="none" strike="noStrike">
                <a:solidFill>
                  <a:srgbClr val="000000"/>
                </a:solidFill>
                <a:latin typeface="Rubik"/>
                <a:ea typeface="Rubik"/>
                <a:cs typeface="Rubik"/>
                <a:sym typeface="Rubik"/>
              </a:rPr>
              <a:t>—</a:t>
            </a:r>
            <a:endParaRPr/>
          </a:p>
        </p:txBody>
      </p:sp>
      <p:sp>
        <p:nvSpPr>
          <p:cNvPr id="338" name="Google Shape;338;p12"/>
          <p:cNvSpPr/>
          <p:nvPr/>
        </p:nvSpPr>
        <p:spPr>
          <a:xfrm>
            <a:off x="3924000" y="3600000"/>
            <a:ext cx="1260000" cy="324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ctr">
              <a:spcBef>
                <a:spcPts val="0"/>
              </a:spcBef>
              <a:spcAft>
                <a:spcPts val="0"/>
              </a:spcAft>
              <a:buNone/>
            </a:pPr>
            <a:r>
              <a:rPr b="0" i="0" lang="en-US" sz="900" u="none" cap="none" strike="noStrike">
                <a:solidFill>
                  <a:srgbClr val="000000"/>
                </a:solidFill>
                <a:latin typeface="Rubik"/>
                <a:ea typeface="Rubik"/>
                <a:cs typeface="Rubik"/>
                <a:sym typeface="Rubik"/>
              </a:rPr>
              <a:t>—</a:t>
            </a:r>
            <a:endParaRPr/>
          </a:p>
        </p:txBody>
      </p:sp>
      <p:sp>
        <p:nvSpPr>
          <p:cNvPr id="339" name="Google Shape;339;p12"/>
          <p:cNvSpPr/>
          <p:nvPr/>
        </p:nvSpPr>
        <p:spPr>
          <a:xfrm>
            <a:off x="5256000" y="3600000"/>
            <a:ext cx="1260000" cy="324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ctr">
              <a:spcBef>
                <a:spcPts val="0"/>
              </a:spcBef>
              <a:spcAft>
                <a:spcPts val="0"/>
              </a:spcAft>
              <a:buNone/>
            </a:pPr>
            <a:r>
              <a:rPr b="0" i="0" lang="en-US" sz="900" u="none" cap="none" strike="noStrike">
                <a:solidFill>
                  <a:srgbClr val="000000"/>
                </a:solidFill>
                <a:latin typeface="Rubik"/>
                <a:ea typeface="Rubik"/>
                <a:cs typeface="Rubik"/>
                <a:sym typeface="Rubik"/>
              </a:rPr>
              <a:t>50K</a:t>
            </a:r>
            <a:endParaRPr/>
          </a:p>
        </p:txBody>
      </p:sp>
      <p:sp>
        <p:nvSpPr>
          <p:cNvPr id="340" name="Google Shape;340;p12"/>
          <p:cNvSpPr/>
          <p:nvPr/>
        </p:nvSpPr>
        <p:spPr>
          <a:xfrm>
            <a:off x="6588000" y="3600000"/>
            <a:ext cx="1800000" cy="324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ctr">
              <a:spcBef>
                <a:spcPts val="0"/>
              </a:spcBef>
              <a:spcAft>
                <a:spcPts val="0"/>
              </a:spcAft>
              <a:buNone/>
            </a:pPr>
            <a:r>
              <a:rPr b="0" i="0" lang="en-US" sz="900" u="none" cap="none" strike="noStrike">
                <a:solidFill>
                  <a:srgbClr val="000000"/>
                </a:solidFill>
                <a:latin typeface="Rubik"/>
                <a:ea typeface="Rubik"/>
                <a:cs typeface="Rubik"/>
                <a:sym typeface="Rubik"/>
              </a:rPr>
              <a:t>50K</a:t>
            </a:r>
            <a:endParaRPr/>
          </a:p>
        </p:txBody>
      </p:sp>
      <p:sp>
        <p:nvSpPr>
          <p:cNvPr id="341" name="Google Shape;341;p12"/>
          <p:cNvSpPr/>
          <p:nvPr/>
        </p:nvSpPr>
        <p:spPr>
          <a:xfrm>
            <a:off x="360000" y="3942000"/>
            <a:ext cx="2160000" cy="324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spcBef>
                <a:spcPts val="0"/>
              </a:spcBef>
              <a:spcAft>
                <a:spcPts val="0"/>
              </a:spcAft>
              <a:buNone/>
            </a:pPr>
            <a:r>
              <a:rPr b="0" i="0" lang="en-US" sz="900" u="none" cap="none" strike="noStrike">
                <a:solidFill>
                  <a:srgbClr val="000000"/>
                </a:solidFill>
                <a:latin typeface="Rubik"/>
                <a:ea typeface="Rubik"/>
                <a:cs typeface="Rubik"/>
                <a:sym typeface="Rubik"/>
              </a:rPr>
              <a:t>Réserve 15 %</a:t>
            </a:r>
            <a:endParaRPr/>
          </a:p>
        </p:txBody>
      </p:sp>
      <p:sp>
        <p:nvSpPr>
          <p:cNvPr id="342" name="Google Shape;342;p12"/>
          <p:cNvSpPr/>
          <p:nvPr/>
        </p:nvSpPr>
        <p:spPr>
          <a:xfrm>
            <a:off x="2592000" y="3942000"/>
            <a:ext cx="1260000" cy="324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ctr">
              <a:spcBef>
                <a:spcPts val="0"/>
              </a:spcBef>
              <a:spcAft>
                <a:spcPts val="0"/>
              </a:spcAft>
              <a:buNone/>
            </a:pPr>
            <a:r>
              <a:rPr b="0" i="0" lang="en-US" sz="900" u="none" cap="none" strike="noStrike">
                <a:solidFill>
                  <a:srgbClr val="000000"/>
                </a:solidFill>
                <a:latin typeface="Rubik"/>
                <a:ea typeface="Rubik"/>
                <a:cs typeface="Rubik"/>
                <a:sym typeface="Rubik"/>
              </a:rPr>
              <a:t>51K</a:t>
            </a:r>
            <a:endParaRPr/>
          </a:p>
        </p:txBody>
      </p:sp>
      <p:sp>
        <p:nvSpPr>
          <p:cNvPr id="343" name="Google Shape;343;p12"/>
          <p:cNvSpPr/>
          <p:nvPr/>
        </p:nvSpPr>
        <p:spPr>
          <a:xfrm>
            <a:off x="3924000" y="3942000"/>
            <a:ext cx="1260000" cy="324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ctr">
              <a:spcBef>
                <a:spcPts val="0"/>
              </a:spcBef>
              <a:spcAft>
                <a:spcPts val="0"/>
              </a:spcAft>
              <a:buNone/>
            </a:pPr>
            <a:r>
              <a:rPr b="0" i="0" lang="en-US" sz="900" u="none" cap="none" strike="noStrike">
                <a:solidFill>
                  <a:srgbClr val="000000"/>
                </a:solidFill>
                <a:latin typeface="Rubik"/>
                <a:ea typeface="Rubik"/>
                <a:cs typeface="Rubik"/>
                <a:sym typeface="Rubik"/>
              </a:rPr>
              <a:t>78K</a:t>
            </a:r>
            <a:endParaRPr/>
          </a:p>
        </p:txBody>
      </p:sp>
      <p:sp>
        <p:nvSpPr>
          <p:cNvPr id="344" name="Google Shape;344;p12"/>
          <p:cNvSpPr/>
          <p:nvPr/>
        </p:nvSpPr>
        <p:spPr>
          <a:xfrm>
            <a:off x="5256000" y="3942000"/>
            <a:ext cx="1260000" cy="324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ctr">
              <a:spcBef>
                <a:spcPts val="0"/>
              </a:spcBef>
              <a:spcAft>
                <a:spcPts val="0"/>
              </a:spcAft>
              <a:buNone/>
            </a:pPr>
            <a:r>
              <a:rPr b="0" i="0" lang="en-US" sz="900" u="none" cap="none" strike="noStrike">
                <a:solidFill>
                  <a:srgbClr val="000000"/>
                </a:solidFill>
                <a:latin typeface="Rubik"/>
                <a:ea typeface="Rubik"/>
                <a:cs typeface="Rubik"/>
                <a:sym typeface="Rubik"/>
              </a:rPr>
              <a:t>90K</a:t>
            </a:r>
            <a:endParaRPr/>
          </a:p>
        </p:txBody>
      </p:sp>
      <p:sp>
        <p:nvSpPr>
          <p:cNvPr id="345" name="Google Shape;345;p12"/>
          <p:cNvSpPr/>
          <p:nvPr/>
        </p:nvSpPr>
        <p:spPr>
          <a:xfrm>
            <a:off x="6588000" y="3942000"/>
            <a:ext cx="1800000" cy="324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ctr">
              <a:spcBef>
                <a:spcPts val="0"/>
              </a:spcBef>
              <a:spcAft>
                <a:spcPts val="0"/>
              </a:spcAft>
              <a:buNone/>
            </a:pPr>
            <a:r>
              <a:rPr b="0" i="0" lang="en-US" sz="900" u="none" cap="none" strike="noStrike">
                <a:solidFill>
                  <a:srgbClr val="000000"/>
                </a:solidFill>
                <a:latin typeface="Rubik"/>
                <a:ea typeface="Rubik"/>
                <a:cs typeface="Rubik"/>
                <a:sym typeface="Rubik"/>
              </a:rPr>
              <a:t>219K</a:t>
            </a:r>
            <a:endParaRPr/>
          </a:p>
        </p:txBody>
      </p:sp>
      <p:sp>
        <p:nvSpPr>
          <p:cNvPr id="346" name="Google Shape;346;p12"/>
          <p:cNvSpPr/>
          <p:nvPr/>
        </p:nvSpPr>
        <p:spPr>
          <a:xfrm>
            <a:off x="360000" y="4284000"/>
            <a:ext cx="2160000" cy="324000"/>
          </a:xfrm>
          <a:prstGeom prst="roundRect">
            <a:avLst>
              <a:gd fmla="val 5000" name="adj"/>
            </a:avLst>
          </a:prstGeom>
          <a:solidFill>
            <a:srgbClr val="282A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spcBef>
                <a:spcPts val="0"/>
              </a:spcBef>
              <a:spcAft>
                <a:spcPts val="0"/>
              </a:spcAft>
              <a:buNone/>
            </a:pPr>
            <a:r>
              <a:rPr b="1" i="0" lang="en-US" sz="900" u="none" cap="none" strike="noStrike">
                <a:solidFill>
                  <a:srgbClr val="FFFFFF"/>
                </a:solidFill>
                <a:latin typeface="Rubik"/>
                <a:ea typeface="Rubik"/>
                <a:cs typeface="Rubik"/>
                <a:sym typeface="Rubik"/>
              </a:rPr>
              <a:t>TOTAL</a:t>
            </a:r>
            <a:endParaRPr/>
          </a:p>
        </p:txBody>
      </p:sp>
      <p:sp>
        <p:nvSpPr>
          <p:cNvPr id="347" name="Google Shape;347;p12"/>
          <p:cNvSpPr/>
          <p:nvPr/>
        </p:nvSpPr>
        <p:spPr>
          <a:xfrm>
            <a:off x="2592000" y="4284000"/>
            <a:ext cx="1260000" cy="324000"/>
          </a:xfrm>
          <a:prstGeom prst="roundRect">
            <a:avLst>
              <a:gd fmla="val 5000" name="adj"/>
            </a:avLst>
          </a:prstGeom>
          <a:solidFill>
            <a:srgbClr val="282A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ctr">
              <a:spcBef>
                <a:spcPts val="0"/>
              </a:spcBef>
              <a:spcAft>
                <a:spcPts val="0"/>
              </a:spcAft>
              <a:buNone/>
            </a:pPr>
            <a:r>
              <a:rPr b="1" i="0" lang="en-US" sz="900" u="none" cap="none" strike="noStrike">
                <a:solidFill>
                  <a:srgbClr val="FFFFFF"/>
                </a:solidFill>
                <a:latin typeface="Rubik"/>
                <a:ea typeface="Rubik"/>
                <a:cs typeface="Rubik"/>
                <a:sym typeface="Rubik"/>
              </a:rPr>
              <a:t>391K</a:t>
            </a:r>
            <a:endParaRPr/>
          </a:p>
        </p:txBody>
      </p:sp>
      <p:sp>
        <p:nvSpPr>
          <p:cNvPr id="348" name="Google Shape;348;p12"/>
          <p:cNvSpPr/>
          <p:nvPr/>
        </p:nvSpPr>
        <p:spPr>
          <a:xfrm>
            <a:off x="3924000" y="4284000"/>
            <a:ext cx="1260000" cy="324000"/>
          </a:xfrm>
          <a:prstGeom prst="roundRect">
            <a:avLst>
              <a:gd fmla="val 5000" name="adj"/>
            </a:avLst>
          </a:prstGeom>
          <a:solidFill>
            <a:srgbClr val="282A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ctr">
              <a:spcBef>
                <a:spcPts val="0"/>
              </a:spcBef>
              <a:spcAft>
                <a:spcPts val="0"/>
              </a:spcAft>
              <a:buNone/>
            </a:pPr>
            <a:r>
              <a:rPr b="1" i="0" lang="en-US" sz="900" u="none" cap="none" strike="noStrike">
                <a:solidFill>
                  <a:srgbClr val="FFFFFF"/>
                </a:solidFill>
                <a:latin typeface="Rubik"/>
                <a:ea typeface="Rubik"/>
                <a:cs typeface="Rubik"/>
                <a:sym typeface="Rubik"/>
              </a:rPr>
              <a:t>588K</a:t>
            </a:r>
            <a:endParaRPr/>
          </a:p>
        </p:txBody>
      </p:sp>
      <p:sp>
        <p:nvSpPr>
          <p:cNvPr id="349" name="Google Shape;349;p12"/>
          <p:cNvSpPr/>
          <p:nvPr/>
        </p:nvSpPr>
        <p:spPr>
          <a:xfrm>
            <a:off x="5256000" y="4284000"/>
            <a:ext cx="1260000" cy="324000"/>
          </a:xfrm>
          <a:prstGeom prst="roundRect">
            <a:avLst>
              <a:gd fmla="val 5000" name="adj"/>
            </a:avLst>
          </a:prstGeom>
          <a:solidFill>
            <a:srgbClr val="282A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ctr">
              <a:spcBef>
                <a:spcPts val="0"/>
              </a:spcBef>
              <a:spcAft>
                <a:spcPts val="0"/>
              </a:spcAft>
              <a:buNone/>
            </a:pPr>
            <a:r>
              <a:rPr b="1" i="0" lang="en-US" sz="900" u="none" cap="none" strike="noStrike">
                <a:solidFill>
                  <a:srgbClr val="FFFFFF"/>
                </a:solidFill>
                <a:latin typeface="Rubik"/>
                <a:ea typeface="Rubik"/>
                <a:cs typeface="Rubik"/>
                <a:sym typeface="Rubik"/>
              </a:rPr>
              <a:t>700K</a:t>
            </a:r>
            <a:endParaRPr/>
          </a:p>
        </p:txBody>
      </p:sp>
      <p:sp>
        <p:nvSpPr>
          <p:cNvPr id="350" name="Google Shape;350;p12"/>
          <p:cNvSpPr/>
          <p:nvPr/>
        </p:nvSpPr>
        <p:spPr>
          <a:xfrm>
            <a:off x="6588000" y="4284000"/>
            <a:ext cx="1800000" cy="324000"/>
          </a:xfrm>
          <a:prstGeom prst="roundRect">
            <a:avLst>
              <a:gd fmla="val 5000" name="adj"/>
            </a:avLst>
          </a:prstGeom>
          <a:solidFill>
            <a:srgbClr val="282A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ctr">
              <a:spcBef>
                <a:spcPts val="0"/>
              </a:spcBef>
              <a:spcAft>
                <a:spcPts val="0"/>
              </a:spcAft>
              <a:buNone/>
            </a:pPr>
            <a:r>
              <a:rPr b="1" i="0" lang="en-US" sz="900" u="none" cap="none" strike="noStrike">
                <a:solidFill>
                  <a:srgbClr val="FFFFFF"/>
                </a:solidFill>
                <a:latin typeface="Rubik"/>
                <a:ea typeface="Rubik"/>
                <a:cs typeface="Rubik"/>
                <a:sym typeface="Rubik"/>
              </a:rPr>
              <a:t>~1,68M EUR</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8E3D4"/>
        </a:solidFill>
      </p:bgPr>
    </p:bg>
    <p:spTree>
      <p:nvGrpSpPr>
        <p:cNvPr id="354" name="Shape 354"/>
        <p:cNvGrpSpPr/>
        <p:nvPr/>
      </p:nvGrpSpPr>
      <p:grpSpPr>
        <a:xfrm>
          <a:off x="0" y="0"/>
          <a:ext cx="0" cy="0"/>
          <a:chOff x="0" y="0"/>
          <a:chExt cx="0" cy="0"/>
        </a:xfrm>
      </p:grpSpPr>
      <p:sp>
        <p:nvSpPr>
          <p:cNvPr id="355" name="Google Shape;355;p13"/>
          <p:cNvSpPr/>
          <p:nvPr/>
        </p:nvSpPr>
        <p:spPr>
          <a:xfrm>
            <a:off x="936000" y="396000"/>
            <a:ext cx="5544000" cy="540000"/>
          </a:xfrm>
          <a:prstGeom prst="rect">
            <a:avLst/>
          </a:prstGeom>
          <a:solidFill>
            <a:srgbClr val="26DBE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56" name="Google Shape;356;p13"/>
          <p:cNvSpPr/>
          <p:nvPr/>
        </p:nvSpPr>
        <p:spPr>
          <a:xfrm>
            <a:off x="1044000" y="324000"/>
            <a:ext cx="5544000" cy="540000"/>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b="1" i="0" lang="en-US" sz="1800" u="none" cap="none" strike="noStrike">
                <a:solidFill>
                  <a:srgbClr val="000000"/>
                </a:solidFill>
                <a:latin typeface="Rubik"/>
                <a:ea typeface="Rubik"/>
                <a:cs typeface="Rubik"/>
                <a:sym typeface="Rubik"/>
              </a:rPr>
              <a:t>ANNEXE B — BENCHMARK SECTORIEL</a:t>
            </a:r>
            <a:endParaRPr/>
          </a:p>
        </p:txBody>
      </p:sp>
      <p:sp>
        <p:nvSpPr>
          <p:cNvPr id="357" name="Google Shape;357;p13"/>
          <p:cNvSpPr/>
          <p:nvPr/>
        </p:nvSpPr>
        <p:spPr>
          <a:xfrm>
            <a:off x="360000" y="1368000"/>
            <a:ext cx="1800000" cy="648000"/>
          </a:xfrm>
          <a:prstGeom prst="roundRect">
            <a:avLst>
              <a:gd fmla="val 5000" name="adj"/>
            </a:avLst>
          </a:prstGeom>
          <a:solidFill>
            <a:srgbClr val="26DBE0"/>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spcBef>
                <a:spcPts val="0"/>
              </a:spcBef>
              <a:spcAft>
                <a:spcPts val="0"/>
              </a:spcAft>
              <a:buNone/>
            </a:pPr>
            <a:r>
              <a:rPr b="1" i="0" lang="en-US" sz="1100" u="none" cap="none" strike="noStrike">
                <a:solidFill>
                  <a:srgbClr val="FFFFFF"/>
                </a:solidFill>
                <a:latin typeface="Rubik"/>
                <a:ea typeface="Rubik"/>
                <a:cs typeface="Rubik"/>
                <a:sym typeface="Rubik"/>
              </a:rPr>
              <a:t>Netflix</a:t>
            </a:r>
            <a:endParaRPr/>
          </a:p>
        </p:txBody>
      </p:sp>
      <p:sp>
        <p:nvSpPr>
          <p:cNvPr id="358" name="Google Shape;358;p13"/>
          <p:cNvSpPr/>
          <p:nvPr/>
        </p:nvSpPr>
        <p:spPr>
          <a:xfrm>
            <a:off x="2268000" y="1368000"/>
            <a:ext cx="2700000" cy="648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spcBef>
                <a:spcPts val="0"/>
              </a:spcBef>
              <a:spcAft>
                <a:spcPts val="0"/>
              </a:spcAft>
              <a:buNone/>
            </a:pPr>
            <a:r>
              <a:rPr b="1" i="0" lang="en-US" sz="1000" u="none" cap="none" strike="noStrike">
                <a:solidFill>
                  <a:srgbClr val="000000"/>
                </a:solidFill>
                <a:latin typeface="Rubik"/>
                <a:ea typeface="Rubik"/>
                <a:cs typeface="Rubik"/>
                <a:sym typeface="Rubik"/>
              </a:rPr>
              <a:t>Data Mesh + Metacat</a:t>
            </a:r>
            <a:endParaRPr/>
          </a:p>
        </p:txBody>
      </p:sp>
      <p:sp>
        <p:nvSpPr>
          <p:cNvPr id="359" name="Google Shape;359;p13"/>
          <p:cNvSpPr/>
          <p:nvPr/>
        </p:nvSpPr>
        <p:spPr>
          <a:xfrm>
            <a:off x="5040000" y="1368000"/>
            <a:ext cx="3780000" cy="648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spcBef>
                <a:spcPts val="0"/>
              </a:spcBef>
              <a:spcAft>
                <a:spcPts val="0"/>
              </a:spcAft>
              <a:buNone/>
            </a:pPr>
            <a:r>
              <a:rPr b="0" i="0" lang="en-US" sz="900" u="none" cap="none" strike="noStrike">
                <a:solidFill>
                  <a:srgbClr val="000000"/>
                </a:solidFill>
                <a:latin typeface="Rubik"/>
                <a:ea typeface="Rubik"/>
                <a:cs typeface="Rubik"/>
                <a:sym typeface="Rubik"/>
              </a:rPr>
              <a:t>Fédéralisation possible seulement après maturité solide</a:t>
            </a:r>
            <a:endParaRPr/>
          </a:p>
        </p:txBody>
      </p:sp>
      <p:sp>
        <p:nvSpPr>
          <p:cNvPr id="360" name="Google Shape;360;p13"/>
          <p:cNvSpPr/>
          <p:nvPr/>
        </p:nvSpPr>
        <p:spPr>
          <a:xfrm>
            <a:off x="360000" y="2160000"/>
            <a:ext cx="1800000" cy="648000"/>
          </a:xfrm>
          <a:prstGeom prst="roundRect">
            <a:avLst>
              <a:gd fmla="val 5000" name="adj"/>
            </a:avLst>
          </a:prstGeom>
          <a:solidFill>
            <a:srgbClr val="A329DE"/>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spcBef>
                <a:spcPts val="0"/>
              </a:spcBef>
              <a:spcAft>
                <a:spcPts val="0"/>
              </a:spcAft>
              <a:buNone/>
            </a:pPr>
            <a:r>
              <a:rPr b="1" i="0" lang="en-US" sz="1100" u="none" cap="none" strike="noStrike">
                <a:solidFill>
                  <a:srgbClr val="FFFFFF"/>
                </a:solidFill>
                <a:latin typeface="Rubik"/>
                <a:ea typeface="Rubik"/>
                <a:cs typeface="Rubik"/>
                <a:sym typeface="Rubik"/>
              </a:rPr>
              <a:t>Apple Music</a:t>
            </a:r>
            <a:endParaRPr/>
          </a:p>
        </p:txBody>
      </p:sp>
      <p:sp>
        <p:nvSpPr>
          <p:cNvPr id="361" name="Google Shape;361;p13"/>
          <p:cNvSpPr/>
          <p:nvPr/>
        </p:nvSpPr>
        <p:spPr>
          <a:xfrm>
            <a:off x="2268000" y="2160000"/>
            <a:ext cx="2700000" cy="648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spcBef>
                <a:spcPts val="0"/>
              </a:spcBef>
              <a:spcAft>
                <a:spcPts val="0"/>
              </a:spcAft>
              <a:buNone/>
            </a:pPr>
            <a:r>
              <a:rPr b="1" i="0" lang="en-US" sz="1000" u="none" cap="none" strike="noStrike">
                <a:solidFill>
                  <a:srgbClr val="000000"/>
                </a:solidFill>
                <a:latin typeface="Rubik"/>
                <a:ea typeface="Rubik"/>
                <a:cs typeface="Rubik"/>
                <a:sym typeface="Rubik"/>
              </a:rPr>
              <a:t>Governance centralisée</a:t>
            </a:r>
            <a:endParaRPr/>
          </a:p>
        </p:txBody>
      </p:sp>
      <p:sp>
        <p:nvSpPr>
          <p:cNvPr id="362" name="Google Shape;362;p13"/>
          <p:cNvSpPr/>
          <p:nvPr/>
        </p:nvSpPr>
        <p:spPr>
          <a:xfrm>
            <a:off x="5040000" y="2160000"/>
            <a:ext cx="3780000" cy="648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spcBef>
                <a:spcPts val="0"/>
              </a:spcBef>
              <a:spcAft>
                <a:spcPts val="0"/>
              </a:spcAft>
              <a:buNone/>
            </a:pPr>
            <a:r>
              <a:rPr b="0" i="0" lang="en-US" sz="900" u="none" cap="none" strike="noStrike">
                <a:solidFill>
                  <a:srgbClr val="000000"/>
                </a:solidFill>
                <a:latin typeface="Rubik"/>
                <a:ea typeface="Rubik"/>
                <a:cs typeface="Rubik"/>
                <a:sym typeface="Rubik"/>
              </a:rPr>
              <a:t>Contrôle max mais agilité limitée. Non applicable culture Spotify</a:t>
            </a:r>
            <a:endParaRPr/>
          </a:p>
        </p:txBody>
      </p:sp>
      <p:sp>
        <p:nvSpPr>
          <p:cNvPr id="363" name="Google Shape;363;p13"/>
          <p:cNvSpPr/>
          <p:nvPr/>
        </p:nvSpPr>
        <p:spPr>
          <a:xfrm>
            <a:off x="360000" y="2952000"/>
            <a:ext cx="1800000" cy="648000"/>
          </a:xfrm>
          <a:prstGeom prst="roundRect">
            <a:avLst>
              <a:gd fmla="val 5000" name="adj"/>
            </a:avLst>
          </a:prstGeom>
          <a:solidFill>
            <a:srgbClr val="282A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spcBef>
                <a:spcPts val="0"/>
              </a:spcBef>
              <a:spcAft>
                <a:spcPts val="0"/>
              </a:spcAft>
              <a:buNone/>
            </a:pPr>
            <a:r>
              <a:rPr b="1" i="0" lang="en-US" sz="1100" u="none" cap="none" strike="noStrike">
                <a:solidFill>
                  <a:srgbClr val="FFFFFF"/>
                </a:solidFill>
                <a:latin typeface="Rubik"/>
                <a:ea typeface="Rubik"/>
                <a:cs typeface="Rubik"/>
                <a:sym typeface="Rubik"/>
              </a:rPr>
              <a:t>Deezer</a:t>
            </a:r>
            <a:endParaRPr/>
          </a:p>
        </p:txBody>
      </p:sp>
      <p:sp>
        <p:nvSpPr>
          <p:cNvPr id="364" name="Google Shape;364;p13"/>
          <p:cNvSpPr/>
          <p:nvPr/>
        </p:nvSpPr>
        <p:spPr>
          <a:xfrm>
            <a:off x="2268000" y="2952000"/>
            <a:ext cx="2700000" cy="648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spcBef>
                <a:spcPts val="0"/>
              </a:spcBef>
              <a:spcAft>
                <a:spcPts val="0"/>
              </a:spcAft>
              <a:buNone/>
            </a:pPr>
            <a:r>
              <a:rPr b="1" i="0" lang="en-US" sz="1000" u="none" cap="none" strike="noStrike">
                <a:solidFill>
                  <a:srgbClr val="000000"/>
                </a:solidFill>
                <a:latin typeface="Rubik"/>
                <a:ea typeface="Rubik"/>
                <a:cs typeface="Rubik"/>
                <a:sym typeface="Rubik"/>
              </a:rPr>
              <a:t>CoE post-breach 2022</a:t>
            </a:r>
            <a:endParaRPr/>
          </a:p>
        </p:txBody>
      </p:sp>
      <p:sp>
        <p:nvSpPr>
          <p:cNvPr id="365" name="Google Shape;365;p13"/>
          <p:cNvSpPr/>
          <p:nvPr/>
        </p:nvSpPr>
        <p:spPr>
          <a:xfrm>
            <a:off x="5040000" y="2952000"/>
            <a:ext cx="3780000" cy="648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spcBef>
                <a:spcPts val="0"/>
              </a:spcBef>
              <a:spcAft>
                <a:spcPts val="0"/>
              </a:spcAft>
              <a:buNone/>
            </a:pPr>
            <a:r>
              <a:rPr b="0" i="0" lang="en-US" sz="900" u="none" cap="none" strike="noStrike">
                <a:solidFill>
                  <a:srgbClr val="000000"/>
                </a:solidFill>
                <a:latin typeface="Rubik"/>
                <a:ea typeface="Rubik"/>
                <a:cs typeface="Rubik"/>
                <a:sym typeface="Rubik"/>
              </a:rPr>
              <a:t>46M profils fuités = catalyseur tardif. Ne pas attendre la crise</a:t>
            </a:r>
            <a:endParaRPr/>
          </a:p>
        </p:txBody>
      </p:sp>
      <p:sp>
        <p:nvSpPr>
          <p:cNvPr id="366" name="Google Shape;366;p13"/>
          <p:cNvSpPr/>
          <p:nvPr/>
        </p:nvSpPr>
        <p:spPr>
          <a:xfrm>
            <a:off x="360000" y="3744000"/>
            <a:ext cx="1800000" cy="648000"/>
          </a:xfrm>
          <a:prstGeom prst="roundRect">
            <a:avLst>
              <a:gd fmla="val 5000" name="adj"/>
            </a:avLst>
          </a:prstGeom>
          <a:solidFill>
            <a:srgbClr val="26DBE0"/>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spcBef>
                <a:spcPts val="0"/>
              </a:spcBef>
              <a:spcAft>
                <a:spcPts val="0"/>
              </a:spcAft>
              <a:buNone/>
            </a:pPr>
            <a:r>
              <a:rPr b="1" i="0" lang="en-US" sz="1100" u="none" cap="none" strike="noStrike">
                <a:solidFill>
                  <a:srgbClr val="FFFFFF"/>
                </a:solidFill>
                <a:latin typeface="Rubik"/>
                <a:ea typeface="Rubik"/>
                <a:cs typeface="Rubik"/>
                <a:sym typeface="Rubik"/>
              </a:rPr>
              <a:t>Spotify (cible)</a:t>
            </a:r>
            <a:endParaRPr/>
          </a:p>
        </p:txBody>
      </p:sp>
      <p:sp>
        <p:nvSpPr>
          <p:cNvPr id="367" name="Google Shape;367;p13"/>
          <p:cNvSpPr/>
          <p:nvPr/>
        </p:nvSpPr>
        <p:spPr>
          <a:xfrm>
            <a:off x="2268000" y="3744000"/>
            <a:ext cx="2700000" cy="648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spcBef>
                <a:spcPts val="0"/>
              </a:spcBef>
              <a:spcAft>
                <a:spcPts val="0"/>
              </a:spcAft>
              <a:buNone/>
            </a:pPr>
            <a:r>
              <a:rPr b="1" i="0" lang="en-US" sz="1000" u="none" cap="none" strike="noStrike">
                <a:solidFill>
                  <a:srgbClr val="000000"/>
                </a:solidFill>
                <a:latin typeface="Rubik"/>
                <a:ea typeface="Rubik"/>
                <a:cs typeface="Rubik"/>
                <a:sym typeface="Rubik"/>
              </a:rPr>
              <a:t>CoE hybride → Data Mesh (3 ans)</a:t>
            </a:r>
            <a:endParaRPr/>
          </a:p>
        </p:txBody>
      </p:sp>
      <p:sp>
        <p:nvSpPr>
          <p:cNvPr id="368" name="Google Shape;368;p13"/>
          <p:cNvSpPr/>
          <p:nvPr/>
        </p:nvSpPr>
        <p:spPr>
          <a:xfrm>
            <a:off x="5040000" y="3744000"/>
            <a:ext cx="3780000" cy="648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spcBef>
                <a:spcPts val="0"/>
              </a:spcBef>
              <a:spcAft>
                <a:spcPts val="0"/>
              </a:spcAft>
              <a:buNone/>
            </a:pPr>
            <a:r>
              <a:rPr b="0" i="0" lang="en-US" sz="900" u="none" cap="none" strike="noStrike">
                <a:solidFill>
                  <a:srgbClr val="000000"/>
                </a:solidFill>
                <a:latin typeface="Rubik"/>
                <a:ea typeface="Rubik"/>
                <a:cs typeface="Rubik"/>
                <a:sym typeface="Rubik"/>
              </a:rPr>
              <a:t>Le CoE est l'étape nécessaire avant la fédéralisation</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8E3D4"/>
        </a:solidFill>
      </p:bgPr>
    </p:bg>
    <p:spTree>
      <p:nvGrpSpPr>
        <p:cNvPr id="372" name="Shape 372"/>
        <p:cNvGrpSpPr/>
        <p:nvPr/>
      </p:nvGrpSpPr>
      <p:grpSpPr>
        <a:xfrm>
          <a:off x="0" y="0"/>
          <a:ext cx="0" cy="0"/>
          <a:chOff x="0" y="0"/>
          <a:chExt cx="0" cy="0"/>
        </a:xfrm>
      </p:grpSpPr>
      <p:sp>
        <p:nvSpPr>
          <p:cNvPr id="373" name="Google Shape;373;p14"/>
          <p:cNvSpPr/>
          <p:nvPr/>
        </p:nvSpPr>
        <p:spPr>
          <a:xfrm>
            <a:off x="936000" y="396000"/>
            <a:ext cx="5544000" cy="540000"/>
          </a:xfrm>
          <a:prstGeom prst="rect">
            <a:avLst/>
          </a:prstGeom>
          <a:solidFill>
            <a:srgbClr val="26DBE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74" name="Google Shape;374;p14"/>
          <p:cNvSpPr/>
          <p:nvPr/>
        </p:nvSpPr>
        <p:spPr>
          <a:xfrm>
            <a:off x="1044000" y="324000"/>
            <a:ext cx="5544000" cy="540000"/>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b="1" i="0" lang="en-US" sz="1800" u="none" cap="none" strike="noStrike">
                <a:solidFill>
                  <a:srgbClr val="000000"/>
                </a:solidFill>
                <a:latin typeface="Rubik"/>
                <a:ea typeface="Rubik"/>
                <a:cs typeface="Rubik"/>
                <a:sym typeface="Rubik"/>
              </a:rPr>
              <a:t>ANNEXE C — COMPARATIF OUTILS</a:t>
            </a:r>
            <a:endParaRPr/>
          </a:p>
        </p:txBody>
      </p:sp>
      <p:sp>
        <p:nvSpPr>
          <p:cNvPr id="375" name="Google Shape;375;p14"/>
          <p:cNvSpPr/>
          <p:nvPr/>
        </p:nvSpPr>
        <p:spPr>
          <a:xfrm>
            <a:off x="360000" y="1152000"/>
            <a:ext cx="1440000" cy="324000"/>
          </a:xfrm>
          <a:prstGeom prst="roundRect">
            <a:avLst>
              <a:gd fmla="val 5000" name="adj"/>
            </a:avLst>
          </a:prstGeom>
          <a:solidFill>
            <a:srgbClr val="26DBE0"/>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ctr">
              <a:spcBef>
                <a:spcPts val="0"/>
              </a:spcBef>
              <a:spcAft>
                <a:spcPts val="0"/>
              </a:spcAft>
              <a:buNone/>
            </a:pPr>
            <a:r>
              <a:rPr b="1" i="0" lang="en-US" sz="1000" u="none" cap="none" strike="noStrike">
                <a:solidFill>
                  <a:srgbClr val="FFFFFF"/>
                </a:solidFill>
                <a:latin typeface="Rubik"/>
                <a:ea typeface="Rubik"/>
                <a:cs typeface="Rubik"/>
                <a:sym typeface="Rubik"/>
              </a:rPr>
              <a:t>Catégorie</a:t>
            </a:r>
            <a:endParaRPr/>
          </a:p>
        </p:txBody>
      </p:sp>
      <p:sp>
        <p:nvSpPr>
          <p:cNvPr id="376" name="Google Shape;376;p14"/>
          <p:cNvSpPr/>
          <p:nvPr/>
        </p:nvSpPr>
        <p:spPr>
          <a:xfrm>
            <a:off x="1872000" y="1152000"/>
            <a:ext cx="1440000" cy="324000"/>
          </a:xfrm>
          <a:prstGeom prst="roundRect">
            <a:avLst>
              <a:gd fmla="val 5000" name="adj"/>
            </a:avLst>
          </a:prstGeom>
          <a:solidFill>
            <a:srgbClr val="26DBE0"/>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ctr">
              <a:spcBef>
                <a:spcPts val="0"/>
              </a:spcBef>
              <a:spcAft>
                <a:spcPts val="0"/>
              </a:spcAft>
              <a:buNone/>
            </a:pPr>
            <a:r>
              <a:rPr b="1" i="0" lang="en-US" sz="1000" u="none" cap="none" strike="noStrike">
                <a:solidFill>
                  <a:srgbClr val="FFFFFF"/>
                </a:solidFill>
                <a:latin typeface="Rubik"/>
                <a:ea typeface="Rubik"/>
                <a:cs typeface="Rubik"/>
                <a:sym typeface="Rubik"/>
              </a:rPr>
              <a:t>Retenu</a:t>
            </a:r>
            <a:endParaRPr/>
          </a:p>
        </p:txBody>
      </p:sp>
      <p:sp>
        <p:nvSpPr>
          <p:cNvPr id="377" name="Google Shape;377;p14"/>
          <p:cNvSpPr/>
          <p:nvPr/>
        </p:nvSpPr>
        <p:spPr>
          <a:xfrm>
            <a:off x="3384000" y="1152000"/>
            <a:ext cx="1620000" cy="324000"/>
          </a:xfrm>
          <a:prstGeom prst="roundRect">
            <a:avLst>
              <a:gd fmla="val 5000" name="adj"/>
            </a:avLst>
          </a:prstGeom>
          <a:solidFill>
            <a:srgbClr val="26DBE0"/>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ctr">
              <a:spcBef>
                <a:spcPts val="0"/>
              </a:spcBef>
              <a:spcAft>
                <a:spcPts val="0"/>
              </a:spcAft>
              <a:buNone/>
            </a:pPr>
            <a:r>
              <a:rPr b="1" i="0" lang="en-US" sz="1000" u="none" cap="none" strike="noStrike">
                <a:solidFill>
                  <a:srgbClr val="FFFFFF"/>
                </a:solidFill>
                <a:latin typeface="Rubik"/>
                <a:ea typeface="Rubik"/>
                <a:cs typeface="Rubik"/>
                <a:sym typeface="Rubik"/>
              </a:rPr>
              <a:t>Alternative</a:t>
            </a:r>
            <a:endParaRPr/>
          </a:p>
        </p:txBody>
      </p:sp>
      <p:sp>
        <p:nvSpPr>
          <p:cNvPr id="378" name="Google Shape;378;p14"/>
          <p:cNvSpPr/>
          <p:nvPr/>
        </p:nvSpPr>
        <p:spPr>
          <a:xfrm>
            <a:off x="5076000" y="1152000"/>
            <a:ext cx="3780000" cy="324000"/>
          </a:xfrm>
          <a:prstGeom prst="roundRect">
            <a:avLst>
              <a:gd fmla="val 5000" name="adj"/>
            </a:avLst>
          </a:prstGeom>
          <a:solidFill>
            <a:srgbClr val="26DBE0"/>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ctr">
              <a:spcBef>
                <a:spcPts val="0"/>
              </a:spcBef>
              <a:spcAft>
                <a:spcPts val="0"/>
              </a:spcAft>
              <a:buNone/>
            </a:pPr>
            <a:r>
              <a:rPr b="1" i="0" lang="en-US" sz="1000" u="none" cap="none" strike="noStrike">
                <a:solidFill>
                  <a:srgbClr val="FFFFFF"/>
                </a:solidFill>
                <a:latin typeface="Rubik"/>
                <a:ea typeface="Rubik"/>
                <a:cs typeface="Rubik"/>
                <a:sym typeface="Rubik"/>
              </a:rPr>
              <a:t>Raison du choix</a:t>
            </a:r>
            <a:endParaRPr/>
          </a:p>
        </p:txBody>
      </p:sp>
      <p:sp>
        <p:nvSpPr>
          <p:cNvPr id="379" name="Google Shape;379;p14"/>
          <p:cNvSpPr/>
          <p:nvPr/>
        </p:nvSpPr>
        <p:spPr>
          <a:xfrm>
            <a:off x="360000" y="1548000"/>
            <a:ext cx="1440000" cy="576000"/>
          </a:xfrm>
          <a:prstGeom prst="roundRect">
            <a:avLst>
              <a:gd fmla="val 5000" name="adj"/>
            </a:avLst>
          </a:prstGeom>
          <a:solidFill>
            <a:srgbClr val="26DBE0"/>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spcBef>
                <a:spcPts val="0"/>
              </a:spcBef>
              <a:spcAft>
                <a:spcPts val="0"/>
              </a:spcAft>
              <a:buNone/>
            </a:pPr>
            <a:r>
              <a:rPr b="1" i="0" lang="en-US" sz="1100" u="none" cap="none" strike="noStrike">
                <a:solidFill>
                  <a:srgbClr val="FFFFFF"/>
                </a:solidFill>
                <a:latin typeface="Rubik"/>
                <a:ea typeface="Rubik"/>
                <a:cs typeface="Rubik"/>
                <a:sym typeface="Rubik"/>
              </a:rPr>
              <a:t>Catalogue</a:t>
            </a:r>
            <a:endParaRPr/>
          </a:p>
        </p:txBody>
      </p:sp>
      <p:sp>
        <p:nvSpPr>
          <p:cNvPr id="380" name="Google Shape;380;p14"/>
          <p:cNvSpPr/>
          <p:nvPr/>
        </p:nvSpPr>
        <p:spPr>
          <a:xfrm>
            <a:off x="1872000" y="1548000"/>
            <a:ext cx="1440000" cy="576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spcBef>
                <a:spcPts val="0"/>
              </a:spcBef>
              <a:spcAft>
                <a:spcPts val="0"/>
              </a:spcAft>
              <a:buNone/>
            </a:pPr>
            <a:r>
              <a:rPr b="1" i="0" lang="en-US" sz="1000" u="none" cap="none" strike="noStrike">
                <a:solidFill>
                  <a:srgbClr val="000000"/>
                </a:solidFill>
                <a:latin typeface="Rubik"/>
                <a:ea typeface="Rubik"/>
                <a:cs typeface="Rubik"/>
                <a:sym typeface="Rubik"/>
              </a:rPr>
              <a:t>Alation</a:t>
            </a:r>
            <a:endParaRPr/>
          </a:p>
        </p:txBody>
      </p:sp>
      <p:sp>
        <p:nvSpPr>
          <p:cNvPr id="381" name="Google Shape;381;p14"/>
          <p:cNvSpPr/>
          <p:nvPr/>
        </p:nvSpPr>
        <p:spPr>
          <a:xfrm>
            <a:off x="3384000" y="1548000"/>
            <a:ext cx="1620000" cy="576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spcBef>
                <a:spcPts val="0"/>
              </a:spcBef>
              <a:spcAft>
                <a:spcPts val="0"/>
              </a:spcAft>
              <a:buNone/>
            </a:pPr>
            <a:r>
              <a:rPr b="1" i="0" lang="en-US" sz="1000" u="none" cap="none" strike="noStrike">
                <a:solidFill>
                  <a:srgbClr val="000000"/>
                </a:solidFill>
                <a:latin typeface="Rubik"/>
                <a:ea typeface="Rubik"/>
                <a:cs typeface="Rubik"/>
                <a:sym typeface="Rubik"/>
              </a:rPr>
              <a:t>DataHub</a:t>
            </a:r>
            <a:endParaRPr/>
          </a:p>
        </p:txBody>
      </p:sp>
      <p:sp>
        <p:nvSpPr>
          <p:cNvPr id="382" name="Google Shape;382;p14"/>
          <p:cNvSpPr/>
          <p:nvPr/>
        </p:nvSpPr>
        <p:spPr>
          <a:xfrm>
            <a:off x="5076000" y="1548000"/>
            <a:ext cx="3780000" cy="576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spcBef>
                <a:spcPts val="0"/>
              </a:spcBef>
              <a:spcAft>
                <a:spcPts val="0"/>
              </a:spcAft>
              <a:buNone/>
            </a:pPr>
            <a:r>
              <a:rPr b="0" i="0" lang="en-US" sz="800" u="none" cap="none" strike="noStrike">
                <a:solidFill>
                  <a:srgbClr val="000000"/>
                </a:solidFill>
                <a:latin typeface="Rubik"/>
                <a:ea typeface="Rubik"/>
                <a:cs typeface="Rubik"/>
                <a:sym typeface="Rubik"/>
              </a:rPr>
              <a:t>Maintenance open source trop lourde en Phase 1 ; UX supérieure profils métier</a:t>
            </a:r>
            <a:endParaRPr/>
          </a:p>
        </p:txBody>
      </p:sp>
      <p:sp>
        <p:nvSpPr>
          <p:cNvPr id="383" name="Google Shape;383;p14"/>
          <p:cNvSpPr/>
          <p:nvPr/>
        </p:nvSpPr>
        <p:spPr>
          <a:xfrm>
            <a:off x="360000" y="2268000"/>
            <a:ext cx="1440000" cy="576000"/>
          </a:xfrm>
          <a:prstGeom prst="roundRect">
            <a:avLst>
              <a:gd fmla="val 5000" name="adj"/>
            </a:avLst>
          </a:prstGeom>
          <a:solidFill>
            <a:srgbClr val="A329DE"/>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spcBef>
                <a:spcPts val="0"/>
              </a:spcBef>
              <a:spcAft>
                <a:spcPts val="0"/>
              </a:spcAft>
              <a:buNone/>
            </a:pPr>
            <a:r>
              <a:rPr b="1" i="0" lang="en-US" sz="1100" u="none" cap="none" strike="noStrike">
                <a:solidFill>
                  <a:srgbClr val="FFFFFF"/>
                </a:solidFill>
                <a:latin typeface="Rubik"/>
                <a:ea typeface="Rubik"/>
                <a:cs typeface="Rubik"/>
                <a:sym typeface="Rubik"/>
              </a:rPr>
              <a:t>Qualité</a:t>
            </a:r>
            <a:endParaRPr/>
          </a:p>
        </p:txBody>
      </p:sp>
      <p:sp>
        <p:nvSpPr>
          <p:cNvPr id="384" name="Google Shape;384;p14"/>
          <p:cNvSpPr/>
          <p:nvPr/>
        </p:nvSpPr>
        <p:spPr>
          <a:xfrm>
            <a:off x="1872000" y="2268000"/>
            <a:ext cx="1440000" cy="576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spcBef>
                <a:spcPts val="0"/>
              </a:spcBef>
              <a:spcAft>
                <a:spcPts val="0"/>
              </a:spcAft>
              <a:buNone/>
            </a:pPr>
            <a:r>
              <a:rPr b="1" i="0" lang="en-US" sz="1000" u="none" cap="none" strike="noStrike">
                <a:solidFill>
                  <a:srgbClr val="000000"/>
                </a:solidFill>
                <a:latin typeface="Rubik"/>
                <a:ea typeface="Rubik"/>
                <a:cs typeface="Rubik"/>
                <a:sym typeface="Rubik"/>
              </a:rPr>
              <a:t>Soda.io</a:t>
            </a:r>
            <a:endParaRPr/>
          </a:p>
        </p:txBody>
      </p:sp>
      <p:sp>
        <p:nvSpPr>
          <p:cNvPr id="385" name="Google Shape;385;p14"/>
          <p:cNvSpPr/>
          <p:nvPr/>
        </p:nvSpPr>
        <p:spPr>
          <a:xfrm>
            <a:off x="3384000" y="2268000"/>
            <a:ext cx="1620000" cy="576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spcBef>
                <a:spcPts val="0"/>
              </a:spcBef>
              <a:spcAft>
                <a:spcPts val="0"/>
              </a:spcAft>
              <a:buNone/>
            </a:pPr>
            <a:r>
              <a:rPr b="1" i="0" lang="en-US" sz="1000" u="none" cap="none" strike="noStrike">
                <a:solidFill>
                  <a:srgbClr val="000000"/>
                </a:solidFill>
                <a:latin typeface="Rubik"/>
                <a:ea typeface="Rubik"/>
                <a:cs typeface="Rubik"/>
                <a:sym typeface="Rubik"/>
              </a:rPr>
              <a:t>Great Expectations</a:t>
            </a:r>
            <a:endParaRPr/>
          </a:p>
        </p:txBody>
      </p:sp>
      <p:sp>
        <p:nvSpPr>
          <p:cNvPr id="386" name="Google Shape;386;p14"/>
          <p:cNvSpPr/>
          <p:nvPr/>
        </p:nvSpPr>
        <p:spPr>
          <a:xfrm>
            <a:off x="5076000" y="2268000"/>
            <a:ext cx="3780000" cy="576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spcBef>
                <a:spcPts val="0"/>
              </a:spcBef>
              <a:spcAft>
                <a:spcPts val="0"/>
              </a:spcAft>
              <a:buNone/>
            </a:pPr>
            <a:r>
              <a:rPr b="0" i="0" lang="en-US" sz="800" u="none" cap="none" strike="noStrike">
                <a:solidFill>
                  <a:srgbClr val="000000"/>
                </a:solidFill>
                <a:latin typeface="Rubik"/>
                <a:ea typeface="Rubik"/>
                <a:cs typeface="Rubik"/>
                <a:sym typeface="Rubik"/>
              </a:rPr>
              <a:t>Adoption plus facile Stewards métier ; intégration native dbt/Airflow</a:t>
            </a:r>
            <a:endParaRPr/>
          </a:p>
        </p:txBody>
      </p:sp>
      <p:sp>
        <p:nvSpPr>
          <p:cNvPr id="387" name="Google Shape;387;p14"/>
          <p:cNvSpPr/>
          <p:nvPr/>
        </p:nvSpPr>
        <p:spPr>
          <a:xfrm>
            <a:off x="360000" y="2988000"/>
            <a:ext cx="1440000" cy="576000"/>
          </a:xfrm>
          <a:prstGeom prst="roundRect">
            <a:avLst>
              <a:gd fmla="val 5000" name="adj"/>
            </a:avLst>
          </a:prstGeom>
          <a:solidFill>
            <a:srgbClr val="282A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spcBef>
                <a:spcPts val="0"/>
              </a:spcBef>
              <a:spcAft>
                <a:spcPts val="0"/>
              </a:spcAft>
              <a:buNone/>
            </a:pPr>
            <a:r>
              <a:rPr b="1" i="0" lang="en-US" sz="1100" u="none" cap="none" strike="noStrike">
                <a:solidFill>
                  <a:srgbClr val="FFFFFF"/>
                </a:solidFill>
                <a:latin typeface="Rubik"/>
                <a:ea typeface="Rubik"/>
                <a:cs typeface="Rubik"/>
                <a:sym typeface="Rubik"/>
              </a:rPr>
              <a:t>Conformité</a:t>
            </a:r>
            <a:endParaRPr/>
          </a:p>
        </p:txBody>
      </p:sp>
      <p:sp>
        <p:nvSpPr>
          <p:cNvPr id="388" name="Google Shape;388;p14"/>
          <p:cNvSpPr/>
          <p:nvPr/>
        </p:nvSpPr>
        <p:spPr>
          <a:xfrm>
            <a:off x="1872000" y="2988000"/>
            <a:ext cx="1440000" cy="576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spcBef>
                <a:spcPts val="0"/>
              </a:spcBef>
              <a:spcAft>
                <a:spcPts val="0"/>
              </a:spcAft>
              <a:buNone/>
            </a:pPr>
            <a:r>
              <a:rPr b="1" i="0" lang="en-US" sz="1000" u="none" cap="none" strike="noStrike">
                <a:solidFill>
                  <a:srgbClr val="000000"/>
                </a:solidFill>
                <a:latin typeface="Rubik"/>
                <a:ea typeface="Rubik"/>
                <a:cs typeface="Rubik"/>
                <a:sym typeface="Rubik"/>
              </a:rPr>
              <a:t>OneTrust</a:t>
            </a:r>
            <a:endParaRPr/>
          </a:p>
        </p:txBody>
      </p:sp>
      <p:sp>
        <p:nvSpPr>
          <p:cNvPr id="389" name="Google Shape;389;p14"/>
          <p:cNvSpPr/>
          <p:nvPr/>
        </p:nvSpPr>
        <p:spPr>
          <a:xfrm>
            <a:off x="3384000" y="2988000"/>
            <a:ext cx="1620000" cy="576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spcBef>
                <a:spcPts val="0"/>
              </a:spcBef>
              <a:spcAft>
                <a:spcPts val="0"/>
              </a:spcAft>
              <a:buNone/>
            </a:pPr>
            <a:r>
              <a:rPr b="1" i="0" lang="en-US" sz="1000" u="none" cap="none" strike="noStrike">
                <a:solidFill>
                  <a:srgbClr val="000000"/>
                </a:solidFill>
                <a:latin typeface="Rubik"/>
                <a:ea typeface="Rubik"/>
                <a:cs typeface="Rubik"/>
                <a:sym typeface="Rubik"/>
              </a:rPr>
              <a:t>TrustArc</a:t>
            </a:r>
            <a:endParaRPr/>
          </a:p>
        </p:txBody>
      </p:sp>
      <p:sp>
        <p:nvSpPr>
          <p:cNvPr id="390" name="Google Shape;390;p14"/>
          <p:cNvSpPr/>
          <p:nvPr/>
        </p:nvSpPr>
        <p:spPr>
          <a:xfrm>
            <a:off x="5076000" y="2988000"/>
            <a:ext cx="3780000" cy="576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spcBef>
                <a:spcPts val="0"/>
              </a:spcBef>
              <a:spcAft>
                <a:spcPts val="0"/>
              </a:spcAft>
              <a:buNone/>
            </a:pPr>
            <a:r>
              <a:rPr b="0" i="0" lang="en-US" sz="800" u="none" cap="none" strike="noStrike">
                <a:solidFill>
                  <a:srgbClr val="000000"/>
                </a:solidFill>
                <a:latin typeface="Rubik"/>
                <a:ea typeface="Rubik"/>
                <a:cs typeface="Rubik"/>
                <a:sym typeface="Rubik"/>
              </a:rPr>
              <a:t>Leader Gartner 2024 ; périmètre multi-juridictions (180+ pays)</a:t>
            </a:r>
            <a:endParaRPr/>
          </a:p>
        </p:txBody>
      </p:sp>
      <p:sp>
        <p:nvSpPr>
          <p:cNvPr id="391" name="Google Shape;391;p14"/>
          <p:cNvSpPr/>
          <p:nvPr/>
        </p:nvSpPr>
        <p:spPr>
          <a:xfrm>
            <a:off x="360000" y="3708000"/>
            <a:ext cx="1440000" cy="576000"/>
          </a:xfrm>
          <a:prstGeom prst="roundRect">
            <a:avLst>
              <a:gd fmla="val 5000" name="adj"/>
            </a:avLst>
          </a:prstGeom>
          <a:solidFill>
            <a:srgbClr val="26DBE0"/>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spcBef>
                <a:spcPts val="0"/>
              </a:spcBef>
              <a:spcAft>
                <a:spcPts val="0"/>
              </a:spcAft>
              <a:buNone/>
            </a:pPr>
            <a:r>
              <a:rPr b="1" i="0" lang="en-US" sz="1100" u="none" cap="none" strike="noStrike">
                <a:solidFill>
                  <a:srgbClr val="FFFFFF"/>
                </a:solidFill>
                <a:latin typeface="Rubik"/>
                <a:ea typeface="Rubik"/>
                <a:cs typeface="Rubik"/>
                <a:sym typeface="Rubik"/>
              </a:rPr>
              <a:t>Observabilité</a:t>
            </a:r>
            <a:endParaRPr/>
          </a:p>
        </p:txBody>
      </p:sp>
      <p:sp>
        <p:nvSpPr>
          <p:cNvPr id="392" name="Google Shape;392;p14"/>
          <p:cNvSpPr/>
          <p:nvPr/>
        </p:nvSpPr>
        <p:spPr>
          <a:xfrm>
            <a:off x="1872000" y="3708000"/>
            <a:ext cx="1440000" cy="576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spcBef>
                <a:spcPts val="0"/>
              </a:spcBef>
              <a:spcAft>
                <a:spcPts val="0"/>
              </a:spcAft>
              <a:buNone/>
            </a:pPr>
            <a:r>
              <a:rPr b="1" i="0" lang="en-US" sz="1000" u="none" cap="none" strike="noStrike">
                <a:solidFill>
                  <a:srgbClr val="000000"/>
                </a:solidFill>
                <a:latin typeface="Rubik"/>
                <a:ea typeface="Rubik"/>
                <a:cs typeface="Rubik"/>
                <a:sym typeface="Rubik"/>
              </a:rPr>
              <a:t>Monte Carlo</a:t>
            </a:r>
            <a:endParaRPr/>
          </a:p>
        </p:txBody>
      </p:sp>
      <p:sp>
        <p:nvSpPr>
          <p:cNvPr id="393" name="Google Shape;393;p14"/>
          <p:cNvSpPr/>
          <p:nvPr/>
        </p:nvSpPr>
        <p:spPr>
          <a:xfrm>
            <a:off x="3384000" y="3708000"/>
            <a:ext cx="1620000" cy="576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spcBef>
                <a:spcPts val="0"/>
              </a:spcBef>
              <a:spcAft>
                <a:spcPts val="0"/>
              </a:spcAft>
              <a:buNone/>
            </a:pPr>
            <a:r>
              <a:rPr b="1" i="0" lang="en-US" sz="1000" u="none" cap="none" strike="noStrike">
                <a:solidFill>
                  <a:srgbClr val="000000"/>
                </a:solidFill>
                <a:latin typeface="Rubik"/>
                <a:ea typeface="Rubik"/>
                <a:cs typeface="Rubik"/>
                <a:sym typeface="Rubik"/>
              </a:rPr>
              <a:t>Bigeye</a:t>
            </a:r>
            <a:endParaRPr/>
          </a:p>
        </p:txBody>
      </p:sp>
      <p:sp>
        <p:nvSpPr>
          <p:cNvPr id="394" name="Google Shape;394;p14"/>
          <p:cNvSpPr/>
          <p:nvPr/>
        </p:nvSpPr>
        <p:spPr>
          <a:xfrm>
            <a:off x="5076000" y="3708000"/>
            <a:ext cx="3780000" cy="576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spcBef>
                <a:spcPts val="0"/>
              </a:spcBef>
              <a:spcAft>
                <a:spcPts val="0"/>
              </a:spcAft>
              <a:buNone/>
            </a:pPr>
            <a:r>
              <a:rPr b="0" i="0" lang="en-US" sz="800" u="none" cap="none" strike="noStrike">
                <a:solidFill>
                  <a:srgbClr val="000000"/>
                </a:solidFill>
                <a:latin typeface="Rubik"/>
                <a:ea typeface="Rubik"/>
                <a:cs typeface="Rubik"/>
                <a:sym typeface="Rubik"/>
              </a:rPr>
              <a:t>Détection proactive ; meilleure couverture schema drift</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8E3D4"/>
        </a:solidFill>
      </p:bgPr>
    </p:bg>
    <p:spTree>
      <p:nvGrpSpPr>
        <p:cNvPr id="398" name="Shape 398"/>
        <p:cNvGrpSpPr/>
        <p:nvPr/>
      </p:nvGrpSpPr>
      <p:grpSpPr>
        <a:xfrm>
          <a:off x="0" y="0"/>
          <a:ext cx="0" cy="0"/>
          <a:chOff x="0" y="0"/>
          <a:chExt cx="0" cy="0"/>
        </a:xfrm>
      </p:grpSpPr>
      <p:sp>
        <p:nvSpPr>
          <p:cNvPr id="399" name="Google Shape;399;p15"/>
          <p:cNvSpPr/>
          <p:nvPr/>
        </p:nvSpPr>
        <p:spPr>
          <a:xfrm>
            <a:off x="936000" y="396000"/>
            <a:ext cx="5544000" cy="540000"/>
          </a:xfrm>
          <a:prstGeom prst="rect">
            <a:avLst/>
          </a:prstGeom>
          <a:solidFill>
            <a:srgbClr val="26DBE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00" name="Google Shape;400;p15"/>
          <p:cNvSpPr/>
          <p:nvPr/>
        </p:nvSpPr>
        <p:spPr>
          <a:xfrm>
            <a:off x="1044000" y="324000"/>
            <a:ext cx="5544000" cy="540000"/>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b="1" i="0" lang="en-US" sz="1800" u="none" cap="none" strike="noStrike">
                <a:solidFill>
                  <a:srgbClr val="000000"/>
                </a:solidFill>
                <a:latin typeface="Rubik"/>
                <a:ea typeface="Rubik"/>
                <a:cs typeface="Rubik"/>
                <a:sym typeface="Rubik"/>
              </a:rPr>
              <a:t>ANNEXE D — KPIs COMPLETS</a:t>
            </a:r>
            <a:endParaRPr/>
          </a:p>
        </p:txBody>
      </p:sp>
      <p:sp>
        <p:nvSpPr>
          <p:cNvPr id="401" name="Google Shape;401;p15"/>
          <p:cNvSpPr/>
          <p:nvPr/>
        </p:nvSpPr>
        <p:spPr>
          <a:xfrm>
            <a:off x="360000" y="1152000"/>
            <a:ext cx="2880000" cy="324000"/>
          </a:xfrm>
          <a:prstGeom prst="roundRect">
            <a:avLst>
              <a:gd fmla="val 5000" name="adj"/>
            </a:avLst>
          </a:prstGeom>
          <a:solidFill>
            <a:srgbClr val="26DBE0"/>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ctr">
              <a:spcBef>
                <a:spcPts val="0"/>
              </a:spcBef>
              <a:spcAft>
                <a:spcPts val="0"/>
              </a:spcAft>
              <a:buNone/>
            </a:pPr>
            <a:r>
              <a:rPr b="1" i="0" lang="en-US" sz="1000" u="none" cap="none" strike="noStrike">
                <a:solidFill>
                  <a:srgbClr val="FFFFFF"/>
                </a:solidFill>
                <a:latin typeface="Rubik"/>
                <a:ea typeface="Rubik"/>
                <a:cs typeface="Rubik"/>
                <a:sym typeface="Rubik"/>
              </a:rPr>
              <a:t>KPI</a:t>
            </a:r>
            <a:endParaRPr/>
          </a:p>
        </p:txBody>
      </p:sp>
      <p:sp>
        <p:nvSpPr>
          <p:cNvPr id="402" name="Google Shape;402;p15"/>
          <p:cNvSpPr/>
          <p:nvPr/>
        </p:nvSpPr>
        <p:spPr>
          <a:xfrm>
            <a:off x="3311999" y="1152000"/>
            <a:ext cx="1620000" cy="324000"/>
          </a:xfrm>
          <a:prstGeom prst="roundRect">
            <a:avLst>
              <a:gd fmla="val 5000" name="adj"/>
            </a:avLst>
          </a:prstGeom>
          <a:solidFill>
            <a:srgbClr val="26DBE0"/>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ctr">
              <a:spcBef>
                <a:spcPts val="0"/>
              </a:spcBef>
              <a:spcAft>
                <a:spcPts val="0"/>
              </a:spcAft>
              <a:buNone/>
            </a:pPr>
            <a:r>
              <a:rPr b="1" i="0" lang="en-US" sz="1000" u="none" cap="none" strike="noStrike">
                <a:solidFill>
                  <a:srgbClr val="FFFFFF"/>
                </a:solidFill>
                <a:latin typeface="Rubik"/>
                <a:ea typeface="Rubik"/>
                <a:cs typeface="Rubik"/>
                <a:sym typeface="Rubik"/>
              </a:rPr>
              <a:t>Baseline</a:t>
            </a:r>
            <a:endParaRPr/>
          </a:p>
        </p:txBody>
      </p:sp>
      <p:sp>
        <p:nvSpPr>
          <p:cNvPr id="403" name="Google Shape;403;p15"/>
          <p:cNvSpPr/>
          <p:nvPr/>
        </p:nvSpPr>
        <p:spPr>
          <a:xfrm>
            <a:off x="5004000" y="1152000"/>
            <a:ext cx="1620000" cy="324000"/>
          </a:xfrm>
          <a:prstGeom prst="roundRect">
            <a:avLst>
              <a:gd fmla="val 5000" name="adj"/>
            </a:avLst>
          </a:prstGeom>
          <a:solidFill>
            <a:srgbClr val="26DBE0"/>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ctr">
              <a:spcBef>
                <a:spcPts val="0"/>
              </a:spcBef>
              <a:spcAft>
                <a:spcPts val="0"/>
              </a:spcAft>
              <a:buNone/>
            </a:pPr>
            <a:r>
              <a:rPr b="1" i="0" lang="en-US" sz="1000" u="none" cap="none" strike="noStrike">
                <a:solidFill>
                  <a:srgbClr val="FFFFFF"/>
                </a:solidFill>
                <a:latin typeface="Rubik"/>
                <a:ea typeface="Rubik"/>
                <a:cs typeface="Rubik"/>
                <a:sym typeface="Rubik"/>
              </a:rPr>
              <a:t>M6</a:t>
            </a:r>
            <a:endParaRPr/>
          </a:p>
        </p:txBody>
      </p:sp>
      <p:sp>
        <p:nvSpPr>
          <p:cNvPr id="404" name="Google Shape;404;p15"/>
          <p:cNvSpPr/>
          <p:nvPr/>
        </p:nvSpPr>
        <p:spPr>
          <a:xfrm>
            <a:off x="6696000" y="1152000"/>
            <a:ext cx="1620000" cy="324000"/>
          </a:xfrm>
          <a:prstGeom prst="roundRect">
            <a:avLst>
              <a:gd fmla="val 5000" name="adj"/>
            </a:avLst>
          </a:prstGeom>
          <a:solidFill>
            <a:srgbClr val="26DBE0"/>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ctr">
              <a:spcBef>
                <a:spcPts val="0"/>
              </a:spcBef>
              <a:spcAft>
                <a:spcPts val="0"/>
              </a:spcAft>
              <a:buNone/>
            </a:pPr>
            <a:r>
              <a:rPr b="1" i="0" lang="en-US" sz="1000" u="none" cap="none" strike="noStrike">
                <a:solidFill>
                  <a:srgbClr val="FFFFFF"/>
                </a:solidFill>
                <a:latin typeface="Rubik"/>
                <a:ea typeface="Rubik"/>
                <a:cs typeface="Rubik"/>
                <a:sym typeface="Rubik"/>
              </a:rPr>
              <a:t>M18</a:t>
            </a:r>
            <a:endParaRPr/>
          </a:p>
        </p:txBody>
      </p:sp>
      <p:sp>
        <p:nvSpPr>
          <p:cNvPr id="405" name="Google Shape;405;p15"/>
          <p:cNvSpPr/>
          <p:nvPr/>
        </p:nvSpPr>
        <p:spPr>
          <a:xfrm>
            <a:off x="360000" y="1548000"/>
            <a:ext cx="2880000" cy="324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spcBef>
                <a:spcPts val="0"/>
              </a:spcBef>
              <a:spcAft>
                <a:spcPts val="0"/>
              </a:spcAft>
              <a:buNone/>
            </a:pPr>
            <a:r>
              <a:rPr b="1" i="0" lang="en-US" sz="1000" u="none" cap="none" strike="noStrike">
                <a:solidFill>
                  <a:srgbClr val="000000"/>
                </a:solidFill>
                <a:latin typeface="Rubik"/>
                <a:ea typeface="Rubik"/>
                <a:cs typeface="Rubik"/>
                <a:sym typeface="Rubik"/>
              </a:rPr>
              <a:t>Complétude métadonnées</a:t>
            </a:r>
            <a:endParaRPr/>
          </a:p>
        </p:txBody>
      </p:sp>
      <p:sp>
        <p:nvSpPr>
          <p:cNvPr id="406" name="Google Shape;406;p15"/>
          <p:cNvSpPr/>
          <p:nvPr/>
        </p:nvSpPr>
        <p:spPr>
          <a:xfrm>
            <a:off x="3311999" y="1548000"/>
            <a:ext cx="1620000" cy="324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ctr">
              <a:spcBef>
                <a:spcPts val="0"/>
              </a:spcBef>
              <a:spcAft>
                <a:spcPts val="0"/>
              </a:spcAft>
              <a:buNone/>
            </a:pPr>
            <a:r>
              <a:rPr b="1" i="0" lang="en-US" sz="1000" u="none" cap="none" strike="noStrike">
                <a:solidFill>
                  <a:srgbClr val="000000"/>
                </a:solidFill>
                <a:latin typeface="Rubik"/>
                <a:ea typeface="Rubik"/>
                <a:cs typeface="Rubik"/>
                <a:sym typeface="Rubik"/>
              </a:rPr>
              <a:t>À mesurer</a:t>
            </a:r>
            <a:endParaRPr/>
          </a:p>
        </p:txBody>
      </p:sp>
      <p:sp>
        <p:nvSpPr>
          <p:cNvPr id="407" name="Google Shape;407;p15"/>
          <p:cNvSpPr/>
          <p:nvPr/>
        </p:nvSpPr>
        <p:spPr>
          <a:xfrm>
            <a:off x="5004000" y="1548000"/>
            <a:ext cx="1620000" cy="324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ctr">
              <a:spcBef>
                <a:spcPts val="0"/>
              </a:spcBef>
              <a:spcAft>
                <a:spcPts val="0"/>
              </a:spcAft>
              <a:buNone/>
            </a:pPr>
            <a:r>
              <a:rPr b="1" i="0" lang="en-US" sz="1000" u="none" cap="none" strike="noStrike">
                <a:solidFill>
                  <a:srgbClr val="000000"/>
                </a:solidFill>
                <a:latin typeface="Rubik"/>
                <a:ea typeface="Rubik"/>
                <a:cs typeface="Rubik"/>
                <a:sym typeface="Rubik"/>
              </a:rPr>
              <a:t>≥ 92 %</a:t>
            </a:r>
            <a:endParaRPr/>
          </a:p>
        </p:txBody>
      </p:sp>
      <p:sp>
        <p:nvSpPr>
          <p:cNvPr id="408" name="Google Shape;408;p15"/>
          <p:cNvSpPr/>
          <p:nvPr/>
        </p:nvSpPr>
        <p:spPr>
          <a:xfrm>
            <a:off x="6696000" y="1548000"/>
            <a:ext cx="1620000" cy="324000"/>
          </a:xfrm>
          <a:prstGeom prst="roundRect">
            <a:avLst>
              <a:gd fmla="val 5000" name="adj"/>
            </a:avLst>
          </a:prstGeom>
          <a:solidFill>
            <a:srgbClr val="282A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ctr">
              <a:spcBef>
                <a:spcPts val="0"/>
              </a:spcBef>
              <a:spcAft>
                <a:spcPts val="0"/>
              </a:spcAft>
              <a:buNone/>
            </a:pPr>
            <a:r>
              <a:rPr b="1" i="0" lang="en-US" sz="1000" u="none" cap="none" strike="noStrike">
                <a:solidFill>
                  <a:srgbClr val="FFFFFF"/>
                </a:solidFill>
                <a:latin typeface="Rubik"/>
                <a:ea typeface="Rubik"/>
                <a:cs typeface="Rubik"/>
                <a:sym typeface="Rubik"/>
              </a:rPr>
              <a:t>≥ 97 %</a:t>
            </a:r>
            <a:endParaRPr/>
          </a:p>
        </p:txBody>
      </p:sp>
      <p:sp>
        <p:nvSpPr>
          <p:cNvPr id="409" name="Google Shape;409;p15"/>
          <p:cNvSpPr/>
          <p:nvPr/>
        </p:nvSpPr>
        <p:spPr>
          <a:xfrm>
            <a:off x="360000" y="1944000"/>
            <a:ext cx="2880000" cy="324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spcBef>
                <a:spcPts val="0"/>
              </a:spcBef>
              <a:spcAft>
                <a:spcPts val="0"/>
              </a:spcAft>
              <a:buNone/>
            </a:pPr>
            <a:r>
              <a:rPr b="1" i="0" lang="en-US" sz="1000" u="none" cap="none" strike="noStrike">
                <a:solidFill>
                  <a:srgbClr val="000000"/>
                </a:solidFill>
                <a:latin typeface="Rubik"/>
                <a:ea typeface="Rubik"/>
                <a:cs typeface="Rubik"/>
                <a:sym typeface="Rubik"/>
              </a:rPr>
              <a:t>Conformité DSAR (SLA 30j)</a:t>
            </a:r>
            <a:endParaRPr/>
          </a:p>
        </p:txBody>
      </p:sp>
      <p:sp>
        <p:nvSpPr>
          <p:cNvPr id="410" name="Google Shape;410;p15"/>
          <p:cNvSpPr/>
          <p:nvPr/>
        </p:nvSpPr>
        <p:spPr>
          <a:xfrm>
            <a:off x="3311999" y="1944000"/>
            <a:ext cx="1620000" cy="324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ctr">
              <a:spcBef>
                <a:spcPts val="0"/>
              </a:spcBef>
              <a:spcAft>
                <a:spcPts val="0"/>
              </a:spcAft>
              <a:buNone/>
            </a:pPr>
            <a:r>
              <a:rPr b="1" i="0" lang="en-US" sz="1000" u="none" cap="none" strike="noStrike">
                <a:solidFill>
                  <a:srgbClr val="000000"/>
                </a:solidFill>
                <a:latin typeface="Rubik"/>
                <a:ea typeface="Rubik"/>
                <a:cs typeface="Rubik"/>
                <a:sym typeface="Rubik"/>
              </a:rPr>
              <a:t>Partiel</a:t>
            </a:r>
            <a:endParaRPr/>
          </a:p>
        </p:txBody>
      </p:sp>
      <p:sp>
        <p:nvSpPr>
          <p:cNvPr id="411" name="Google Shape;411;p15"/>
          <p:cNvSpPr/>
          <p:nvPr/>
        </p:nvSpPr>
        <p:spPr>
          <a:xfrm>
            <a:off x="5004000" y="1944000"/>
            <a:ext cx="1620000" cy="324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ctr">
              <a:spcBef>
                <a:spcPts val="0"/>
              </a:spcBef>
              <a:spcAft>
                <a:spcPts val="0"/>
              </a:spcAft>
              <a:buNone/>
            </a:pPr>
            <a:r>
              <a:rPr b="1" i="0" lang="en-US" sz="1000" u="none" cap="none" strike="noStrike">
                <a:solidFill>
                  <a:srgbClr val="000000"/>
                </a:solidFill>
                <a:latin typeface="Rubik"/>
                <a:ea typeface="Rubik"/>
                <a:cs typeface="Rubik"/>
                <a:sym typeface="Rubik"/>
              </a:rPr>
              <a:t>90 %</a:t>
            </a:r>
            <a:endParaRPr/>
          </a:p>
        </p:txBody>
      </p:sp>
      <p:sp>
        <p:nvSpPr>
          <p:cNvPr id="412" name="Google Shape;412;p15"/>
          <p:cNvSpPr/>
          <p:nvPr/>
        </p:nvSpPr>
        <p:spPr>
          <a:xfrm>
            <a:off x="6696000" y="1944000"/>
            <a:ext cx="1620000" cy="324000"/>
          </a:xfrm>
          <a:prstGeom prst="roundRect">
            <a:avLst>
              <a:gd fmla="val 5000" name="adj"/>
            </a:avLst>
          </a:prstGeom>
          <a:solidFill>
            <a:srgbClr val="A329DE"/>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ctr">
              <a:spcBef>
                <a:spcPts val="0"/>
              </a:spcBef>
              <a:spcAft>
                <a:spcPts val="0"/>
              </a:spcAft>
              <a:buNone/>
            </a:pPr>
            <a:r>
              <a:rPr b="1" i="0" lang="en-US" sz="1000" u="none" cap="none" strike="noStrike">
                <a:solidFill>
                  <a:srgbClr val="FFFFFF"/>
                </a:solidFill>
                <a:latin typeface="Rubik"/>
                <a:ea typeface="Rubik"/>
                <a:cs typeface="Rubik"/>
                <a:sym typeface="Rubik"/>
              </a:rPr>
              <a:t>100 %</a:t>
            </a:r>
            <a:endParaRPr/>
          </a:p>
        </p:txBody>
      </p:sp>
      <p:sp>
        <p:nvSpPr>
          <p:cNvPr id="413" name="Google Shape;413;p15"/>
          <p:cNvSpPr/>
          <p:nvPr/>
        </p:nvSpPr>
        <p:spPr>
          <a:xfrm>
            <a:off x="360000" y="2340000"/>
            <a:ext cx="2880000" cy="324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spcBef>
                <a:spcPts val="0"/>
              </a:spcBef>
              <a:spcAft>
                <a:spcPts val="0"/>
              </a:spcAft>
              <a:buNone/>
            </a:pPr>
            <a:r>
              <a:rPr b="1" i="0" lang="en-US" sz="1000" u="none" cap="none" strike="noStrike">
                <a:solidFill>
                  <a:srgbClr val="000000"/>
                </a:solidFill>
                <a:latin typeface="Rubik"/>
                <a:ea typeface="Rubik"/>
                <a:cs typeface="Rubik"/>
                <a:sym typeface="Rubik"/>
              </a:rPr>
              <a:t>Score maturité globale</a:t>
            </a:r>
            <a:endParaRPr/>
          </a:p>
        </p:txBody>
      </p:sp>
      <p:sp>
        <p:nvSpPr>
          <p:cNvPr id="414" name="Google Shape;414;p15"/>
          <p:cNvSpPr/>
          <p:nvPr/>
        </p:nvSpPr>
        <p:spPr>
          <a:xfrm>
            <a:off x="3311999" y="2340000"/>
            <a:ext cx="1620000" cy="324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ctr">
              <a:spcBef>
                <a:spcPts val="0"/>
              </a:spcBef>
              <a:spcAft>
                <a:spcPts val="0"/>
              </a:spcAft>
              <a:buNone/>
            </a:pPr>
            <a:r>
              <a:rPr b="1" i="0" lang="en-US" sz="1000" u="none" cap="none" strike="noStrike">
                <a:solidFill>
                  <a:srgbClr val="000000"/>
                </a:solidFill>
                <a:latin typeface="Rubik"/>
                <a:ea typeface="Rubik"/>
                <a:cs typeface="Rubik"/>
                <a:sym typeface="Rubik"/>
              </a:rPr>
              <a:t>3,25/5</a:t>
            </a:r>
            <a:endParaRPr/>
          </a:p>
        </p:txBody>
      </p:sp>
      <p:sp>
        <p:nvSpPr>
          <p:cNvPr id="415" name="Google Shape;415;p15"/>
          <p:cNvSpPr/>
          <p:nvPr/>
        </p:nvSpPr>
        <p:spPr>
          <a:xfrm>
            <a:off x="5004000" y="2340000"/>
            <a:ext cx="1620000" cy="324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ctr">
              <a:spcBef>
                <a:spcPts val="0"/>
              </a:spcBef>
              <a:spcAft>
                <a:spcPts val="0"/>
              </a:spcAft>
              <a:buNone/>
            </a:pPr>
            <a:r>
              <a:rPr b="1" i="0" lang="en-US" sz="1000" u="none" cap="none" strike="noStrike">
                <a:solidFill>
                  <a:srgbClr val="000000"/>
                </a:solidFill>
                <a:latin typeface="Rubik"/>
                <a:ea typeface="Rubik"/>
                <a:cs typeface="Rubik"/>
                <a:sym typeface="Rubik"/>
              </a:rPr>
              <a:t>3,5/5</a:t>
            </a:r>
            <a:endParaRPr/>
          </a:p>
        </p:txBody>
      </p:sp>
      <p:sp>
        <p:nvSpPr>
          <p:cNvPr id="416" name="Google Shape;416;p15"/>
          <p:cNvSpPr/>
          <p:nvPr/>
        </p:nvSpPr>
        <p:spPr>
          <a:xfrm>
            <a:off x="6696000" y="2340000"/>
            <a:ext cx="1620000" cy="324000"/>
          </a:xfrm>
          <a:prstGeom prst="roundRect">
            <a:avLst>
              <a:gd fmla="val 5000" name="adj"/>
            </a:avLst>
          </a:prstGeom>
          <a:solidFill>
            <a:srgbClr val="26DBE0"/>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ctr">
              <a:spcBef>
                <a:spcPts val="0"/>
              </a:spcBef>
              <a:spcAft>
                <a:spcPts val="0"/>
              </a:spcAft>
              <a:buNone/>
            </a:pPr>
            <a:r>
              <a:rPr b="1" i="0" lang="en-US" sz="1000" u="none" cap="none" strike="noStrike">
                <a:solidFill>
                  <a:srgbClr val="FFFFFF"/>
                </a:solidFill>
                <a:latin typeface="Rubik"/>
                <a:ea typeface="Rubik"/>
                <a:cs typeface="Rubik"/>
                <a:sym typeface="Rubik"/>
              </a:rPr>
              <a:t>≥ 4,0/5</a:t>
            </a:r>
            <a:endParaRPr/>
          </a:p>
        </p:txBody>
      </p:sp>
      <p:sp>
        <p:nvSpPr>
          <p:cNvPr id="417" name="Google Shape;417;p15"/>
          <p:cNvSpPr/>
          <p:nvPr/>
        </p:nvSpPr>
        <p:spPr>
          <a:xfrm>
            <a:off x="360000" y="2736000"/>
            <a:ext cx="2880000" cy="324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spcBef>
                <a:spcPts val="0"/>
              </a:spcBef>
              <a:spcAft>
                <a:spcPts val="0"/>
              </a:spcAft>
              <a:buNone/>
            </a:pPr>
            <a:r>
              <a:rPr b="1" i="0" lang="en-US" sz="1000" u="none" cap="none" strike="noStrike">
                <a:solidFill>
                  <a:srgbClr val="000000"/>
                </a:solidFill>
                <a:latin typeface="Rubik"/>
                <a:ea typeface="Rubik"/>
                <a:cs typeface="Rubik"/>
                <a:sym typeface="Rubik"/>
              </a:rPr>
              <a:t>Couverture catalogue</a:t>
            </a:r>
            <a:endParaRPr/>
          </a:p>
        </p:txBody>
      </p:sp>
      <p:sp>
        <p:nvSpPr>
          <p:cNvPr id="418" name="Google Shape;418;p15"/>
          <p:cNvSpPr/>
          <p:nvPr/>
        </p:nvSpPr>
        <p:spPr>
          <a:xfrm>
            <a:off x="3311999" y="2736000"/>
            <a:ext cx="1620000" cy="324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ctr">
              <a:spcBef>
                <a:spcPts val="0"/>
              </a:spcBef>
              <a:spcAft>
                <a:spcPts val="0"/>
              </a:spcAft>
              <a:buNone/>
            </a:pPr>
            <a:r>
              <a:rPr b="1" i="0" lang="en-US" sz="1000" u="none" cap="none" strike="noStrike">
                <a:solidFill>
                  <a:srgbClr val="000000"/>
                </a:solidFill>
                <a:latin typeface="Rubik"/>
                <a:ea typeface="Rubik"/>
                <a:cs typeface="Rubik"/>
                <a:sym typeface="Rubik"/>
              </a:rPr>
              <a:t>~10 %</a:t>
            </a:r>
            <a:endParaRPr/>
          </a:p>
        </p:txBody>
      </p:sp>
      <p:sp>
        <p:nvSpPr>
          <p:cNvPr id="419" name="Google Shape;419;p15"/>
          <p:cNvSpPr/>
          <p:nvPr/>
        </p:nvSpPr>
        <p:spPr>
          <a:xfrm>
            <a:off x="5004000" y="2736000"/>
            <a:ext cx="1620000" cy="324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ctr">
              <a:spcBef>
                <a:spcPts val="0"/>
              </a:spcBef>
              <a:spcAft>
                <a:spcPts val="0"/>
              </a:spcAft>
              <a:buNone/>
            </a:pPr>
            <a:r>
              <a:rPr b="1" i="0" lang="en-US" sz="1000" u="none" cap="none" strike="noStrike">
                <a:solidFill>
                  <a:srgbClr val="000000"/>
                </a:solidFill>
                <a:latin typeface="Rubik"/>
                <a:ea typeface="Rubik"/>
                <a:cs typeface="Rubik"/>
                <a:sym typeface="Rubik"/>
              </a:rPr>
              <a:t>40 %</a:t>
            </a:r>
            <a:endParaRPr/>
          </a:p>
        </p:txBody>
      </p:sp>
      <p:sp>
        <p:nvSpPr>
          <p:cNvPr id="420" name="Google Shape;420;p15"/>
          <p:cNvSpPr/>
          <p:nvPr/>
        </p:nvSpPr>
        <p:spPr>
          <a:xfrm>
            <a:off x="6696000" y="2736000"/>
            <a:ext cx="1620000" cy="324000"/>
          </a:xfrm>
          <a:prstGeom prst="roundRect">
            <a:avLst>
              <a:gd fmla="val 5000" name="adj"/>
            </a:avLst>
          </a:prstGeom>
          <a:solidFill>
            <a:srgbClr val="282A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ctr">
              <a:spcBef>
                <a:spcPts val="0"/>
              </a:spcBef>
              <a:spcAft>
                <a:spcPts val="0"/>
              </a:spcAft>
              <a:buNone/>
            </a:pPr>
            <a:r>
              <a:rPr b="1" i="0" lang="en-US" sz="1000" u="none" cap="none" strike="noStrike">
                <a:solidFill>
                  <a:srgbClr val="FFFFFF"/>
                </a:solidFill>
                <a:latin typeface="Rubik"/>
                <a:ea typeface="Rubik"/>
                <a:cs typeface="Rubik"/>
                <a:sym typeface="Rubik"/>
              </a:rPr>
              <a:t>90 %</a:t>
            </a:r>
            <a:endParaRPr/>
          </a:p>
        </p:txBody>
      </p:sp>
      <p:sp>
        <p:nvSpPr>
          <p:cNvPr id="421" name="Google Shape;421;p15"/>
          <p:cNvSpPr/>
          <p:nvPr/>
        </p:nvSpPr>
        <p:spPr>
          <a:xfrm>
            <a:off x="360000" y="3132000"/>
            <a:ext cx="2880000" cy="324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spcBef>
                <a:spcPts val="0"/>
              </a:spcBef>
              <a:spcAft>
                <a:spcPts val="0"/>
              </a:spcAft>
              <a:buNone/>
            </a:pPr>
            <a:r>
              <a:rPr b="1" i="0" lang="en-US" sz="1000" u="none" cap="none" strike="noStrike">
                <a:solidFill>
                  <a:srgbClr val="000000"/>
                </a:solidFill>
                <a:latin typeface="Rubik"/>
                <a:ea typeface="Rubik"/>
                <a:cs typeface="Rubik"/>
                <a:sym typeface="Rubik"/>
              </a:rPr>
              <a:t>Completion formation</a:t>
            </a:r>
            <a:endParaRPr/>
          </a:p>
        </p:txBody>
      </p:sp>
      <p:sp>
        <p:nvSpPr>
          <p:cNvPr id="422" name="Google Shape;422;p15"/>
          <p:cNvSpPr/>
          <p:nvPr/>
        </p:nvSpPr>
        <p:spPr>
          <a:xfrm>
            <a:off x="3311999" y="3132000"/>
            <a:ext cx="1620000" cy="324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ctr">
              <a:spcBef>
                <a:spcPts val="0"/>
              </a:spcBef>
              <a:spcAft>
                <a:spcPts val="0"/>
              </a:spcAft>
              <a:buNone/>
            </a:pPr>
            <a:r>
              <a:rPr b="1" i="0" lang="en-US" sz="1000" u="none" cap="none" strike="noStrike">
                <a:solidFill>
                  <a:srgbClr val="000000"/>
                </a:solidFill>
                <a:latin typeface="Rubik"/>
                <a:ea typeface="Rubik"/>
                <a:cs typeface="Rubik"/>
                <a:sym typeface="Rubik"/>
              </a:rPr>
              <a:t>0 %</a:t>
            </a:r>
            <a:endParaRPr/>
          </a:p>
        </p:txBody>
      </p:sp>
      <p:sp>
        <p:nvSpPr>
          <p:cNvPr id="423" name="Google Shape;423;p15"/>
          <p:cNvSpPr/>
          <p:nvPr/>
        </p:nvSpPr>
        <p:spPr>
          <a:xfrm>
            <a:off x="5004000" y="3132000"/>
            <a:ext cx="1620000" cy="324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ctr">
              <a:spcBef>
                <a:spcPts val="0"/>
              </a:spcBef>
              <a:spcAft>
                <a:spcPts val="0"/>
              </a:spcAft>
              <a:buNone/>
            </a:pPr>
            <a:r>
              <a:rPr b="1" i="0" lang="en-US" sz="1000" u="none" cap="none" strike="noStrike">
                <a:solidFill>
                  <a:srgbClr val="000000"/>
                </a:solidFill>
                <a:latin typeface="Rubik"/>
                <a:ea typeface="Rubik"/>
                <a:cs typeface="Rubik"/>
                <a:sym typeface="Rubik"/>
              </a:rPr>
              <a:t>60 %</a:t>
            </a:r>
            <a:endParaRPr/>
          </a:p>
        </p:txBody>
      </p:sp>
      <p:sp>
        <p:nvSpPr>
          <p:cNvPr id="424" name="Google Shape;424;p15"/>
          <p:cNvSpPr/>
          <p:nvPr/>
        </p:nvSpPr>
        <p:spPr>
          <a:xfrm>
            <a:off x="6696000" y="3132000"/>
            <a:ext cx="1620000" cy="324000"/>
          </a:xfrm>
          <a:prstGeom prst="roundRect">
            <a:avLst>
              <a:gd fmla="val 5000" name="adj"/>
            </a:avLst>
          </a:prstGeom>
          <a:solidFill>
            <a:srgbClr val="A329DE"/>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ctr">
              <a:spcBef>
                <a:spcPts val="0"/>
              </a:spcBef>
              <a:spcAft>
                <a:spcPts val="0"/>
              </a:spcAft>
              <a:buNone/>
            </a:pPr>
            <a:r>
              <a:rPr b="1" i="0" lang="en-US" sz="1000" u="none" cap="none" strike="noStrike">
                <a:solidFill>
                  <a:srgbClr val="FFFFFF"/>
                </a:solidFill>
                <a:latin typeface="Rubik"/>
                <a:ea typeface="Rubik"/>
                <a:cs typeface="Rubik"/>
                <a:sym typeface="Rubik"/>
              </a:rPr>
              <a:t>≥ 95 %</a:t>
            </a:r>
            <a:endParaRPr/>
          </a:p>
        </p:txBody>
      </p:sp>
      <p:sp>
        <p:nvSpPr>
          <p:cNvPr id="425" name="Google Shape;425;p15"/>
          <p:cNvSpPr/>
          <p:nvPr/>
        </p:nvSpPr>
        <p:spPr>
          <a:xfrm>
            <a:off x="360000" y="3528000"/>
            <a:ext cx="2880000" cy="324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l">
              <a:spcBef>
                <a:spcPts val="0"/>
              </a:spcBef>
              <a:spcAft>
                <a:spcPts val="0"/>
              </a:spcAft>
              <a:buNone/>
            </a:pPr>
            <a:r>
              <a:rPr b="1" i="0" lang="en-US" sz="1000" u="none" cap="none" strike="noStrike">
                <a:solidFill>
                  <a:srgbClr val="000000"/>
                </a:solidFill>
                <a:latin typeface="Rubik"/>
                <a:ea typeface="Rubik"/>
                <a:cs typeface="Rubik"/>
                <a:sym typeface="Rubik"/>
              </a:rPr>
              <a:t>Churn Premium</a:t>
            </a:r>
            <a:endParaRPr/>
          </a:p>
        </p:txBody>
      </p:sp>
      <p:sp>
        <p:nvSpPr>
          <p:cNvPr id="426" name="Google Shape;426;p15"/>
          <p:cNvSpPr/>
          <p:nvPr/>
        </p:nvSpPr>
        <p:spPr>
          <a:xfrm>
            <a:off x="3311999" y="3528000"/>
            <a:ext cx="1620000" cy="324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ctr">
              <a:spcBef>
                <a:spcPts val="0"/>
              </a:spcBef>
              <a:spcAft>
                <a:spcPts val="0"/>
              </a:spcAft>
              <a:buNone/>
            </a:pPr>
            <a:r>
              <a:rPr b="1" i="0" lang="en-US" sz="1000" u="none" cap="none" strike="noStrike">
                <a:solidFill>
                  <a:srgbClr val="000000"/>
                </a:solidFill>
                <a:latin typeface="Rubik"/>
                <a:ea typeface="Rubik"/>
                <a:cs typeface="Rubik"/>
                <a:sym typeface="Rubik"/>
              </a:rPr>
              <a:t>~1,3 %</a:t>
            </a:r>
            <a:endParaRPr/>
          </a:p>
        </p:txBody>
      </p:sp>
      <p:sp>
        <p:nvSpPr>
          <p:cNvPr id="427" name="Google Shape;427;p15"/>
          <p:cNvSpPr/>
          <p:nvPr/>
        </p:nvSpPr>
        <p:spPr>
          <a:xfrm>
            <a:off x="5004000" y="3528000"/>
            <a:ext cx="1620000" cy="324000"/>
          </a:xfrm>
          <a:prstGeom prst="roundRect">
            <a:avLst>
              <a:gd fmla="val 5000" name="adj"/>
            </a:avLst>
          </a:prstGeom>
          <a:solidFill>
            <a:srgbClr val="FFFFFF"/>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ctr">
              <a:spcBef>
                <a:spcPts val="0"/>
              </a:spcBef>
              <a:spcAft>
                <a:spcPts val="0"/>
              </a:spcAft>
              <a:buNone/>
            </a:pPr>
            <a:r>
              <a:rPr b="1" i="0" lang="en-US" sz="1000" u="none" cap="none" strike="noStrike">
                <a:solidFill>
                  <a:srgbClr val="000000"/>
                </a:solidFill>
                <a:latin typeface="Rubik"/>
                <a:ea typeface="Rubik"/>
                <a:cs typeface="Rubik"/>
                <a:sym typeface="Rubik"/>
              </a:rPr>
              <a:t>Stable</a:t>
            </a:r>
            <a:endParaRPr/>
          </a:p>
        </p:txBody>
      </p:sp>
      <p:sp>
        <p:nvSpPr>
          <p:cNvPr id="428" name="Google Shape;428;p15"/>
          <p:cNvSpPr/>
          <p:nvPr/>
        </p:nvSpPr>
        <p:spPr>
          <a:xfrm>
            <a:off x="6696000" y="3528000"/>
            <a:ext cx="1620000" cy="324000"/>
          </a:xfrm>
          <a:prstGeom prst="roundRect">
            <a:avLst>
              <a:gd fmla="val 5000" name="adj"/>
            </a:avLst>
          </a:prstGeom>
          <a:solidFill>
            <a:srgbClr val="26DBE0"/>
          </a:solidFill>
          <a:ln>
            <a:noFill/>
          </a:ln>
          <a:effectLst>
            <a:outerShdw blurRad="40000" rotWithShape="0" dir="5400000" dist="23000">
              <a:srgbClr val="000000">
                <a:alpha val="34901"/>
              </a:srgbClr>
            </a:outerShdw>
          </a:effectLst>
        </p:spPr>
        <p:txBody>
          <a:bodyPr anchorCtr="0" anchor="ctr" bIns="45700" lIns="108000" spcFirstLastPara="1" rIns="91425" wrap="square" tIns="45700">
            <a:noAutofit/>
          </a:bodyPr>
          <a:lstStyle/>
          <a:p>
            <a:pPr indent="0" lvl="0" marL="0" marR="0" rtl="0" algn="ctr">
              <a:spcBef>
                <a:spcPts val="0"/>
              </a:spcBef>
              <a:spcAft>
                <a:spcPts val="0"/>
              </a:spcAft>
              <a:buNone/>
            </a:pPr>
            <a:r>
              <a:rPr b="1" i="0" lang="en-US" sz="1000" u="none" cap="none" strike="noStrike">
                <a:solidFill>
                  <a:srgbClr val="FFFFFF"/>
                </a:solidFill>
                <a:latin typeface="Rubik"/>
                <a:ea typeface="Rubik"/>
                <a:cs typeface="Rubik"/>
                <a:sym typeface="Rubik"/>
              </a:rPr>
              <a:t>≤ 1,2 %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cp:coreProperties>
</file>