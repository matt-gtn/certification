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4400" cx="9144000"/>
  <p:notesSz cx="6858000" cy="9144000"/>
  <p:embeddedFontLst>
    <p:embeddedFont>
      <p:font typeface="Rubik"/>
      <p:regular r:id="rId39"/>
      <p:bold r:id="rId40"/>
      <p:italic r:id="rId41"/>
      <p:boldItalic r:id="rId42"/>
    </p:embeddedFont>
    <p:embeddedFont>
      <p:font typeface="Rubik SemiBold"/>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7" roundtripDataSignature="AMtx7mj/KlxgoaHrjvTHzQmmF61VCbwL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ubik-bold.fntdata"/><Relationship Id="rId20" Type="http://schemas.openxmlformats.org/officeDocument/2006/relationships/slide" Target="slides/slide15.xml"/><Relationship Id="rId42" Type="http://schemas.openxmlformats.org/officeDocument/2006/relationships/font" Target="fonts/Rubik-boldItalic.fntdata"/><Relationship Id="rId41" Type="http://schemas.openxmlformats.org/officeDocument/2006/relationships/font" Target="fonts/Rubik-italic.fntdata"/><Relationship Id="rId22" Type="http://schemas.openxmlformats.org/officeDocument/2006/relationships/slide" Target="slides/slide17.xml"/><Relationship Id="rId44" Type="http://schemas.openxmlformats.org/officeDocument/2006/relationships/font" Target="fonts/RubikSemiBold-bold.fntdata"/><Relationship Id="rId21" Type="http://schemas.openxmlformats.org/officeDocument/2006/relationships/slide" Target="slides/slide16.xml"/><Relationship Id="rId43" Type="http://schemas.openxmlformats.org/officeDocument/2006/relationships/font" Target="fonts/RubikSemiBold-regular.fntdata"/><Relationship Id="rId24" Type="http://schemas.openxmlformats.org/officeDocument/2006/relationships/slide" Target="slides/slide19.xml"/><Relationship Id="rId46" Type="http://schemas.openxmlformats.org/officeDocument/2006/relationships/font" Target="fonts/RubikSemiBold-boldItalic.fntdata"/><Relationship Id="rId23" Type="http://schemas.openxmlformats.org/officeDocument/2006/relationships/slide" Target="slides/slide18.xml"/><Relationship Id="rId45" Type="http://schemas.openxmlformats.org/officeDocument/2006/relationships/font" Target="fonts/Rubik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ubik-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"Bonjour. Je vais vous présenter aujourd'hui un programme de gouvernance des données pour Spotify — une entreprise que tout le monde connaît pour la qualité de ses recommandations musicales, mais dont peu de gens savent que les structures de gouvernance de la donnée n'ont pas suivi le rythme de sa croissance. Mon objectif : vous convaincre que la gouvernance n'est pas une contrainte, c'est le moteur de la confiance, et la confiance est le carburant de l'innovation de Spotify."</a:t>
            </a:r>
            <a:br>
              <a:rPr lang="en-US"/>
            </a:br>
            <a:r>
              <a:rPr lang="en-US"/>
              <a:t>Transition : "Commençons par le contexte.”</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"Ces chiffres sont publics — rapport T4 2024 de Spotify. Ce que je veux souligner, c'est le paradoxe : Spotify est profitable pour la première fois de son histoire, et c'est précisément ce moment qu'il faut choisir pour investir dans la gouvernance. Pourquoi ? Parce que la gouvernance en mode 'crise' coûte 10 fois plus cher qu'en mode 'proactif'. Et le secteur en a fait la démonstration : Netflix a été condamné à 4,75 millions EUR en 2024 pour manque de transparence sur ses données. Deezer a subi une fuite de 46 millions de profils. Spotify a déjà été enquêté en Allemagne pour des délais de réponse aux demandes d'accès trop longs. Le risque est réel."</a:t>
            </a:r>
            <a:br>
              <a:rPr lang="en-US"/>
            </a:br>
            <a:r>
              <a:rPr lang="en-US"/>
              <a:t>Transition : "Voyons maintenant où en est Spotify exactement.”</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"Ce tableau illustre un contraste saisissant. Spotify est au niveau 5 en Analytics — les algorithmes Discover Weekly et Wrapped sont reconnus mondialement. Mais elle est au niveau 2 en Gouvernance et Intégration. C'est comme avoir une Formule 1 avec un moteur extraordinaire, mais des freins défaillants. L'objectif de ce programme est de passer ces deux dimensions critiques de 2 à 4 en 18 mois — pas 5, je reste réaliste — avec un score global de 4/5."</a:t>
            </a:r>
            <a:br>
              <a:rPr lang="en-US"/>
            </a:br>
            <a:r>
              <a:rPr lang="en-US"/>
              <a:t>Transition : "Pour y parvenir, j'ai sélectionné un modèle organisationnel spécifique."</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"Pourquoi pas un Data Mesh ? C'est la tendance du moment. La réponse est simple : le Data Mesh nécessite une maturité de gouvernance de niveau 4 minimum pour fonctionner. On ne peut pas sauter des étapes. Le CoE est le modèle adapté à la situation actuelle de Spotify — il pose les fondations sur lesquelles on pourra évoluer vers un modèle plus fédéré dans 3 à 5 ans, quand la maturité sera atteinte. C'est d'ailleurs ce qu'a fait Netflix : ils ont commencé par centraliser avant de fédéraliser."</a:t>
            </a:r>
            <a:br>
              <a:rPr lang="en-US"/>
            </a:br>
            <a:r>
              <a:rPr lang="en-US"/>
              <a:t>Transition : "Les outils vont maintenant suivre la stratégie, pas l'inverse."</a:t>
            </a:r>
            <a:endParaRPr/>
          </a:p>
        </p:txBody>
      </p:sp>
      <p:sp>
        <p:nvSpPr>
          <p:cNvPr id="144" name="Google Shape;14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655f934ed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9655f934ed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"Une remarque importante : je ne recommande pas les outils les plus connus ou les plus chers. Je recommande les outils les mieux adaptés aux besoins de Spotify à ce stade de maturité. DataHub est excellent, mais il nécessite une équipe d'ingénierie dédiée pour le maintenir — ce n'est pas un investissement pertinent en Phase 1. Soda.io est choisi parce que les Data Stewards métier peuvent écrire leurs propres règles de qualité sans écrire de code. C'est fondamental pour l'adoption."</a:t>
            </a:r>
            <a:br>
              <a:rPr lang="en-US"/>
            </a:br>
            <a:r>
              <a:rPr lang="en-US"/>
              <a:t>Transition : "Parlons maintenant des risques — parce que tout programme de transformation en a."</a:t>
            </a:r>
            <a:endParaRPr/>
          </a:p>
        </p:txBody>
      </p:sp>
      <p:sp>
        <p:nvSpPr>
          <p:cNvPr id="169" name="Google Shape;16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"Je veux insister sur le risque #1 — la résistance au changement. Les études Gartner montrent que 70 % des programmes de gouvernance échouent non pas pour des raisons techniques, mais humaines. C'est pourquoi le budget Change Management n'est pas une ligne optionnelle dans mon plan : c'est une ligne critique. On ne déploie pas un catalogue de données, on change des habitudes de travail profondément ancrées."</a:t>
            </a:r>
            <a:br>
              <a:rPr lang="en-US"/>
            </a:br>
            <a:r>
              <a:rPr lang="en-US"/>
              <a:t>Transition : "Voici comment nous allons progresser concrètement."</a:t>
            </a:r>
            <a:endParaRPr/>
          </a:p>
        </p:txBody>
      </p:sp>
      <p:sp>
        <p:nvSpPr>
          <p:cNvPr id="187" name="Google Shape;18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"Pourquoi commencer par les métadonnées de recommandation ? Parce que c'est le périmètre où l'impact est directement mesurable et directement lié au cœur du business. Si on améliore la qualité des métadonnées qui alimentent Discover Weekly, on améliore les recommandations, on réduit le churn, et on peut quantifier le ROI du programme dès la Phase 2. C'est le quick win le plus puissant. Et si le pilote échoue — j'ai prévu des critères d'arrêt clairs — on ajuste avant de scaler. On ne peut pas échouer au niveau global si on commence par valider au niveau local."</a:t>
            </a:r>
            <a:br>
              <a:rPr lang="en-US"/>
            </a:br>
            <a:r>
              <a:rPr lang="en-US"/>
              <a:t>Transition : "Voici ce que tout cela représente en termes d'impact financier."</a:t>
            </a:r>
            <a:endParaRPr/>
          </a:p>
        </p:txBody>
      </p:sp>
      <p:sp>
        <p:nvSpPr>
          <p:cNvPr id="215" name="Google Shape;21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"Ces chiffres sont basés sur des données publiques réelles — rapport T4 2024 de Spotify, amende Netflix publiée par l'autorité néerlandaise. Ce ne sont pas des projections optimistes, ce sont des ordres de grandeur conservateurs. Le coût de la non-gouvernance est structurellement supérieur au coût de la gouvernance. C'est vrai pour Spotify comme pour toute organisation à ce niveau de complexité et de régulation."</a:t>
            </a:r>
            <a:br>
              <a:rPr lang="en-US"/>
            </a:br>
            <a:r>
              <a:rPr lang="en-US"/>
              <a:t>Transition : "Un mot sur la conformité et l'accessibilité, deux dimensions non-négociables."</a:t>
            </a:r>
            <a:endParaRPr/>
          </a:p>
        </p:txBody>
      </p:sp>
      <p:sp>
        <p:nvSpPr>
          <p:cNvPr id="239" name="Google Shape;23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"Je veux insister sur un point : l'accessibilité n'est pas une slide ajoutée pour cocher une case. Elle est intégrée dans chaque décision : dans le choix des outils (Alation et OneTrust ont été audités WCAG), dans la conception des formations, dans les indicateurs de suivi. Pourquoi ? Parce que si un Data Steward en situation de handicap ne peut pas utiliser le catalogue de données, la gouvernance ne fonctionne pas. La gouvernance inclusive est une gouvernance qui fonctionne pour tous — c'est aussi simple que ça."</a:t>
            </a:r>
            <a:br>
              <a:rPr lang="en-US"/>
            </a:br>
            <a:r>
              <a:rPr lang="en-US"/>
              <a:t>Transition : "Pour conclure, voici ce que je vous demande."</a:t>
            </a:r>
            <a:endParaRPr/>
          </a:p>
        </p:txBody>
      </p:sp>
      <p:sp>
        <p:nvSpPr>
          <p:cNvPr id="260" name="Google Shape;26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"Je n'ai pas demandé l'approbation du budget total des 18 mois. C'est délibéré. Je demande le budget de la Phase 1 — 391K EUR sur 3 mois. C'est un engagement raisonnable pour un programme qui protège un CA de 15 milliards. À l'issue de la Phase 1, vous aurez des données réelles — baseline pilote, rapport qualité, premier bilan du DGO — pour prendre une décision éclairée sur les Phases 2 et 3. Je suis maintenant disponible pour vos questions."</a:t>
            </a:r>
            <a:endParaRPr/>
          </a:p>
        </p:txBody>
      </p:sp>
      <p:sp>
        <p:nvSpPr>
          <p:cNvPr id="277" name="Google Shape;27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432c3de3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"Bonjour. Je vais vous présenter aujourd'hui un programme de gouvernance des données pour Spotify — une entreprise que tout le monde connaît pour la qualité de ses recommandations musicales, mais dont peu de gens savent que les structures de gouvernance de la donnée n'ont pas suivi le rythme de sa croissance. Mon objectif : vous convaincre que la gouvernance n'est pas une contrainte, c'est le moteur de la confiance, et la confiance est le carburant de l'innovation de Spotify."</a:t>
            </a:r>
            <a:br>
              <a:rPr lang="en-US"/>
            </a:br>
            <a:r>
              <a:rPr lang="en-US"/>
              <a:t>Transition : "Commençons par le contexte.”</a:t>
            </a:r>
            <a:endParaRPr/>
          </a:p>
        </p:txBody>
      </p:sp>
      <p:sp>
        <p:nvSpPr>
          <p:cNvPr id="293" name="Google Shape;293;g3d432c3de3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432c3de39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"Ces chiffres sont publics — rapport T4 2024 de Spotify. Ce que je veux souligner, c'est le paradoxe : Spotify est profitable pour la première fois de son histoire, et c'est précisément ce moment qu'il faut choisir pour investir dans la gouvernance. Pourquoi ? Parce que la gouvernance en mode 'crise' coûte 10 fois plus cher qu'en mode 'proactif'. Et le secteur en a fait la démonstration : Netflix a été condamné à 4,75 millions EUR en 2024 pour manque de transparence sur ses données. Deezer a subi une fuite de 46 millions de profils. Spotify a déjà été enquêté en Allemagne pour des délais de réponse aux demandes d'accès trop longs. Le risque est réel."</a:t>
            </a:r>
            <a:br>
              <a:rPr lang="en-US"/>
            </a:br>
            <a:r>
              <a:rPr lang="en-US"/>
              <a:t>Transition : "Voyons maintenant où en est Spotify exactement.”</a:t>
            </a:r>
            <a:endParaRPr/>
          </a:p>
        </p:txBody>
      </p:sp>
      <p:sp>
        <p:nvSpPr>
          <p:cNvPr id="299" name="Google Shape;299;g3d432c3de39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d432c3de39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"Pourquoi commencer par les métadonnées de recommandation ? Parce que c'est le périmètre où l'impact est directement mesurable et directement lié au cœur du business. Si on améliore la qualité des métadonnées qui alimentent Discover Weekly, on améliore les recommandations, on réduit le churn, et on peut quantifier le ROI du programme dès la Phase 2. C'est le quick win le plus puissant. Et si le pilote échoue — j'ai prévu des critères d'arrêt clairs — on ajuste avant de scaler. On ne peut pas échouer au niveau global si on commence par valider au niveau local."</a:t>
            </a:r>
            <a:br>
              <a:rPr lang="en-US"/>
            </a:br>
            <a:r>
              <a:rPr lang="en-US"/>
              <a:t>Transition : "Voici ce que tout cela représente en termes d'impact financier."</a:t>
            </a:r>
            <a:endParaRPr/>
          </a:p>
        </p:txBody>
      </p:sp>
      <p:sp>
        <p:nvSpPr>
          <p:cNvPr id="328" name="Google Shape;328;g3d432c3de39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d432c3de39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"Pourquoi commencer par les métadonnées de recommandation ? Parce que c'est le périmètre où l'impact est directement mesurable et directement lié au cœur du business. Si on améliore la qualité des métadonnées qui alimentent Discover Weekly, on améliore les recommandations, on réduit le churn, et on peut quantifier le ROI du programme dès la Phase 2. C'est le quick win le plus puissant. Et si le pilote échoue — j'ai prévu des critères d'arrêt clairs — on ajuste avant de scaler. On ne peut pas échouer au niveau global si on commence par valider au niveau local."</a:t>
            </a:r>
            <a:br>
              <a:rPr lang="en-US"/>
            </a:br>
            <a:r>
              <a:rPr lang="en-US"/>
              <a:t>Transition : "Voici ce que tout cela représente en termes d'impact financier."</a:t>
            </a:r>
            <a:endParaRPr/>
          </a:p>
        </p:txBody>
      </p:sp>
      <p:sp>
        <p:nvSpPr>
          <p:cNvPr id="355" name="Google Shape;355;g3d432c3de39_0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d432c3de39_0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"Pourquoi commencer par les métadonnées de recommandation ? Parce que c'est le périmètre où l'impact est directement mesurable et directement lié au cœur du business. Si on améliore la qualité des métadonnées qui alimentent Discover Weekly, on améliore les recommandations, on réduit le churn, et on peut quantifier le ROI du programme dès la Phase 2. C'est le quick win le plus puissant. Et si le pilote échoue — j'ai prévu des critères d'arrêt clairs — on ajuste avant de scaler. On ne peut pas échouer au niveau global si on commence par valider au niveau local."</a:t>
            </a:r>
            <a:br>
              <a:rPr lang="en-US"/>
            </a:br>
            <a:r>
              <a:rPr lang="en-US"/>
              <a:t>Transition : "Voici ce que tout cela représente en termes d'impact financier."</a:t>
            </a:r>
            <a:endParaRPr/>
          </a:p>
        </p:txBody>
      </p:sp>
      <p:sp>
        <p:nvSpPr>
          <p:cNvPr id="377" name="Google Shape;377;g3d432c3de39_0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432c3de39_0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"Ce tableau illustre un contraste saisissant. Spotify est au niveau 5 en Analytics — les algorithmes Discover Weekly et Wrapped sont reconnus mondialement. Mais elle est au niveau 2 en Gouvernance et Intégration. C'est comme avoir une Formule 1 avec un moteur extraordinaire, mais des freins défaillants. L'objectif de ce programme est de passer ces deux dimensions critiques de 2 à 4 en 18 mois — pas 5, je reste réaliste — avec un score global de 4/5."</a:t>
            </a:r>
            <a:br>
              <a:rPr lang="en-US"/>
            </a:br>
            <a:r>
              <a:rPr lang="en-US"/>
              <a:t>Transition : "Pour y parvenir, j'ai sélectionné un modèle organisationnel spécifique."</a:t>
            </a:r>
            <a:endParaRPr/>
          </a:p>
        </p:txBody>
      </p:sp>
      <p:sp>
        <p:nvSpPr>
          <p:cNvPr id="384" name="Google Shape;384;g3d432c3de39_0_2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46f7dc534_4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g3d46f7dc534_4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d46f7dc534_4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"Bonjour. Je vais vous présenter aujourd'hui un programme de gouvernance des données pour Spotify — une entreprise que tout le monde connaît pour la qualité de ses recommandations musicales, mais dont peu de gens savent que les structures de gouvernance de la donnée n'ont pas suivi le rythme de sa croissance. Mon objectif : vous convaincre que la gouvernance n'est pas une contrainte, c'est le moteur de la confiance, et la confiance est le carburant de l'innovation de Spotify."</a:t>
            </a:r>
            <a:br>
              <a:rPr lang="en-US"/>
            </a:br>
            <a:r>
              <a:rPr lang="en-US"/>
              <a:t>Transition : "Commençons par le contexte.”</a:t>
            </a:r>
            <a:endParaRPr/>
          </a:p>
        </p:txBody>
      </p:sp>
      <p:sp>
        <p:nvSpPr>
          <p:cNvPr id="417" name="Google Shape;417;g3d46f7dc534_4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46f7dc534_5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"Ces chiffres sont publics — rapport T4 2024 de Spotify. Ce que je veux souligner, c'est le paradoxe : Spotify est profitable pour la première fois de son histoire, et c'est précisément ce moment qu'il faut choisir pour investir dans la gouvernance. Pourquoi ? Parce que la gouvernance en mode 'crise' coûte 10 fois plus cher qu'en mode 'proactif'. Et le secteur en a fait la démonstration : Netflix a été condamné à 4,75 millions EUR en 2024 pour manque de transparence sur ses données. Deezer a subi une fuite de 46 millions de profils. Spotify a déjà été enquêté en Allemagne pour des délais de réponse aux demandes d'accès trop longs. Le risque est réel."</a:t>
            </a:r>
            <a:br>
              <a:rPr lang="en-US"/>
            </a:br>
            <a:r>
              <a:rPr lang="en-US"/>
              <a:t>Transition : "Voyons maintenant où en est Spotify exactement.”</a:t>
            </a:r>
            <a:endParaRPr/>
          </a:p>
        </p:txBody>
      </p:sp>
      <p:sp>
        <p:nvSpPr>
          <p:cNvPr id="423" name="Google Shape;423;g3d46f7dc534_5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d46f7dc534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3d46f7dc534_5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d46f7dc534_5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"Ce tableau illustre un contraste saisissant. Spotify est au niveau 5 en Analytics — les algorithmes Discover Weekly et Wrapped sont reconnus mondialement. Mais elle est au niveau 2 en Gouvernance et Intégration. C'est comme avoir une Formule 1 avec un moteur extraordinaire, mais des freins défaillants. L'objectif de ce programme est de passer ces deux dimensions critiques de 2 à 4 en 18 mois — pas 5, je reste réaliste — avec un score global de 4/5."</a:t>
            </a:r>
            <a:br>
              <a:rPr lang="en-US"/>
            </a:br>
            <a:r>
              <a:rPr lang="en-US"/>
              <a:t>Transition : "Pour y parvenir, j'ai sélectionné un modèle organisationnel spécifique."</a:t>
            </a:r>
            <a:endParaRPr/>
          </a:p>
        </p:txBody>
      </p:sp>
      <p:sp>
        <p:nvSpPr>
          <p:cNvPr id="454" name="Google Shape;454;g3d46f7dc534_5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d46f7dc534_5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g3d46f7dc534_5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d46f7dc534_5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"Bonjour. Je vais vous présenter aujourd'hui un programme de gouvernance des données pour Spotify — une entreprise que tout le monde connaît pour la qualité de ses recommandations musicales, mais dont peu de gens savent que les structures de gouvernance de la donnée n'ont pas suivi le rythme de sa croissance. Mon objectif : vous convaincre que la gouvernance n'est pas une contrainte, c'est le moteur de la confiance, et la confiance est le carburant de l'innovation de Spotify."</a:t>
            </a:r>
            <a:br>
              <a:rPr lang="en-US"/>
            </a:br>
            <a:r>
              <a:rPr lang="en-US"/>
              <a:t>Transition : "Commençons par le contexte.”</a:t>
            </a:r>
            <a:endParaRPr/>
          </a:p>
        </p:txBody>
      </p:sp>
      <p:sp>
        <p:nvSpPr>
          <p:cNvPr id="489" name="Google Shape;489;g3d46f7dc534_5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d46f7dc534_5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"Ces chiffres sont publics — rapport T4 2024 de Spotify. Ce que je veux souligner, c'est le paradoxe : Spotify est profitable pour la première fois de son histoire, et c'est précisément ce moment qu'il faut choisir pour investir dans la gouvernance. Pourquoi ? Parce que la gouvernance en mode 'crise' coûte 10 fois plus cher qu'en mode 'proactif'. Et le secteur en a fait la démonstration : Netflix a été condamné à 4,75 millions EUR en 2024 pour manque de transparence sur ses données. Deezer a subi une fuite de 46 millions de profils. Spotify a déjà été enquêté en Allemagne pour des délais de réponse aux demandes d'accès trop longs. Le risque est réel."</a:t>
            </a:r>
            <a:br>
              <a:rPr lang="en-US"/>
            </a:br>
            <a:r>
              <a:rPr lang="en-US"/>
              <a:t>Transition : "Voyons maintenant où en est Spotify exactement.”</a:t>
            </a:r>
            <a:endParaRPr/>
          </a:p>
        </p:txBody>
      </p:sp>
      <p:sp>
        <p:nvSpPr>
          <p:cNvPr id="495" name="Google Shape;495;g3d46f7dc534_5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d46f7dc534_5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"Ce tableau illustre un contraste saisissant. Spotify est au niveau 5 en Analytics — les algorithmes Discover Weekly et Wrapped sont reconnus mondialement. Mais elle est au niveau 2 en Gouvernance et Intégration. C'est comme avoir une Formule 1 avec un moteur extraordinaire, mais des freins défaillants. L'objectif de ce programme est de passer ces deux dimensions critiques de 2 à 4 en 18 mois — pas 5, je reste réaliste — avec un score global de 4/5."</a:t>
            </a:r>
            <a:br>
              <a:rPr lang="en-US"/>
            </a:br>
            <a:r>
              <a:rPr lang="en-US"/>
              <a:t>Transition : "Pour y parvenir, j'ai sélectionné un modèle organisationnel spécifique."</a:t>
            </a:r>
            <a:endParaRPr/>
          </a:p>
        </p:txBody>
      </p:sp>
      <p:sp>
        <p:nvSpPr>
          <p:cNvPr id="520" name="Google Shape;520;g3d46f7dc534_5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d46f7dc534_5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g3d46f7dc534_5_2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d46f7dc534_5_3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US"/>
              <a:t>"Ce tableau illustre un contraste saisissant. Spotify est au niveau 5 en Analytics — les algorithmes Discover Weekly et Wrapped sont reconnus mondialement. Mais elle est au niveau 2 en Gouvernance et Intégration. C'est comme avoir une Formule 1 avec un moteur extraordinaire, mais des freins défaillants. L'objectif de ce programme est de passer ces deux dimensions critiques de 2 à 4 en 18 mois — pas 5, je reste réaliste — avec un score global de 4/5."</a:t>
            </a:r>
            <a:br>
              <a:rPr lang="en-US"/>
            </a:br>
            <a:r>
              <a:rPr lang="en-US"/>
              <a:t>Transition : "Pour y parvenir, j'ai sélectionné un modèle organisationnel spécifique."</a:t>
            </a:r>
            <a:endParaRPr/>
          </a:p>
        </p:txBody>
      </p:sp>
      <p:sp>
        <p:nvSpPr>
          <p:cNvPr id="534" name="Google Shape;534;g3d46f7dc534_5_3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d46f7dc534_5_4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t/>
            </a:r>
            <a:endParaRPr/>
          </a:p>
        </p:txBody>
      </p:sp>
      <p:sp>
        <p:nvSpPr>
          <p:cNvPr id="560" name="Google Shape;560;g3d46f7dc534_5_4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d46f7dc534_5_2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2" name="Google Shape;572;g3d46f7dc534_5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www.youtube.com/watch?v=a4j-gr6q8tU" TargetMode="External"/><Relationship Id="rId4" Type="http://schemas.openxmlformats.org/officeDocument/2006/relationships/image" Target="../media/image2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www.youtube.com/watch?v=wguotXaYO0Q" TargetMode="External"/><Relationship Id="rId4" Type="http://schemas.openxmlformats.org/officeDocument/2006/relationships/image" Target="../media/image2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83" name="Shape 83"/>
        <p:cNvGrpSpPr/>
        <p:nvPr/>
      </p:nvGrpSpPr>
      <p:grpSpPr>
        <a:xfrm>
          <a:off x="0" y="0"/>
          <a:ext cx="0" cy="0"/>
          <a:chOff x="0" y="0"/>
          <a:chExt cx="0" cy="0"/>
        </a:xfrm>
      </p:grpSpPr>
      <p:sp>
        <p:nvSpPr>
          <p:cNvPr id="84" name="Google Shape;84;p1"/>
          <p:cNvSpPr/>
          <p:nvPr/>
        </p:nvSpPr>
        <p:spPr>
          <a:xfrm>
            <a:off x="756000" y="1908000"/>
            <a:ext cx="7488000" cy="180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p:nvPr/>
        </p:nvSpPr>
        <p:spPr>
          <a:xfrm>
            <a:off x="827999" y="1728000"/>
            <a:ext cx="7488000" cy="1872000"/>
          </a:xfrm>
          <a:prstGeom prst="rect">
            <a:avLst/>
          </a:prstGeom>
          <a:solidFill>
            <a:schemeClr val="lt1"/>
          </a:solidFill>
          <a:ln cap="flat" cmpd="sng" w="9525">
            <a:solidFill>
              <a:schemeClr val="accen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Rubik"/>
                <a:ea typeface="Rubik"/>
                <a:cs typeface="Rubik"/>
                <a:sym typeface="Rubik"/>
              </a:rPr>
              <a:t>Gouvernance des Données</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800"/>
              </a:spcBef>
              <a:spcAft>
                <a:spcPts val="0"/>
              </a:spcAft>
              <a:buClr>
                <a:srgbClr val="000000"/>
              </a:buClr>
              <a:buSzPts val="2400"/>
              <a:buFont typeface="Arial"/>
              <a:buNone/>
            </a:pPr>
            <a:r>
              <a:rPr b="1" i="0" lang="en-US" sz="2400" u="none" cap="none" strike="noStrike">
                <a:solidFill>
                  <a:srgbClr val="26DBE0"/>
                </a:solidFill>
                <a:latin typeface="Rubik"/>
                <a:ea typeface="Rubik"/>
                <a:cs typeface="Rubik"/>
                <a:sym typeface="Rubik"/>
              </a:rPr>
              <a:t>De la Fragmentation à la Confiance chez Spotify</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2000"/>
              </a:spcBef>
              <a:spcAft>
                <a:spcPts val="0"/>
              </a:spcAft>
              <a:buClr>
                <a:srgbClr val="000000"/>
              </a:buClr>
              <a:buSzPts val="1200"/>
              <a:buFont typeface="Arial"/>
              <a:buNone/>
            </a:pPr>
            <a:r>
              <a:rPr b="0" i="0" lang="en-US" sz="1200" u="none" cap="none" strike="noStrike">
                <a:solidFill>
                  <a:schemeClr val="dk1"/>
                </a:solidFill>
                <a:latin typeface="Rubik"/>
                <a:ea typeface="Rubik"/>
                <a:cs typeface="Rubik"/>
                <a:sym typeface="Rubik"/>
              </a:rPr>
              <a:t>Certification AIA — Bloc 1 : Concevoir et Piloter la Gouvernance des Données</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200"/>
              <a:buFont typeface="Arial"/>
              <a:buNone/>
            </a:pPr>
            <a:r>
              <a:rPr b="0" i="0" lang="en-US" sz="1200" u="none" cap="none" strike="noStrike">
                <a:solidFill>
                  <a:schemeClr val="dk1"/>
                </a:solidFill>
                <a:latin typeface="Rubik"/>
                <a:ea typeface="Rubik"/>
                <a:cs typeface="Rubik"/>
                <a:sym typeface="Rubik"/>
              </a:rPr>
              <a:t>Mathis GENTHON  |  7 Avril 2026</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89" name="Shape 89"/>
        <p:cNvGrpSpPr/>
        <p:nvPr/>
      </p:nvGrpSpPr>
      <p:grpSpPr>
        <a:xfrm>
          <a:off x="0" y="0"/>
          <a:ext cx="0" cy="0"/>
          <a:chOff x="0" y="0"/>
          <a:chExt cx="0" cy="0"/>
        </a:xfrm>
      </p:grpSpPr>
      <p:sp>
        <p:nvSpPr>
          <p:cNvPr id="90" name="Google Shape;90;p2"/>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2"/>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LE DÉFI : UNE CROISSANCE PLUS RAPIDE QUE LA GOUVERNANCE EN 2024</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576000" y="226345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2"/>
          <p:cNvSpPr/>
          <p:nvPr/>
        </p:nvSpPr>
        <p:spPr>
          <a:xfrm>
            <a:off x="648000" y="2335450"/>
            <a:ext cx="2340000" cy="612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UTILISATEURS</a:t>
            </a:r>
            <a:endParaRPr b="0" i="0" sz="1400" u="none" cap="none" strike="noStrike">
              <a:solidFill>
                <a:srgbClr val="000000"/>
              </a:solidFill>
              <a:latin typeface="Arial"/>
              <a:ea typeface="Arial"/>
              <a:cs typeface="Arial"/>
              <a:sym typeface="Arial"/>
            </a:endParaRPr>
          </a:p>
        </p:txBody>
      </p:sp>
      <p:sp>
        <p:nvSpPr>
          <p:cNvPr id="94" name="Google Shape;94;p2"/>
          <p:cNvSpPr/>
          <p:nvPr/>
        </p:nvSpPr>
        <p:spPr>
          <a:xfrm>
            <a:off x="3420000" y="226345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2"/>
          <p:cNvSpPr/>
          <p:nvPr/>
        </p:nvSpPr>
        <p:spPr>
          <a:xfrm>
            <a:off x="3492000" y="2335450"/>
            <a:ext cx="2340000" cy="612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REVENUS</a:t>
            </a:r>
            <a:endParaRPr b="0" i="0" sz="1400" u="none" cap="none" strike="noStrike">
              <a:solidFill>
                <a:srgbClr val="000000"/>
              </a:solidFill>
              <a:latin typeface="Arial"/>
              <a:ea typeface="Arial"/>
              <a:cs typeface="Arial"/>
              <a:sym typeface="Arial"/>
            </a:endParaRPr>
          </a:p>
        </p:txBody>
      </p:sp>
      <p:sp>
        <p:nvSpPr>
          <p:cNvPr id="96" name="Google Shape;96;p2"/>
          <p:cNvSpPr/>
          <p:nvPr/>
        </p:nvSpPr>
        <p:spPr>
          <a:xfrm>
            <a:off x="6228000" y="226345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p:nvPr/>
        </p:nvSpPr>
        <p:spPr>
          <a:xfrm>
            <a:off x="6300000" y="2335450"/>
            <a:ext cx="2340000" cy="612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RISQUE</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396000" y="3127450"/>
            <a:ext cx="2592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6DBE0"/>
                </a:solidFill>
                <a:latin typeface="Rubik"/>
                <a:ea typeface="Rubik"/>
                <a:cs typeface="Rubik"/>
                <a:sym typeface="Rubik"/>
              </a:rPr>
              <a:t>675M </a:t>
            </a:r>
            <a:r>
              <a:rPr b="1" i="0" lang="en-US" sz="1000" u="none" cap="none" strike="noStrike">
                <a:solidFill>
                  <a:schemeClr val="dk1"/>
                </a:solidFill>
                <a:latin typeface="Rubik"/>
                <a:ea typeface="Rubik"/>
                <a:cs typeface="Rubik"/>
                <a:sym typeface="Rubik"/>
              </a:rPr>
              <a:t>utilisateurs</a:t>
            </a:r>
            <a:r>
              <a:rPr b="1" i="0" lang="en-US" sz="1000" u="none" cap="none" strike="noStrike">
                <a:solidFill>
                  <a:srgbClr val="000000"/>
                </a:solidFill>
                <a:latin typeface="Rubik"/>
                <a:ea typeface="Rubik"/>
                <a:cs typeface="Rubik"/>
                <a:sym typeface="Rubik"/>
              </a:rPr>
              <a:t> actifs mensuels (+12 % vs 2023)</a:t>
            </a:r>
            <a:endParaRPr b="0" i="0" sz="1400" u="none" cap="none" strike="noStrike">
              <a:solidFill>
                <a:srgbClr val="000000"/>
              </a:solidFill>
              <a:latin typeface="Arial"/>
              <a:ea typeface="Arial"/>
              <a:cs typeface="Arial"/>
              <a:sym typeface="Arial"/>
            </a:endParaRPr>
          </a:p>
        </p:txBody>
      </p:sp>
      <p:sp>
        <p:nvSpPr>
          <p:cNvPr id="99" name="Google Shape;99;p2"/>
          <p:cNvSpPr/>
          <p:nvPr/>
        </p:nvSpPr>
        <p:spPr>
          <a:xfrm>
            <a:off x="396000" y="3559450"/>
            <a:ext cx="2592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6DBE0"/>
                </a:solidFill>
                <a:latin typeface="Rubik"/>
                <a:ea typeface="Rubik"/>
                <a:cs typeface="Rubik"/>
                <a:sym typeface="Rubik"/>
              </a:rPr>
              <a:t>263M</a:t>
            </a:r>
            <a:r>
              <a:rPr b="1" i="0" lang="en-US" sz="1000" u="none" cap="none" strike="noStrike">
                <a:solidFill>
                  <a:srgbClr val="000000"/>
                </a:solidFill>
                <a:latin typeface="Rubik"/>
                <a:ea typeface="Rubik"/>
                <a:cs typeface="Rubik"/>
                <a:sym typeface="Rubik"/>
              </a:rPr>
              <a:t> abonnés Premium (+11 %)</a:t>
            </a:r>
            <a:endParaRPr b="0" i="0" sz="1400" u="none" cap="none" strike="noStrike">
              <a:solidFill>
                <a:srgbClr val="000000"/>
              </a:solidFill>
              <a:latin typeface="Arial"/>
              <a:ea typeface="Arial"/>
              <a:cs typeface="Arial"/>
              <a:sym typeface="Arial"/>
            </a:endParaRPr>
          </a:p>
        </p:txBody>
      </p:sp>
      <p:sp>
        <p:nvSpPr>
          <p:cNvPr id="100" name="Google Shape;100;p2"/>
          <p:cNvSpPr/>
          <p:nvPr/>
        </p:nvSpPr>
        <p:spPr>
          <a:xfrm>
            <a:off x="3276000" y="3127450"/>
            <a:ext cx="2592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329DE"/>
                </a:solidFill>
                <a:latin typeface="Rubik"/>
                <a:ea typeface="Rubik"/>
                <a:cs typeface="Rubik"/>
                <a:sym typeface="Rubik"/>
              </a:rPr>
              <a:t>15,67 Md</a:t>
            </a:r>
            <a:r>
              <a:rPr b="1" i="0" lang="en-US" sz="1000" u="none" cap="none" strike="noStrike">
                <a:solidFill>
                  <a:srgbClr val="000000"/>
                </a:solidFill>
                <a:latin typeface="Rubik"/>
                <a:ea typeface="Rubik"/>
                <a:cs typeface="Rubik"/>
                <a:sym typeface="Rubik"/>
              </a:rPr>
              <a:t> EUR de chiffre d'affaires</a:t>
            </a:r>
            <a:endParaRPr b="0" i="0" sz="1400" u="none" cap="none" strike="noStrike">
              <a:solidFill>
                <a:srgbClr val="000000"/>
              </a:solidFill>
              <a:latin typeface="Arial"/>
              <a:ea typeface="Arial"/>
              <a:cs typeface="Arial"/>
              <a:sym typeface="Arial"/>
            </a:endParaRPr>
          </a:p>
        </p:txBody>
      </p:sp>
      <p:sp>
        <p:nvSpPr>
          <p:cNvPr id="101" name="Google Shape;101;p2"/>
          <p:cNvSpPr/>
          <p:nvPr/>
        </p:nvSpPr>
        <p:spPr>
          <a:xfrm>
            <a:off x="3276000" y="3559450"/>
            <a:ext cx="2592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329DE"/>
                </a:solidFill>
                <a:latin typeface="Rubik"/>
                <a:ea typeface="Rubik"/>
                <a:cs typeface="Rubik"/>
                <a:sym typeface="Rubik"/>
              </a:rPr>
              <a:t>1ère</a:t>
            </a:r>
            <a:r>
              <a:rPr b="1" i="0" lang="en-US" sz="1000" u="none" cap="none" strike="noStrike">
                <a:solidFill>
                  <a:srgbClr val="000000"/>
                </a:solidFill>
                <a:latin typeface="Rubik"/>
                <a:ea typeface="Rubik"/>
                <a:cs typeface="Rubik"/>
                <a:sym typeface="Rubik"/>
              </a:rPr>
              <a:t> année entièrement profitable</a:t>
            </a:r>
            <a:endParaRPr b="0" i="0" sz="1400" u="none" cap="none" strike="noStrike">
              <a:solidFill>
                <a:srgbClr val="000000"/>
              </a:solidFill>
              <a:latin typeface="Arial"/>
              <a:ea typeface="Arial"/>
              <a:cs typeface="Arial"/>
              <a:sym typeface="Arial"/>
            </a:endParaRPr>
          </a:p>
        </p:txBody>
      </p:sp>
      <p:sp>
        <p:nvSpPr>
          <p:cNvPr id="102" name="Google Shape;102;p2"/>
          <p:cNvSpPr/>
          <p:nvPr/>
        </p:nvSpPr>
        <p:spPr>
          <a:xfrm>
            <a:off x="6156000" y="3127450"/>
            <a:ext cx="2808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Vues utilisateurs </a:t>
            </a:r>
            <a:r>
              <a:rPr b="1" i="0" lang="en-US" sz="900" u="none" cap="none" strike="noStrike">
                <a:solidFill>
                  <a:srgbClr val="282AFF"/>
                </a:solidFill>
                <a:latin typeface="Rubik"/>
                <a:ea typeface="Rubik"/>
                <a:cs typeface="Rubik"/>
                <a:sym typeface="Rubik"/>
              </a:rPr>
              <a:t>contradictoires</a:t>
            </a:r>
            <a:r>
              <a:rPr b="1" i="0" lang="en-US" sz="900" u="none" cap="none" strike="noStrike">
                <a:solidFill>
                  <a:srgbClr val="000000"/>
                </a:solidFill>
                <a:latin typeface="Rubik"/>
                <a:ea typeface="Rubik"/>
                <a:cs typeface="Rubik"/>
                <a:sym typeface="Rubik"/>
              </a:rPr>
              <a:t> entre BU</a:t>
            </a:r>
            <a:endParaRPr b="0" i="0" sz="1400" u="none" cap="none" strike="noStrike">
              <a:solidFill>
                <a:srgbClr val="000000"/>
              </a:solidFill>
              <a:latin typeface="Arial"/>
              <a:ea typeface="Arial"/>
              <a:cs typeface="Arial"/>
              <a:sym typeface="Arial"/>
            </a:endParaRPr>
          </a:p>
        </p:txBody>
      </p:sp>
      <p:sp>
        <p:nvSpPr>
          <p:cNvPr id="103" name="Google Shape;103;p2"/>
          <p:cNvSpPr/>
          <p:nvPr/>
        </p:nvSpPr>
        <p:spPr>
          <a:xfrm>
            <a:off x="6156000" y="3559450"/>
            <a:ext cx="2808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Amendes potentielles : </a:t>
            </a:r>
            <a:r>
              <a:rPr b="1" i="0" lang="en-US" sz="900" u="none" cap="none" strike="noStrike">
                <a:solidFill>
                  <a:srgbClr val="282AFF"/>
                </a:solidFill>
                <a:latin typeface="Rubik"/>
                <a:ea typeface="Rubik"/>
                <a:cs typeface="Rubik"/>
                <a:sym typeface="Rubik"/>
              </a:rPr>
              <a:t>628M</a:t>
            </a:r>
            <a:r>
              <a:rPr b="1" i="0" lang="en-US" sz="900" u="none" cap="none" strike="noStrike">
                <a:solidFill>
                  <a:srgbClr val="000000"/>
                </a:solidFill>
                <a:latin typeface="Rubik"/>
                <a:ea typeface="Rubik"/>
                <a:cs typeface="Rubik"/>
                <a:sym typeface="Rubik"/>
              </a:rPr>
              <a:t> EUR (4 % CA)</a:t>
            </a:r>
            <a:endParaRPr b="0" i="0" sz="1400" u="none" cap="none" strike="noStrike">
              <a:solidFill>
                <a:srgbClr val="000000"/>
              </a:solidFill>
              <a:latin typeface="Arial"/>
              <a:ea typeface="Arial"/>
              <a:cs typeface="Arial"/>
              <a:sym typeface="Arial"/>
            </a:endParaRPr>
          </a:p>
        </p:txBody>
      </p:sp>
      <p:sp>
        <p:nvSpPr>
          <p:cNvPr id="104" name="Google Shape;104;p2"/>
          <p:cNvSpPr/>
          <p:nvPr/>
        </p:nvSpPr>
        <p:spPr>
          <a:xfrm>
            <a:off x="396000" y="4266375"/>
            <a:ext cx="8280000" cy="360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Aucune mesure formelle de qualité des métadonnées alimentant Discover Weekly</a:t>
            </a:r>
            <a:endParaRPr b="0" i="0" sz="1400" u="none" cap="none" strike="noStrike">
              <a:solidFill>
                <a:srgbClr val="000000"/>
              </a:solidFill>
              <a:latin typeface="Arial"/>
              <a:ea typeface="Arial"/>
              <a:cs typeface="Arial"/>
              <a:sym typeface="Arial"/>
            </a:endParaRPr>
          </a:p>
        </p:txBody>
      </p:sp>
      <p:pic>
        <p:nvPicPr>
          <p:cNvPr id="105" name="Google Shape;105;p2"/>
          <p:cNvPicPr preferRelativeResize="0"/>
          <p:nvPr/>
        </p:nvPicPr>
        <p:blipFill rotWithShape="1">
          <a:blip r:embed="rId3">
            <a:alphaModFix/>
          </a:blip>
          <a:srcRect b="0" l="0" r="0" t="0"/>
          <a:stretch/>
        </p:blipFill>
        <p:spPr>
          <a:xfrm>
            <a:off x="1152075" y="1095801"/>
            <a:ext cx="1079838" cy="1079838"/>
          </a:xfrm>
          <a:prstGeom prst="rect">
            <a:avLst/>
          </a:prstGeom>
          <a:noFill/>
          <a:ln>
            <a:noFill/>
          </a:ln>
        </p:spPr>
      </p:pic>
      <p:pic>
        <p:nvPicPr>
          <p:cNvPr id="106" name="Google Shape;106;p2"/>
          <p:cNvPicPr preferRelativeResize="0"/>
          <p:nvPr/>
        </p:nvPicPr>
        <p:blipFill rotWithShape="1">
          <a:blip r:embed="rId4">
            <a:alphaModFix/>
          </a:blip>
          <a:srcRect b="0" l="0" r="0" t="0"/>
          <a:stretch/>
        </p:blipFill>
        <p:spPr>
          <a:xfrm>
            <a:off x="4070175" y="1095837"/>
            <a:ext cx="1863049" cy="1216688"/>
          </a:xfrm>
          <a:prstGeom prst="rect">
            <a:avLst/>
          </a:prstGeom>
          <a:noFill/>
          <a:ln>
            <a:noFill/>
          </a:ln>
        </p:spPr>
      </p:pic>
      <p:pic>
        <p:nvPicPr>
          <p:cNvPr id="107" name="Google Shape;107;p2"/>
          <p:cNvPicPr preferRelativeResize="0"/>
          <p:nvPr/>
        </p:nvPicPr>
        <p:blipFill rotWithShape="1">
          <a:blip r:embed="rId5">
            <a:alphaModFix/>
          </a:blip>
          <a:srcRect b="0" l="0" r="0" t="0"/>
          <a:stretch/>
        </p:blipFill>
        <p:spPr>
          <a:xfrm>
            <a:off x="6823212" y="1154549"/>
            <a:ext cx="1473577" cy="9623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111" name="Shape 111"/>
        <p:cNvGrpSpPr/>
        <p:nvPr/>
      </p:nvGrpSpPr>
      <p:grpSpPr>
        <a:xfrm>
          <a:off x="0" y="0"/>
          <a:ext cx="0" cy="0"/>
          <a:chOff x="0" y="0"/>
          <a:chExt cx="0" cy="0"/>
        </a:xfrm>
      </p:grpSpPr>
      <p:sp>
        <p:nvSpPr>
          <p:cNvPr id="112" name="Google Shape;112;p3"/>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 name="Google Shape;113;p3"/>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ÉTAT DES LIEUX : LE PARADOXE SPOTIFY</a:t>
            </a:r>
            <a:endParaRPr b="0" i="0" sz="1400" u="none" cap="none" strike="noStrike">
              <a:solidFill>
                <a:srgbClr val="000000"/>
              </a:solidFill>
              <a:latin typeface="Arial"/>
              <a:ea typeface="Arial"/>
              <a:cs typeface="Arial"/>
              <a:sym typeface="Arial"/>
            </a:endParaRPr>
          </a:p>
        </p:txBody>
      </p:sp>
      <p:sp>
        <p:nvSpPr>
          <p:cNvPr id="114" name="Google Shape;114;p3"/>
          <p:cNvSpPr/>
          <p:nvPr/>
        </p:nvSpPr>
        <p:spPr>
          <a:xfrm>
            <a:off x="6824275" y="3297238"/>
            <a:ext cx="1908000" cy="68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p:nvPr/>
        </p:nvSpPr>
        <p:spPr>
          <a:xfrm>
            <a:off x="6896275" y="3225238"/>
            <a:ext cx="1908000" cy="68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Rubik SemiBold"/>
                <a:ea typeface="Rubik SemiBold"/>
                <a:cs typeface="Rubik SemiBold"/>
                <a:sym typeface="Rubik SemiBold"/>
              </a:rPr>
              <a:t>DMBOK v2</a:t>
            </a:r>
            <a:br>
              <a:rPr b="0" i="0" lang="en-US" sz="1100" u="none" cap="none" strike="noStrike">
                <a:solidFill>
                  <a:srgbClr val="000000"/>
                </a:solidFill>
                <a:latin typeface="Rubik SemiBold"/>
                <a:ea typeface="Rubik SemiBold"/>
                <a:cs typeface="Rubik SemiBold"/>
                <a:sym typeface="Rubik SemiBold"/>
              </a:rPr>
            </a:br>
            <a:r>
              <a:rPr b="0" i="0" lang="en-US" sz="1100" u="none" cap="none" strike="noStrike">
                <a:solidFill>
                  <a:srgbClr val="000000"/>
                </a:solidFill>
                <a:latin typeface="Rubik SemiBold"/>
                <a:ea typeface="Rubik SemiBold"/>
                <a:cs typeface="Rubik SemiBold"/>
                <a:sym typeface="Rubik SemiBold"/>
              </a:rPr>
              <a:t>DAMA International</a:t>
            </a:r>
            <a:endParaRPr b="0" i="0" sz="1400" u="none" cap="none" strike="noStrike">
              <a:solidFill>
                <a:srgbClr val="000000"/>
              </a:solidFill>
              <a:latin typeface="Arial"/>
              <a:ea typeface="Arial"/>
              <a:cs typeface="Arial"/>
              <a:sym typeface="Arial"/>
            </a:endParaRPr>
          </a:p>
        </p:txBody>
      </p:sp>
      <p:sp>
        <p:nvSpPr>
          <p:cNvPr id="116" name="Google Shape;116;p3"/>
          <p:cNvSpPr/>
          <p:nvPr/>
        </p:nvSpPr>
        <p:spPr>
          <a:xfrm>
            <a:off x="360000" y="1152000"/>
            <a:ext cx="28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Dimension</a:t>
            </a:r>
            <a:endParaRPr b="0" i="0" sz="1400" u="none" cap="none" strike="noStrike">
              <a:solidFill>
                <a:srgbClr val="000000"/>
              </a:solidFill>
              <a:latin typeface="Arial"/>
              <a:ea typeface="Arial"/>
              <a:cs typeface="Arial"/>
              <a:sym typeface="Arial"/>
            </a:endParaRPr>
          </a:p>
        </p:txBody>
      </p:sp>
      <p:sp>
        <p:nvSpPr>
          <p:cNvPr id="117" name="Google Shape;117;p3"/>
          <p:cNvSpPr/>
          <p:nvPr/>
        </p:nvSpPr>
        <p:spPr>
          <a:xfrm>
            <a:off x="3311999" y="1152000"/>
            <a:ext cx="10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Actuel</a:t>
            </a:r>
            <a:endParaRPr b="0" i="0" sz="1400" u="none" cap="none" strike="noStrike">
              <a:solidFill>
                <a:srgbClr val="000000"/>
              </a:solidFill>
              <a:latin typeface="Arial"/>
              <a:ea typeface="Arial"/>
              <a:cs typeface="Arial"/>
              <a:sym typeface="Arial"/>
            </a:endParaRPr>
          </a:p>
        </p:txBody>
      </p:sp>
      <p:sp>
        <p:nvSpPr>
          <p:cNvPr id="118" name="Google Shape;118;p3"/>
          <p:cNvSpPr/>
          <p:nvPr/>
        </p:nvSpPr>
        <p:spPr>
          <a:xfrm>
            <a:off x="4464000" y="1152000"/>
            <a:ext cx="144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Cible 18 mois</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360000" y="1548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Analytics &amp; BI</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3311999" y="1548000"/>
            <a:ext cx="10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5</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a:off x="4464000" y="1548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Rubik"/>
                <a:ea typeface="Rubik"/>
                <a:cs typeface="Rubik"/>
                <a:sym typeface="Rubik"/>
              </a:rPr>
              <a:t>5</a:t>
            </a:r>
            <a:endParaRPr b="0" i="0" sz="1400" u="none" cap="none" strike="noStrike">
              <a:solidFill>
                <a:schemeClr val="lt1"/>
              </a:solidFill>
              <a:latin typeface="Arial"/>
              <a:ea typeface="Arial"/>
              <a:cs typeface="Arial"/>
              <a:sym typeface="Arial"/>
            </a:endParaRPr>
          </a:p>
        </p:txBody>
      </p:sp>
      <p:sp>
        <p:nvSpPr>
          <p:cNvPr id="122" name="Google Shape;122;p3"/>
          <p:cNvSpPr/>
          <p:nvPr/>
        </p:nvSpPr>
        <p:spPr>
          <a:xfrm>
            <a:off x="360000" y="1926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Data Literacy</a:t>
            </a:r>
            <a:endParaRPr b="0" i="0" sz="1400" u="none" cap="none" strike="noStrike">
              <a:solidFill>
                <a:srgbClr val="000000"/>
              </a:solidFill>
              <a:latin typeface="Arial"/>
              <a:ea typeface="Arial"/>
              <a:cs typeface="Arial"/>
              <a:sym typeface="Arial"/>
            </a:endParaRPr>
          </a:p>
        </p:txBody>
      </p:sp>
      <p:sp>
        <p:nvSpPr>
          <p:cNvPr id="123" name="Google Shape;123;p3"/>
          <p:cNvSpPr/>
          <p:nvPr/>
        </p:nvSpPr>
        <p:spPr>
          <a:xfrm>
            <a:off x="3311999" y="1926000"/>
            <a:ext cx="10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4</a:t>
            </a:r>
            <a:endParaRPr b="0" i="0" sz="1400" u="none" cap="none" strike="noStrike">
              <a:solidFill>
                <a:srgbClr val="000000"/>
              </a:solidFill>
              <a:latin typeface="Arial"/>
              <a:ea typeface="Arial"/>
              <a:cs typeface="Arial"/>
              <a:sym typeface="Arial"/>
            </a:endParaRPr>
          </a:p>
        </p:txBody>
      </p:sp>
      <p:sp>
        <p:nvSpPr>
          <p:cNvPr id="124" name="Google Shape;124;p3"/>
          <p:cNvSpPr/>
          <p:nvPr/>
        </p:nvSpPr>
        <p:spPr>
          <a:xfrm>
            <a:off x="4464000" y="1926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Rubik"/>
                <a:ea typeface="Rubik"/>
                <a:cs typeface="Rubik"/>
                <a:sym typeface="Rubik"/>
              </a:rPr>
              <a:t>4</a:t>
            </a:r>
            <a:endParaRPr b="0" i="0" sz="1400" u="none" cap="none" strike="noStrike">
              <a:solidFill>
                <a:schemeClr val="lt1"/>
              </a:solidFill>
              <a:latin typeface="Arial"/>
              <a:ea typeface="Arial"/>
              <a:cs typeface="Arial"/>
              <a:sym typeface="Arial"/>
            </a:endParaRPr>
          </a:p>
        </p:txBody>
      </p:sp>
      <p:sp>
        <p:nvSpPr>
          <p:cNvPr id="125" name="Google Shape;125;p3"/>
          <p:cNvSpPr/>
          <p:nvPr/>
        </p:nvSpPr>
        <p:spPr>
          <a:xfrm>
            <a:off x="360000" y="2304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Sécurité des Données</a:t>
            </a:r>
            <a:endParaRPr b="0" i="0" sz="1400" u="none" cap="none" strike="noStrike">
              <a:solidFill>
                <a:srgbClr val="000000"/>
              </a:solidFill>
              <a:latin typeface="Arial"/>
              <a:ea typeface="Arial"/>
              <a:cs typeface="Arial"/>
              <a:sym typeface="Arial"/>
            </a:endParaRPr>
          </a:p>
        </p:txBody>
      </p:sp>
      <p:sp>
        <p:nvSpPr>
          <p:cNvPr id="126" name="Google Shape;126;p3"/>
          <p:cNvSpPr/>
          <p:nvPr/>
        </p:nvSpPr>
        <p:spPr>
          <a:xfrm>
            <a:off x="3311999" y="2304000"/>
            <a:ext cx="10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4</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a:off x="4464000" y="2304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Rubik"/>
                <a:ea typeface="Rubik"/>
                <a:cs typeface="Rubik"/>
                <a:sym typeface="Rubik"/>
              </a:rPr>
              <a:t>4</a:t>
            </a:r>
            <a:endParaRPr b="0" i="0" sz="1400" u="none" cap="none" strike="noStrike">
              <a:solidFill>
                <a:schemeClr val="lt1"/>
              </a:solidFill>
              <a:latin typeface="Arial"/>
              <a:ea typeface="Arial"/>
              <a:cs typeface="Arial"/>
              <a:sym typeface="Arial"/>
            </a:endParaRPr>
          </a:p>
        </p:txBody>
      </p:sp>
      <p:sp>
        <p:nvSpPr>
          <p:cNvPr id="128" name="Google Shape;128;p3"/>
          <p:cNvSpPr/>
          <p:nvPr/>
        </p:nvSpPr>
        <p:spPr>
          <a:xfrm>
            <a:off x="360000" y="2682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Qualité des Données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3311999" y="2682000"/>
            <a:ext cx="108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3</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4464000" y="2682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Rubik"/>
                <a:ea typeface="Rubik"/>
                <a:cs typeface="Rubik"/>
                <a:sym typeface="Rubik"/>
              </a:rPr>
              <a:t>4</a:t>
            </a:r>
            <a:endParaRPr b="0" i="0" sz="1400" u="none" cap="none" strike="noStrike">
              <a:solidFill>
                <a:schemeClr val="lt1"/>
              </a:solidFill>
              <a:latin typeface="Arial"/>
              <a:ea typeface="Arial"/>
              <a:cs typeface="Arial"/>
              <a:sym typeface="Arial"/>
            </a:endParaRPr>
          </a:p>
        </p:txBody>
      </p:sp>
      <p:sp>
        <p:nvSpPr>
          <p:cNvPr id="131" name="Google Shape;131;p3"/>
          <p:cNvSpPr/>
          <p:nvPr/>
        </p:nvSpPr>
        <p:spPr>
          <a:xfrm>
            <a:off x="360000" y="3060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Conformité Réglementaire</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3311999" y="3060000"/>
            <a:ext cx="108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3</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4464000" y="3060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Rubik"/>
                <a:ea typeface="Rubik"/>
                <a:cs typeface="Rubik"/>
                <a:sym typeface="Rubik"/>
              </a:rPr>
              <a:t>4</a:t>
            </a:r>
            <a:endParaRPr b="0" i="0" sz="1400" u="none" cap="none" strike="noStrike">
              <a:solidFill>
                <a:schemeClr val="lt1"/>
              </a:solidFill>
              <a:latin typeface="Arial"/>
              <a:ea typeface="Arial"/>
              <a:cs typeface="Arial"/>
              <a:sym typeface="Arial"/>
            </a:endParaRPr>
          </a:p>
        </p:txBody>
      </p:sp>
      <p:sp>
        <p:nvSpPr>
          <p:cNvPr id="134" name="Google Shape;134;p3"/>
          <p:cNvSpPr/>
          <p:nvPr/>
        </p:nvSpPr>
        <p:spPr>
          <a:xfrm>
            <a:off x="360000" y="3438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Gouvernance des Données</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3311999" y="3438000"/>
            <a:ext cx="108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2</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4464000" y="3438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Rubik"/>
                <a:ea typeface="Rubik"/>
                <a:cs typeface="Rubik"/>
                <a:sym typeface="Rubik"/>
              </a:rPr>
              <a:t>4</a:t>
            </a:r>
            <a:endParaRPr b="0" i="0" sz="1400" u="none" cap="none" strike="noStrike">
              <a:solidFill>
                <a:schemeClr val="lt1"/>
              </a:solidFill>
              <a:latin typeface="Arial"/>
              <a:ea typeface="Arial"/>
              <a:cs typeface="Arial"/>
              <a:sym typeface="Arial"/>
            </a:endParaRPr>
          </a:p>
        </p:txBody>
      </p:sp>
      <p:sp>
        <p:nvSpPr>
          <p:cNvPr id="137" name="Google Shape;137;p3"/>
          <p:cNvSpPr/>
          <p:nvPr/>
        </p:nvSpPr>
        <p:spPr>
          <a:xfrm>
            <a:off x="360000" y="3816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Intégration des Données</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3311999" y="3816000"/>
            <a:ext cx="108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2</a:t>
            </a:r>
            <a:endParaRPr b="0" i="0" sz="1400" u="none" cap="none" strike="noStrike">
              <a:solidFill>
                <a:srgbClr val="000000"/>
              </a:solidFill>
              <a:latin typeface="Arial"/>
              <a:ea typeface="Arial"/>
              <a:cs typeface="Arial"/>
              <a:sym typeface="Arial"/>
            </a:endParaRPr>
          </a:p>
        </p:txBody>
      </p:sp>
      <p:sp>
        <p:nvSpPr>
          <p:cNvPr id="139" name="Google Shape;139;p3"/>
          <p:cNvSpPr/>
          <p:nvPr/>
        </p:nvSpPr>
        <p:spPr>
          <a:xfrm>
            <a:off x="4464000" y="3816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Rubik"/>
                <a:ea typeface="Rubik"/>
                <a:cs typeface="Rubik"/>
                <a:sym typeface="Rubik"/>
              </a:rPr>
              <a:t>4</a:t>
            </a:r>
            <a:endParaRPr b="0" i="0" sz="1400" u="none" cap="none" strike="noStrike">
              <a:solidFill>
                <a:schemeClr val="lt1"/>
              </a:solidFill>
              <a:latin typeface="Arial"/>
              <a:ea typeface="Arial"/>
              <a:cs typeface="Arial"/>
              <a:sym typeface="Arial"/>
            </a:endParaRPr>
          </a:p>
        </p:txBody>
      </p:sp>
      <p:sp>
        <p:nvSpPr>
          <p:cNvPr id="140" name="Google Shape;140;p3"/>
          <p:cNvSpPr/>
          <p:nvPr/>
        </p:nvSpPr>
        <p:spPr>
          <a:xfrm>
            <a:off x="360000" y="4248000"/>
            <a:ext cx="5760000" cy="360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Score global : 3,25/5  →  Objectif : 4,0/5 en 18 mois</a:t>
            </a:r>
            <a:endParaRPr b="0" i="0" sz="1400" u="none" cap="none" strike="noStrike">
              <a:solidFill>
                <a:srgbClr val="000000"/>
              </a:solidFill>
              <a:latin typeface="Arial"/>
              <a:ea typeface="Arial"/>
              <a:cs typeface="Arial"/>
              <a:sym typeface="Arial"/>
            </a:endParaRPr>
          </a:p>
        </p:txBody>
      </p:sp>
      <p:pic>
        <p:nvPicPr>
          <p:cNvPr id="141" name="Google Shape;141;p3"/>
          <p:cNvPicPr preferRelativeResize="0"/>
          <p:nvPr/>
        </p:nvPicPr>
        <p:blipFill rotWithShape="1">
          <a:blip r:embed="rId3">
            <a:alphaModFix/>
          </a:blip>
          <a:srcRect b="0" l="0" r="0" t="0"/>
          <a:stretch/>
        </p:blipFill>
        <p:spPr>
          <a:xfrm>
            <a:off x="5115987" y="727363"/>
            <a:ext cx="5324575" cy="34772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145" name="Shape 145"/>
        <p:cNvGrpSpPr/>
        <p:nvPr/>
      </p:nvGrpSpPr>
      <p:grpSpPr>
        <a:xfrm>
          <a:off x="0" y="0"/>
          <a:ext cx="0" cy="0"/>
          <a:chOff x="0" y="0"/>
          <a:chExt cx="0" cy="0"/>
        </a:xfrm>
      </p:grpSpPr>
      <p:sp>
        <p:nvSpPr>
          <p:cNvPr id="146" name="Google Shape;146;p4"/>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4"/>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MODÈLE ORGANISATIONNEL : CENTRE D'EXCELLENCE (CoE)</a:t>
            </a:r>
            <a:endParaRPr b="0" i="0" sz="1400" u="none" cap="none" strike="noStrike">
              <a:solidFill>
                <a:srgbClr val="000000"/>
              </a:solidFill>
              <a:latin typeface="Arial"/>
              <a:ea typeface="Arial"/>
              <a:cs typeface="Arial"/>
              <a:sym typeface="Arial"/>
            </a:endParaRPr>
          </a:p>
        </p:txBody>
      </p:sp>
      <p:sp>
        <p:nvSpPr>
          <p:cNvPr id="148" name="Google Shape;148;p4"/>
          <p:cNvSpPr/>
          <p:nvPr/>
        </p:nvSpPr>
        <p:spPr>
          <a:xfrm>
            <a:off x="540000" y="3289275"/>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4"/>
          <p:cNvSpPr/>
          <p:nvPr/>
        </p:nvSpPr>
        <p:spPr>
          <a:xfrm>
            <a:off x="612000" y="3361275"/>
            <a:ext cx="2340000" cy="612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CENTRALISÉ</a:t>
            </a:r>
            <a:endParaRPr b="0" i="0" sz="1400" u="none" cap="none" strike="noStrike">
              <a:solidFill>
                <a:srgbClr val="000000"/>
              </a:solidFill>
              <a:latin typeface="Arial"/>
              <a:ea typeface="Arial"/>
              <a:cs typeface="Arial"/>
              <a:sym typeface="Arial"/>
            </a:endParaRPr>
          </a:p>
        </p:txBody>
      </p:sp>
      <p:sp>
        <p:nvSpPr>
          <p:cNvPr id="150" name="Google Shape;150;p4"/>
          <p:cNvSpPr/>
          <p:nvPr/>
        </p:nvSpPr>
        <p:spPr>
          <a:xfrm>
            <a:off x="3384000" y="3289275"/>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 name="Google Shape;151;p4"/>
          <p:cNvSpPr/>
          <p:nvPr/>
        </p:nvSpPr>
        <p:spPr>
          <a:xfrm>
            <a:off x="3456000" y="3361275"/>
            <a:ext cx="2340000" cy="612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FÉDÉRÉ</a:t>
            </a:r>
            <a:endParaRPr b="0" i="0" sz="1400" u="none" cap="none" strike="noStrike">
              <a:solidFill>
                <a:srgbClr val="000000"/>
              </a:solidFill>
              <a:latin typeface="Arial"/>
              <a:ea typeface="Arial"/>
              <a:cs typeface="Arial"/>
              <a:sym typeface="Arial"/>
            </a:endParaRPr>
          </a:p>
        </p:txBody>
      </p:sp>
      <p:sp>
        <p:nvSpPr>
          <p:cNvPr id="152" name="Google Shape;152;p4"/>
          <p:cNvSpPr/>
          <p:nvPr/>
        </p:nvSpPr>
        <p:spPr>
          <a:xfrm>
            <a:off x="6192000" y="3289275"/>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4"/>
          <p:cNvSpPr/>
          <p:nvPr/>
        </p:nvSpPr>
        <p:spPr>
          <a:xfrm>
            <a:off x="6264000" y="3361275"/>
            <a:ext cx="2340000" cy="612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CoE HYBRIDE</a:t>
            </a:r>
            <a:endParaRPr b="0" i="0" sz="1400" u="none" cap="none" strike="noStrike">
              <a:solidFill>
                <a:srgbClr val="000000"/>
              </a:solidFill>
              <a:latin typeface="Arial"/>
              <a:ea typeface="Arial"/>
              <a:cs typeface="Arial"/>
              <a:sym typeface="Arial"/>
            </a:endParaRPr>
          </a:p>
        </p:txBody>
      </p:sp>
      <p:sp>
        <p:nvSpPr>
          <p:cNvPr id="154" name="Google Shape;154;p4"/>
          <p:cNvSpPr/>
          <p:nvPr/>
        </p:nvSpPr>
        <p:spPr>
          <a:xfrm>
            <a:off x="540000" y="4081275"/>
            <a:ext cx="234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6DBE0"/>
                </a:solidFill>
                <a:latin typeface="Rubik"/>
                <a:ea typeface="Rubik"/>
                <a:cs typeface="Rubik"/>
                <a:sym typeface="Rubik"/>
              </a:rPr>
              <a:t>Trop lent</a:t>
            </a:r>
            <a:r>
              <a:rPr b="1" i="0" lang="en-US" sz="900" u="none" cap="none" strike="noStrike">
                <a:solidFill>
                  <a:srgbClr val="000000"/>
                </a:solidFill>
                <a:latin typeface="Rubik"/>
                <a:ea typeface="Rubik"/>
                <a:cs typeface="Rubik"/>
                <a:sym typeface="Rubik"/>
              </a:rPr>
              <a:t>, incompatible Squad</a:t>
            </a:r>
            <a:endParaRPr b="0" i="0" sz="1400" u="none" cap="none" strike="noStrike">
              <a:solidFill>
                <a:srgbClr val="000000"/>
              </a:solidFill>
              <a:latin typeface="Arial"/>
              <a:ea typeface="Arial"/>
              <a:cs typeface="Arial"/>
              <a:sym typeface="Arial"/>
            </a:endParaRPr>
          </a:p>
        </p:txBody>
      </p:sp>
      <p:sp>
        <p:nvSpPr>
          <p:cNvPr id="155" name="Google Shape;155;p4"/>
          <p:cNvSpPr/>
          <p:nvPr/>
        </p:nvSpPr>
        <p:spPr>
          <a:xfrm>
            <a:off x="3384000" y="4081275"/>
            <a:ext cx="234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Perpétue les </a:t>
            </a:r>
            <a:r>
              <a:rPr b="1" i="0" lang="en-US" sz="900" u="none" cap="none" strike="noStrike">
                <a:solidFill>
                  <a:srgbClr val="A329DE"/>
                </a:solidFill>
                <a:latin typeface="Rubik"/>
                <a:ea typeface="Rubik"/>
                <a:cs typeface="Rubik"/>
                <a:sym typeface="Rubik"/>
              </a:rPr>
              <a:t>silos</a:t>
            </a:r>
            <a:r>
              <a:rPr b="1" i="0" lang="en-US" sz="900" u="none" cap="none" strike="noStrike">
                <a:solidFill>
                  <a:srgbClr val="000000"/>
                </a:solidFill>
                <a:latin typeface="Rubik"/>
                <a:ea typeface="Rubik"/>
                <a:cs typeface="Rubik"/>
                <a:sym typeface="Rubik"/>
              </a:rPr>
              <a:t> existants</a:t>
            </a:r>
            <a:endParaRPr b="0" i="0" sz="1400" u="none" cap="none" strike="noStrike">
              <a:solidFill>
                <a:srgbClr val="000000"/>
              </a:solidFill>
              <a:latin typeface="Arial"/>
              <a:ea typeface="Arial"/>
              <a:cs typeface="Arial"/>
              <a:sym typeface="Arial"/>
            </a:endParaRPr>
          </a:p>
        </p:txBody>
      </p:sp>
      <p:sp>
        <p:nvSpPr>
          <p:cNvPr id="156" name="Google Shape;156;p4"/>
          <p:cNvSpPr/>
          <p:nvPr/>
        </p:nvSpPr>
        <p:spPr>
          <a:xfrm>
            <a:off x="6192000" y="4081275"/>
            <a:ext cx="234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82AFF"/>
                </a:solidFill>
                <a:latin typeface="Rubik"/>
                <a:ea typeface="Rubik"/>
                <a:cs typeface="Rubik"/>
                <a:sym typeface="Rubik"/>
              </a:rPr>
              <a:t>Équilibre</a:t>
            </a:r>
            <a:r>
              <a:rPr b="1" i="0" lang="en-US" sz="900" u="none" cap="none" strike="noStrike">
                <a:solidFill>
                  <a:srgbClr val="000000"/>
                </a:solidFill>
                <a:latin typeface="Rubik"/>
                <a:ea typeface="Rubik"/>
                <a:cs typeface="Rubik"/>
                <a:sym typeface="Rubik"/>
              </a:rPr>
              <a:t> agilité et rigueur</a:t>
            </a:r>
            <a:endParaRPr b="0" i="0" sz="1400" u="none" cap="none" strike="noStrike">
              <a:solidFill>
                <a:srgbClr val="000000"/>
              </a:solidFill>
              <a:latin typeface="Arial"/>
              <a:ea typeface="Arial"/>
              <a:cs typeface="Arial"/>
              <a:sym typeface="Arial"/>
            </a:endParaRPr>
          </a:p>
        </p:txBody>
      </p:sp>
      <p:pic>
        <p:nvPicPr>
          <p:cNvPr id="157" name="Google Shape;157;p4"/>
          <p:cNvPicPr preferRelativeResize="0"/>
          <p:nvPr/>
        </p:nvPicPr>
        <p:blipFill rotWithShape="1">
          <a:blip r:embed="rId3">
            <a:alphaModFix/>
          </a:blip>
          <a:srcRect b="18114" l="12465" r="0" t="21162"/>
          <a:stretch/>
        </p:blipFill>
        <p:spPr>
          <a:xfrm>
            <a:off x="612003" y="1225300"/>
            <a:ext cx="2340001" cy="1846664"/>
          </a:xfrm>
          <a:prstGeom prst="rect">
            <a:avLst/>
          </a:prstGeom>
          <a:noFill/>
          <a:ln>
            <a:noFill/>
          </a:ln>
        </p:spPr>
      </p:pic>
      <p:pic>
        <p:nvPicPr>
          <p:cNvPr id="158" name="Google Shape;158;p4"/>
          <p:cNvPicPr preferRelativeResize="0"/>
          <p:nvPr/>
        </p:nvPicPr>
        <p:blipFill rotWithShape="1">
          <a:blip r:embed="rId4">
            <a:alphaModFix/>
          </a:blip>
          <a:srcRect b="0" l="0" r="57935" t="20433"/>
          <a:stretch/>
        </p:blipFill>
        <p:spPr>
          <a:xfrm>
            <a:off x="6309475" y="1189300"/>
            <a:ext cx="2249052" cy="1846675"/>
          </a:xfrm>
          <a:prstGeom prst="rect">
            <a:avLst/>
          </a:prstGeom>
          <a:noFill/>
          <a:ln>
            <a:noFill/>
          </a:ln>
        </p:spPr>
      </p:pic>
      <p:pic>
        <p:nvPicPr>
          <p:cNvPr id="159" name="Google Shape;159;p4"/>
          <p:cNvPicPr preferRelativeResize="0"/>
          <p:nvPr/>
        </p:nvPicPr>
        <p:blipFill rotWithShape="1">
          <a:blip r:embed="rId5">
            <a:alphaModFix/>
          </a:blip>
          <a:srcRect b="0" l="0" r="58411" t="23313"/>
          <a:stretch/>
        </p:blipFill>
        <p:spPr>
          <a:xfrm>
            <a:off x="3278320" y="1144017"/>
            <a:ext cx="2483323" cy="2027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3" name="Shape 163"/>
        <p:cNvGrpSpPr/>
        <p:nvPr/>
      </p:nvGrpSpPr>
      <p:grpSpPr>
        <a:xfrm>
          <a:off x="0" y="0"/>
          <a:ext cx="0" cy="0"/>
          <a:chOff x="0" y="0"/>
          <a:chExt cx="0" cy="0"/>
        </a:xfrm>
      </p:grpSpPr>
      <p:sp>
        <p:nvSpPr>
          <p:cNvPr id="164" name="Google Shape;164;g39655f934ed_0_48"/>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g39655f934ed_0_48"/>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MODÈLE ORGANISATIONNEL : ORGANIGRAMME</a:t>
            </a:r>
            <a:endParaRPr b="0" i="0" sz="1400" u="none" cap="none" strike="noStrike">
              <a:solidFill>
                <a:srgbClr val="000000"/>
              </a:solidFill>
              <a:latin typeface="Arial"/>
              <a:ea typeface="Arial"/>
              <a:cs typeface="Arial"/>
              <a:sym typeface="Arial"/>
            </a:endParaRPr>
          </a:p>
        </p:txBody>
      </p:sp>
      <p:pic>
        <p:nvPicPr>
          <p:cNvPr id="166" name="Google Shape;166;g39655f934ed_0_48"/>
          <p:cNvPicPr preferRelativeResize="0"/>
          <p:nvPr/>
        </p:nvPicPr>
        <p:blipFill rotWithShape="1">
          <a:blip r:embed="rId3">
            <a:alphaModFix/>
          </a:blip>
          <a:srcRect b="0" l="0" r="0" t="0"/>
          <a:stretch/>
        </p:blipFill>
        <p:spPr>
          <a:xfrm>
            <a:off x="1921325" y="997675"/>
            <a:ext cx="5900052" cy="39035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170" name="Shape 170"/>
        <p:cNvGrpSpPr/>
        <p:nvPr/>
      </p:nvGrpSpPr>
      <p:grpSpPr>
        <a:xfrm>
          <a:off x="0" y="0"/>
          <a:ext cx="0" cy="0"/>
          <a:chOff x="0" y="0"/>
          <a:chExt cx="0" cy="0"/>
        </a:xfrm>
      </p:grpSpPr>
      <p:sp>
        <p:nvSpPr>
          <p:cNvPr id="171" name="Google Shape;171;p5"/>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5"/>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ÉCOSYSTÈME TECHNOLOGIQUE</a:t>
            </a:r>
            <a:endParaRPr b="0" i="0" sz="1400" u="none" cap="none" strike="noStrike">
              <a:solidFill>
                <a:srgbClr val="000000"/>
              </a:solidFill>
              <a:latin typeface="Arial"/>
              <a:ea typeface="Arial"/>
              <a:cs typeface="Arial"/>
              <a:sym typeface="Arial"/>
            </a:endParaRPr>
          </a:p>
        </p:txBody>
      </p:sp>
      <p:sp>
        <p:nvSpPr>
          <p:cNvPr id="173" name="Google Shape;173;p5"/>
          <p:cNvSpPr/>
          <p:nvPr/>
        </p:nvSpPr>
        <p:spPr>
          <a:xfrm>
            <a:off x="3509613" y="1790775"/>
            <a:ext cx="3906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26DBE0"/>
                </a:solidFill>
                <a:latin typeface="Rubik"/>
                <a:ea typeface="Rubik"/>
                <a:cs typeface="Rubik"/>
                <a:sym typeface="Rubik"/>
              </a:rPr>
              <a:t>UX supérieure</a:t>
            </a:r>
            <a:r>
              <a:rPr b="1" i="0" lang="en-US" sz="900" u="none" cap="none" strike="noStrike">
                <a:solidFill>
                  <a:srgbClr val="000000"/>
                </a:solidFill>
                <a:latin typeface="Rubik"/>
                <a:ea typeface="Rubik"/>
                <a:cs typeface="Rubik"/>
                <a:sym typeface="Rubik"/>
              </a:rPr>
              <a:t> pour Stewards métier. Source unique de vérité.</a:t>
            </a:r>
            <a:endParaRPr b="1" i="0" sz="1400" u="none" cap="none" strike="noStrike">
              <a:solidFill>
                <a:srgbClr val="000000"/>
              </a:solidFill>
            </a:endParaRPr>
          </a:p>
        </p:txBody>
      </p:sp>
      <p:sp>
        <p:nvSpPr>
          <p:cNvPr id="174" name="Google Shape;174;p5"/>
          <p:cNvSpPr/>
          <p:nvPr/>
        </p:nvSpPr>
        <p:spPr>
          <a:xfrm>
            <a:off x="3509613" y="2710950"/>
            <a:ext cx="3906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A329DE"/>
                </a:solidFill>
                <a:latin typeface="Rubik"/>
                <a:ea typeface="Rubik"/>
                <a:cs typeface="Rubik"/>
                <a:sym typeface="Rubik"/>
              </a:rPr>
              <a:t>Data quality </a:t>
            </a:r>
            <a:r>
              <a:rPr b="1" i="0" lang="en-US" sz="900" u="none" cap="none" strike="noStrike">
                <a:solidFill>
                  <a:srgbClr val="000000"/>
                </a:solidFill>
                <a:latin typeface="Rubik"/>
                <a:ea typeface="Rubik"/>
                <a:cs typeface="Rubik"/>
                <a:sym typeface="Rubik"/>
              </a:rPr>
              <a:t>as code — intègre nativement dbt/Airflow Spotify.</a:t>
            </a:r>
            <a:endParaRPr b="1" i="0" sz="1400" u="none" cap="none" strike="noStrike">
              <a:solidFill>
                <a:srgbClr val="000000"/>
              </a:solidFill>
            </a:endParaRPr>
          </a:p>
        </p:txBody>
      </p:sp>
      <p:sp>
        <p:nvSpPr>
          <p:cNvPr id="175" name="Google Shape;175;p5"/>
          <p:cNvSpPr/>
          <p:nvPr/>
        </p:nvSpPr>
        <p:spPr>
          <a:xfrm>
            <a:off x="3509613" y="3599463"/>
            <a:ext cx="3906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Leader Gartner 2024. Automation </a:t>
            </a:r>
            <a:r>
              <a:rPr b="1" i="0" lang="en-US" sz="900" u="none" cap="none" strike="noStrike">
                <a:solidFill>
                  <a:srgbClr val="282AFF"/>
                </a:solidFill>
                <a:latin typeface="Rubik"/>
                <a:ea typeface="Rubik"/>
                <a:cs typeface="Rubik"/>
                <a:sym typeface="Rubik"/>
              </a:rPr>
              <a:t>DSAR 180+ pays</a:t>
            </a:r>
            <a:r>
              <a:rPr b="1" i="0" lang="en-US" sz="900" u="none" cap="none" strike="noStrike">
                <a:solidFill>
                  <a:srgbClr val="000000"/>
                </a:solidFill>
                <a:latin typeface="Rubik"/>
                <a:ea typeface="Rubik"/>
                <a:cs typeface="Rubik"/>
                <a:sym typeface="Rubik"/>
              </a:rPr>
              <a:t>.</a:t>
            </a:r>
            <a:endParaRPr b="1" i="0" sz="1400" u="none" cap="none" strike="noStrike">
              <a:solidFill>
                <a:srgbClr val="000000"/>
              </a:solidFill>
            </a:endParaRPr>
          </a:p>
        </p:txBody>
      </p:sp>
      <p:sp>
        <p:nvSpPr>
          <p:cNvPr id="176" name="Google Shape;176;p5"/>
          <p:cNvSpPr/>
          <p:nvPr/>
        </p:nvSpPr>
        <p:spPr>
          <a:xfrm>
            <a:off x="3509613" y="4484400"/>
            <a:ext cx="3906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Détection proactive anomalies. Alertes </a:t>
            </a:r>
            <a:r>
              <a:rPr b="1" i="0" lang="en-US" sz="900" u="none" cap="none" strike="noStrike">
                <a:solidFill>
                  <a:schemeClr val="accent6"/>
                </a:solidFill>
                <a:latin typeface="Rubik"/>
                <a:ea typeface="Rubik"/>
                <a:cs typeface="Rubik"/>
                <a:sym typeface="Rubik"/>
              </a:rPr>
              <a:t>schema drift</a:t>
            </a:r>
            <a:r>
              <a:rPr b="1" i="0" lang="en-US" sz="900" u="none" cap="none" strike="noStrike">
                <a:solidFill>
                  <a:srgbClr val="000000"/>
                </a:solidFill>
                <a:latin typeface="Rubik"/>
                <a:ea typeface="Rubik"/>
                <a:cs typeface="Rubik"/>
                <a:sym typeface="Rubik"/>
              </a:rPr>
              <a:t> &amp; </a:t>
            </a:r>
            <a:r>
              <a:rPr b="1" i="0" lang="en-US" sz="900" u="none" cap="none" strike="noStrike">
                <a:solidFill>
                  <a:schemeClr val="accent6"/>
                </a:solidFill>
                <a:latin typeface="Rubik"/>
                <a:ea typeface="Rubik"/>
                <a:cs typeface="Rubik"/>
                <a:sym typeface="Rubik"/>
              </a:rPr>
              <a:t>freshness</a:t>
            </a:r>
            <a:r>
              <a:rPr b="1" i="0" lang="en-US" sz="900" u="none" cap="none" strike="noStrike">
                <a:solidFill>
                  <a:srgbClr val="000000"/>
                </a:solidFill>
                <a:latin typeface="Rubik"/>
                <a:ea typeface="Rubik"/>
                <a:cs typeface="Rubik"/>
                <a:sym typeface="Rubik"/>
              </a:rPr>
              <a:t>.</a:t>
            </a:r>
            <a:endParaRPr b="1" i="0" sz="1400" u="none" cap="none" strike="noStrike">
              <a:solidFill>
                <a:srgbClr val="000000"/>
              </a:solidFill>
            </a:endParaRPr>
          </a:p>
        </p:txBody>
      </p:sp>
      <p:sp>
        <p:nvSpPr>
          <p:cNvPr id="177" name="Google Shape;177;p5"/>
          <p:cNvSpPr/>
          <p:nvPr/>
        </p:nvSpPr>
        <p:spPr>
          <a:xfrm>
            <a:off x="3509613" y="4160450"/>
            <a:ext cx="3600000" cy="360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Monte Carlo  —  Observabilité pipelines</a:t>
            </a:r>
            <a:endParaRPr b="0" i="0" sz="1400" u="none" cap="none" strike="noStrike">
              <a:solidFill>
                <a:srgbClr val="000000"/>
              </a:solidFill>
              <a:latin typeface="Arial"/>
              <a:ea typeface="Arial"/>
              <a:cs typeface="Arial"/>
              <a:sym typeface="Arial"/>
            </a:endParaRPr>
          </a:p>
        </p:txBody>
      </p:sp>
      <p:sp>
        <p:nvSpPr>
          <p:cNvPr id="178" name="Google Shape;178;p5"/>
          <p:cNvSpPr/>
          <p:nvPr/>
        </p:nvSpPr>
        <p:spPr>
          <a:xfrm>
            <a:off x="3509613" y="3271938"/>
            <a:ext cx="3600000" cy="360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OneTrust  —  Conformité / Consentement</a:t>
            </a:r>
            <a:endParaRPr b="0" i="0" sz="1400" u="none" cap="none" strike="noStrike">
              <a:solidFill>
                <a:srgbClr val="000000"/>
              </a:solidFill>
              <a:latin typeface="Arial"/>
              <a:ea typeface="Arial"/>
              <a:cs typeface="Arial"/>
              <a:sym typeface="Arial"/>
            </a:endParaRPr>
          </a:p>
        </p:txBody>
      </p:sp>
      <p:sp>
        <p:nvSpPr>
          <p:cNvPr id="179" name="Google Shape;179;p5"/>
          <p:cNvSpPr/>
          <p:nvPr/>
        </p:nvSpPr>
        <p:spPr>
          <a:xfrm>
            <a:off x="3509613" y="2374750"/>
            <a:ext cx="3600000" cy="360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Soda.io  —  Qualité des données</a:t>
            </a:r>
            <a:endParaRPr b="0" i="0" sz="1400" u="none" cap="none" strike="noStrike">
              <a:solidFill>
                <a:srgbClr val="000000"/>
              </a:solidFill>
              <a:latin typeface="Arial"/>
              <a:ea typeface="Arial"/>
              <a:cs typeface="Arial"/>
              <a:sym typeface="Arial"/>
            </a:endParaRPr>
          </a:p>
        </p:txBody>
      </p:sp>
      <p:sp>
        <p:nvSpPr>
          <p:cNvPr id="180" name="Google Shape;180;p5"/>
          <p:cNvSpPr/>
          <p:nvPr/>
        </p:nvSpPr>
        <p:spPr>
          <a:xfrm>
            <a:off x="3509613" y="1445900"/>
            <a:ext cx="3600000" cy="360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Alation  —  Catalogue de données</a:t>
            </a:r>
            <a:endParaRPr b="0" i="0" sz="1400" u="none" cap="none" strike="noStrike">
              <a:solidFill>
                <a:srgbClr val="000000"/>
              </a:solidFill>
              <a:latin typeface="Arial"/>
              <a:ea typeface="Arial"/>
              <a:cs typeface="Arial"/>
              <a:sym typeface="Arial"/>
            </a:endParaRPr>
          </a:p>
        </p:txBody>
      </p:sp>
      <p:pic>
        <p:nvPicPr>
          <p:cNvPr id="181" name="Google Shape;181;p5"/>
          <p:cNvPicPr preferRelativeResize="0"/>
          <p:nvPr/>
        </p:nvPicPr>
        <p:blipFill rotWithShape="1">
          <a:blip r:embed="rId3">
            <a:alphaModFix/>
          </a:blip>
          <a:srcRect b="0" l="0" r="0" t="0"/>
          <a:stretch/>
        </p:blipFill>
        <p:spPr>
          <a:xfrm>
            <a:off x="1350010" y="1090936"/>
            <a:ext cx="1435325" cy="1435325"/>
          </a:xfrm>
          <a:prstGeom prst="rect">
            <a:avLst/>
          </a:prstGeom>
          <a:noFill/>
          <a:ln>
            <a:noFill/>
          </a:ln>
        </p:spPr>
      </p:pic>
      <p:pic>
        <p:nvPicPr>
          <p:cNvPr id="182" name="Google Shape;182;p5"/>
          <p:cNvPicPr preferRelativeResize="0"/>
          <p:nvPr/>
        </p:nvPicPr>
        <p:blipFill rotWithShape="1">
          <a:blip r:embed="rId4">
            <a:alphaModFix/>
          </a:blip>
          <a:srcRect b="0" l="0" r="0" t="0"/>
          <a:stretch/>
        </p:blipFill>
        <p:spPr>
          <a:xfrm>
            <a:off x="1660863" y="2114596"/>
            <a:ext cx="1219850" cy="1219850"/>
          </a:xfrm>
          <a:prstGeom prst="rect">
            <a:avLst/>
          </a:prstGeom>
          <a:noFill/>
          <a:ln>
            <a:noFill/>
          </a:ln>
        </p:spPr>
      </p:pic>
      <p:pic>
        <p:nvPicPr>
          <p:cNvPr id="183" name="Google Shape;183;p5"/>
          <p:cNvPicPr preferRelativeResize="0"/>
          <p:nvPr/>
        </p:nvPicPr>
        <p:blipFill rotWithShape="1">
          <a:blip r:embed="rId5">
            <a:alphaModFix/>
          </a:blip>
          <a:srcRect b="0" l="0" r="0" t="0"/>
          <a:stretch/>
        </p:blipFill>
        <p:spPr>
          <a:xfrm>
            <a:off x="1271197" y="3370625"/>
            <a:ext cx="1514149" cy="414225"/>
          </a:xfrm>
          <a:prstGeom prst="rect">
            <a:avLst/>
          </a:prstGeom>
          <a:noFill/>
          <a:ln>
            <a:noFill/>
          </a:ln>
        </p:spPr>
      </p:pic>
      <p:pic>
        <p:nvPicPr>
          <p:cNvPr id="184" name="Google Shape;184;p5"/>
          <p:cNvPicPr preferRelativeResize="0"/>
          <p:nvPr/>
        </p:nvPicPr>
        <p:blipFill rotWithShape="1">
          <a:blip r:embed="rId6">
            <a:alphaModFix/>
          </a:blip>
          <a:srcRect b="0" l="0" r="0" t="0"/>
          <a:stretch/>
        </p:blipFill>
        <p:spPr>
          <a:xfrm>
            <a:off x="1354025" y="4256543"/>
            <a:ext cx="1430224" cy="4689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188" name="Shape 188"/>
        <p:cNvGrpSpPr/>
        <p:nvPr/>
      </p:nvGrpSpPr>
      <p:grpSpPr>
        <a:xfrm>
          <a:off x="0" y="0"/>
          <a:ext cx="0" cy="0"/>
          <a:chOff x="0" y="0"/>
          <a:chExt cx="0" cy="0"/>
        </a:xfrm>
      </p:grpSpPr>
      <p:sp>
        <p:nvSpPr>
          <p:cNvPr id="189" name="Google Shape;189;p6"/>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6"/>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RISQUES ET MITIGATION</a:t>
            </a:r>
            <a:endParaRPr b="0" i="0" sz="1400" u="none" cap="none" strike="noStrike">
              <a:solidFill>
                <a:srgbClr val="000000"/>
              </a:solidFill>
              <a:latin typeface="Arial"/>
              <a:ea typeface="Arial"/>
              <a:cs typeface="Arial"/>
              <a:sym typeface="Arial"/>
            </a:endParaRPr>
          </a:p>
        </p:txBody>
      </p:sp>
      <p:sp>
        <p:nvSpPr>
          <p:cNvPr id="191" name="Google Shape;191;p6"/>
          <p:cNvSpPr/>
          <p:nvPr/>
        </p:nvSpPr>
        <p:spPr>
          <a:xfrm>
            <a:off x="360000" y="1080000"/>
            <a:ext cx="306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Risque</a:t>
            </a:r>
            <a:endParaRPr b="0" i="0" sz="1400" u="none" cap="none" strike="noStrike">
              <a:solidFill>
                <a:srgbClr val="000000"/>
              </a:solidFill>
              <a:latin typeface="Arial"/>
              <a:ea typeface="Arial"/>
              <a:cs typeface="Arial"/>
              <a:sym typeface="Arial"/>
            </a:endParaRPr>
          </a:p>
        </p:txBody>
      </p:sp>
      <p:sp>
        <p:nvSpPr>
          <p:cNvPr id="192" name="Google Shape;192;p6"/>
          <p:cNvSpPr/>
          <p:nvPr/>
        </p:nvSpPr>
        <p:spPr>
          <a:xfrm>
            <a:off x="3491999" y="1080000"/>
            <a:ext cx="72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Score</a:t>
            </a:r>
            <a:endParaRPr b="0" i="0" sz="1400" u="none" cap="none" strike="noStrike">
              <a:solidFill>
                <a:srgbClr val="000000"/>
              </a:solidFill>
              <a:latin typeface="Arial"/>
              <a:ea typeface="Arial"/>
              <a:cs typeface="Arial"/>
              <a:sym typeface="Arial"/>
            </a:endParaRPr>
          </a:p>
        </p:txBody>
      </p:sp>
      <p:sp>
        <p:nvSpPr>
          <p:cNvPr id="193" name="Google Shape;193;p6"/>
          <p:cNvSpPr/>
          <p:nvPr/>
        </p:nvSpPr>
        <p:spPr>
          <a:xfrm>
            <a:off x="4284000" y="1080000"/>
            <a:ext cx="450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Mitigation</a:t>
            </a:r>
            <a:endParaRPr b="0" i="0" sz="1400" u="none" cap="none" strike="noStrike">
              <a:solidFill>
                <a:srgbClr val="000000"/>
              </a:solidFill>
              <a:latin typeface="Arial"/>
              <a:ea typeface="Arial"/>
              <a:cs typeface="Arial"/>
              <a:sym typeface="Arial"/>
            </a:endParaRPr>
          </a:p>
        </p:txBody>
      </p:sp>
      <p:sp>
        <p:nvSpPr>
          <p:cNvPr id="194" name="Google Shape;194;p6"/>
          <p:cNvSpPr/>
          <p:nvPr/>
        </p:nvSpPr>
        <p:spPr>
          <a:xfrm>
            <a:off x="360000" y="1475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Résistance au changement</a:t>
            </a:r>
            <a:endParaRPr b="0" i="0" sz="1400" u="none" cap="none" strike="noStrike">
              <a:solidFill>
                <a:srgbClr val="000000"/>
              </a:solidFill>
              <a:latin typeface="Arial"/>
              <a:ea typeface="Arial"/>
              <a:cs typeface="Arial"/>
              <a:sym typeface="Arial"/>
            </a:endParaRPr>
          </a:p>
        </p:txBody>
      </p:sp>
      <p:sp>
        <p:nvSpPr>
          <p:cNvPr id="195" name="Google Shape;195;p6"/>
          <p:cNvSpPr/>
          <p:nvPr/>
        </p:nvSpPr>
        <p:spPr>
          <a:xfrm>
            <a:off x="3491999" y="1475999"/>
            <a:ext cx="72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9/9</a:t>
            </a:r>
            <a:endParaRPr b="0" i="0" sz="1400" u="none" cap="none" strike="noStrike">
              <a:solidFill>
                <a:srgbClr val="000000"/>
              </a:solidFill>
              <a:latin typeface="Arial"/>
              <a:ea typeface="Arial"/>
              <a:cs typeface="Arial"/>
              <a:sym typeface="Arial"/>
            </a:endParaRPr>
          </a:p>
        </p:txBody>
      </p:sp>
      <p:sp>
        <p:nvSpPr>
          <p:cNvPr id="196" name="Google Shape;196;p6"/>
          <p:cNvSpPr/>
          <p:nvPr/>
        </p:nvSpPr>
        <p:spPr>
          <a:xfrm>
            <a:off x="4284000" y="1475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A329DE"/>
                </a:solidFill>
                <a:latin typeface="Rubik"/>
                <a:ea typeface="Rubik"/>
                <a:cs typeface="Rubik"/>
                <a:sym typeface="Rubik"/>
              </a:rPr>
              <a:t>Champions</a:t>
            </a:r>
            <a:r>
              <a:rPr b="1" i="0" lang="en-US" sz="800" u="none" cap="none" strike="noStrike">
                <a:solidFill>
                  <a:srgbClr val="000000"/>
                </a:solidFill>
                <a:latin typeface="Rubik"/>
                <a:ea typeface="Rubik"/>
                <a:cs typeface="Rubik"/>
                <a:sym typeface="Rubik"/>
              </a:rPr>
              <a:t>, communication CDO, quick wins Mois 3</a:t>
            </a:r>
            <a:endParaRPr b="1" i="0" sz="1400" u="none" cap="none" strike="noStrike">
              <a:solidFill>
                <a:srgbClr val="000000"/>
              </a:solidFill>
            </a:endParaRPr>
          </a:p>
        </p:txBody>
      </p:sp>
      <p:sp>
        <p:nvSpPr>
          <p:cNvPr id="197" name="Google Shape;197;p6"/>
          <p:cNvSpPr/>
          <p:nvPr/>
        </p:nvSpPr>
        <p:spPr>
          <a:xfrm>
            <a:off x="360000" y="1871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Violation données pendant transition</a:t>
            </a:r>
            <a:endParaRPr b="0" i="0" sz="1400" u="none" cap="none" strike="noStrike">
              <a:solidFill>
                <a:srgbClr val="000000"/>
              </a:solidFill>
              <a:latin typeface="Arial"/>
              <a:ea typeface="Arial"/>
              <a:cs typeface="Arial"/>
              <a:sym typeface="Arial"/>
            </a:endParaRPr>
          </a:p>
        </p:txBody>
      </p:sp>
      <p:sp>
        <p:nvSpPr>
          <p:cNvPr id="198" name="Google Shape;198;p6"/>
          <p:cNvSpPr/>
          <p:nvPr/>
        </p:nvSpPr>
        <p:spPr>
          <a:xfrm>
            <a:off x="3491999" y="1871999"/>
            <a:ext cx="72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9/9</a:t>
            </a:r>
            <a:endParaRPr b="0" i="0" sz="1400" u="none" cap="none" strike="noStrike">
              <a:solidFill>
                <a:srgbClr val="000000"/>
              </a:solidFill>
              <a:latin typeface="Arial"/>
              <a:ea typeface="Arial"/>
              <a:cs typeface="Arial"/>
              <a:sym typeface="Arial"/>
            </a:endParaRPr>
          </a:p>
        </p:txBody>
      </p:sp>
      <p:sp>
        <p:nvSpPr>
          <p:cNvPr id="199" name="Google Shape;199;p6"/>
          <p:cNvSpPr/>
          <p:nvPr/>
        </p:nvSpPr>
        <p:spPr>
          <a:xfrm>
            <a:off x="4284000" y="1871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A329DE"/>
                </a:solidFill>
                <a:latin typeface="Rubik"/>
                <a:ea typeface="Rubik"/>
                <a:cs typeface="Rubik"/>
                <a:sym typeface="Rubik"/>
              </a:rPr>
              <a:t>Procédure 72h</a:t>
            </a:r>
            <a:r>
              <a:rPr b="1" i="0" lang="en-US" sz="800" u="none" cap="none" strike="noStrike">
                <a:solidFill>
                  <a:srgbClr val="000000"/>
                </a:solidFill>
                <a:latin typeface="Rubik"/>
                <a:ea typeface="Rubik"/>
                <a:cs typeface="Rubik"/>
                <a:sym typeface="Rubik"/>
              </a:rPr>
              <a:t> opérationnelle ; OneTrust priorité Phase 2</a:t>
            </a:r>
            <a:endParaRPr b="1" i="0" sz="1400" u="none" cap="none" strike="noStrike">
              <a:solidFill>
                <a:srgbClr val="000000"/>
              </a:solidFill>
            </a:endParaRPr>
          </a:p>
        </p:txBody>
      </p:sp>
      <p:sp>
        <p:nvSpPr>
          <p:cNvPr id="200" name="Google Shape;200;p6"/>
          <p:cNvSpPr/>
          <p:nvPr/>
        </p:nvSpPr>
        <p:spPr>
          <a:xfrm>
            <a:off x="360000" y="2267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Retard procurement Alation</a:t>
            </a:r>
            <a:endParaRPr b="0" i="0" sz="1400" u="none" cap="none" strike="noStrike">
              <a:solidFill>
                <a:srgbClr val="000000"/>
              </a:solidFill>
              <a:latin typeface="Arial"/>
              <a:ea typeface="Arial"/>
              <a:cs typeface="Arial"/>
              <a:sym typeface="Arial"/>
            </a:endParaRPr>
          </a:p>
        </p:txBody>
      </p:sp>
      <p:sp>
        <p:nvSpPr>
          <p:cNvPr id="201" name="Google Shape;201;p6"/>
          <p:cNvSpPr/>
          <p:nvPr/>
        </p:nvSpPr>
        <p:spPr>
          <a:xfrm>
            <a:off x="3491999" y="2267999"/>
            <a:ext cx="72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9/9</a:t>
            </a:r>
            <a:endParaRPr b="0" i="0" sz="1400" u="none" cap="none" strike="noStrike">
              <a:solidFill>
                <a:srgbClr val="000000"/>
              </a:solidFill>
              <a:latin typeface="Arial"/>
              <a:ea typeface="Arial"/>
              <a:cs typeface="Arial"/>
              <a:sym typeface="Arial"/>
            </a:endParaRPr>
          </a:p>
        </p:txBody>
      </p:sp>
      <p:sp>
        <p:nvSpPr>
          <p:cNvPr id="202" name="Google Shape;202;p6"/>
          <p:cNvSpPr/>
          <p:nvPr/>
        </p:nvSpPr>
        <p:spPr>
          <a:xfrm>
            <a:off x="4284000" y="2267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A329DE"/>
                </a:solidFill>
                <a:latin typeface="Rubik"/>
                <a:ea typeface="Rubik"/>
                <a:cs typeface="Rubik"/>
                <a:sym typeface="Rubik"/>
              </a:rPr>
              <a:t>Lancement achat Mois 1</a:t>
            </a:r>
            <a:r>
              <a:rPr b="1" i="0" lang="en-US" sz="800" u="none" cap="none" strike="noStrike">
                <a:solidFill>
                  <a:srgbClr val="000000"/>
                </a:solidFill>
                <a:latin typeface="Rubik"/>
                <a:ea typeface="Rubik"/>
                <a:cs typeface="Rubik"/>
                <a:sym typeface="Rubik"/>
              </a:rPr>
              <a:t> </a:t>
            </a:r>
            <a:r>
              <a:rPr b="1" lang="en-US" sz="800">
                <a:latin typeface="Rubik"/>
                <a:ea typeface="Rubik"/>
                <a:cs typeface="Rubik"/>
                <a:sym typeface="Rubik"/>
              </a:rPr>
              <a:t>- </a:t>
            </a:r>
            <a:r>
              <a:rPr b="1" i="0" lang="en-US" sz="800" u="none" cap="none" strike="noStrike">
                <a:solidFill>
                  <a:srgbClr val="000000"/>
                </a:solidFill>
                <a:latin typeface="Rubik"/>
                <a:ea typeface="Rubik"/>
                <a:cs typeface="Rubik"/>
                <a:sym typeface="Rubik"/>
              </a:rPr>
              <a:t> DataHub en contingence</a:t>
            </a:r>
            <a:endParaRPr b="1" i="0" sz="1400" u="none" cap="none" strike="noStrike">
              <a:solidFill>
                <a:srgbClr val="000000"/>
              </a:solidFill>
            </a:endParaRPr>
          </a:p>
        </p:txBody>
      </p:sp>
      <p:sp>
        <p:nvSpPr>
          <p:cNvPr id="203" name="Google Shape;203;p6"/>
          <p:cNvSpPr/>
          <p:nvPr/>
        </p:nvSpPr>
        <p:spPr>
          <a:xfrm>
            <a:off x="360000" y="2663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Turnover des Data Stewards</a:t>
            </a:r>
            <a:endParaRPr b="0" i="0" sz="1400" u="none" cap="none" strike="noStrike">
              <a:solidFill>
                <a:srgbClr val="000000"/>
              </a:solidFill>
              <a:latin typeface="Arial"/>
              <a:ea typeface="Arial"/>
              <a:cs typeface="Arial"/>
              <a:sym typeface="Arial"/>
            </a:endParaRPr>
          </a:p>
        </p:txBody>
      </p:sp>
      <p:sp>
        <p:nvSpPr>
          <p:cNvPr id="204" name="Google Shape;204;p6"/>
          <p:cNvSpPr/>
          <p:nvPr/>
        </p:nvSpPr>
        <p:spPr>
          <a:xfrm>
            <a:off x="3491999" y="2663999"/>
            <a:ext cx="72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6/9</a:t>
            </a:r>
            <a:endParaRPr b="0" i="0" sz="1400" u="none" cap="none" strike="noStrike">
              <a:solidFill>
                <a:srgbClr val="000000"/>
              </a:solidFill>
              <a:latin typeface="Arial"/>
              <a:ea typeface="Arial"/>
              <a:cs typeface="Arial"/>
              <a:sym typeface="Arial"/>
            </a:endParaRPr>
          </a:p>
        </p:txBody>
      </p:sp>
      <p:sp>
        <p:nvSpPr>
          <p:cNvPr id="205" name="Google Shape;205;p6"/>
          <p:cNvSpPr/>
          <p:nvPr/>
        </p:nvSpPr>
        <p:spPr>
          <a:xfrm>
            <a:off x="4284000" y="2663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A329DE"/>
                </a:solidFill>
                <a:latin typeface="Rubik"/>
                <a:ea typeface="Rubik"/>
                <a:cs typeface="Rubik"/>
                <a:sym typeface="Rubik"/>
              </a:rPr>
              <a:t>Documentation rôles</a:t>
            </a:r>
            <a:r>
              <a:rPr b="1" i="0" lang="en-US" sz="800" u="none" cap="none" strike="noStrike">
                <a:solidFill>
                  <a:srgbClr val="000000"/>
                </a:solidFill>
                <a:latin typeface="Rubik"/>
                <a:ea typeface="Rubik"/>
                <a:cs typeface="Rubik"/>
                <a:sym typeface="Rubik"/>
              </a:rPr>
              <a:t> </a:t>
            </a:r>
            <a:r>
              <a:rPr b="1" lang="en-US" sz="800">
                <a:latin typeface="Rubik"/>
                <a:ea typeface="Rubik"/>
                <a:cs typeface="Rubik"/>
                <a:sym typeface="Rubik"/>
              </a:rPr>
              <a:t>- </a:t>
            </a:r>
            <a:r>
              <a:rPr b="1" i="0" lang="en-US" sz="800" u="none" cap="none" strike="noStrike">
                <a:solidFill>
                  <a:srgbClr val="000000"/>
                </a:solidFill>
                <a:latin typeface="Rubik"/>
                <a:ea typeface="Rubik"/>
                <a:cs typeface="Rubik"/>
                <a:sym typeface="Rubik"/>
              </a:rPr>
              <a:t>backup par domaine </a:t>
            </a:r>
            <a:r>
              <a:rPr b="1" lang="en-US" sz="800">
                <a:latin typeface="Rubik"/>
                <a:ea typeface="Rubik"/>
                <a:cs typeface="Rubik"/>
                <a:sym typeface="Rubik"/>
              </a:rPr>
              <a:t>- </a:t>
            </a:r>
            <a:r>
              <a:rPr b="1" i="0" lang="en-US" sz="800" u="none" cap="none" strike="noStrike">
                <a:solidFill>
                  <a:srgbClr val="000000"/>
                </a:solidFill>
                <a:latin typeface="Rubik"/>
                <a:ea typeface="Rubik"/>
                <a:cs typeface="Rubik"/>
                <a:sym typeface="Rubik"/>
              </a:rPr>
              <a:t>OKR</a:t>
            </a:r>
            <a:endParaRPr b="1" i="0" sz="1400" u="none" cap="none" strike="noStrike">
              <a:solidFill>
                <a:srgbClr val="000000"/>
              </a:solidFill>
            </a:endParaRPr>
          </a:p>
        </p:txBody>
      </p:sp>
      <p:sp>
        <p:nvSpPr>
          <p:cNvPr id="206" name="Google Shape;206;p6"/>
          <p:cNvSpPr/>
          <p:nvPr/>
        </p:nvSpPr>
        <p:spPr>
          <a:xfrm>
            <a:off x="360000" y="3059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Dépassement budgétaire</a:t>
            </a:r>
            <a:endParaRPr b="0" i="0" sz="1400" u="none" cap="none" strike="noStrike">
              <a:solidFill>
                <a:srgbClr val="000000"/>
              </a:solidFill>
              <a:latin typeface="Arial"/>
              <a:ea typeface="Arial"/>
              <a:cs typeface="Arial"/>
              <a:sym typeface="Arial"/>
            </a:endParaRPr>
          </a:p>
        </p:txBody>
      </p:sp>
      <p:sp>
        <p:nvSpPr>
          <p:cNvPr id="207" name="Google Shape;207;p6"/>
          <p:cNvSpPr/>
          <p:nvPr/>
        </p:nvSpPr>
        <p:spPr>
          <a:xfrm>
            <a:off x="3491999" y="3059999"/>
            <a:ext cx="72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6/9</a:t>
            </a:r>
            <a:endParaRPr b="0" i="0" sz="1400" u="none" cap="none" strike="noStrike">
              <a:solidFill>
                <a:srgbClr val="000000"/>
              </a:solidFill>
              <a:latin typeface="Arial"/>
              <a:ea typeface="Arial"/>
              <a:cs typeface="Arial"/>
              <a:sym typeface="Arial"/>
            </a:endParaRPr>
          </a:p>
        </p:txBody>
      </p:sp>
      <p:sp>
        <p:nvSpPr>
          <p:cNvPr id="208" name="Google Shape;208;p6"/>
          <p:cNvSpPr/>
          <p:nvPr/>
        </p:nvSpPr>
        <p:spPr>
          <a:xfrm>
            <a:off x="4284000" y="3059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A329DE"/>
                </a:solidFill>
                <a:latin typeface="Rubik"/>
                <a:ea typeface="Rubik"/>
                <a:cs typeface="Rubik"/>
                <a:sym typeface="Rubik"/>
              </a:rPr>
              <a:t>Réserve de 15 %</a:t>
            </a:r>
            <a:r>
              <a:rPr b="1" i="0" lang="en-US" sz="800" u="none" cap="none" strike="noStrike">
                <a:solidFill>
                  <a:srgbClr val="000000"/>
                </a:solidFill>
                <a:latin typeface="Rubik"/>
                <a:ea typeface="Rubik"/>
                <a:cs typeface="Rubik"/>
                <a:sym typeface="Rubik"/>
              </a:rPr>
              <a:t> </a:t>
            </a:r>
            <a:r>
              <a:rPr b="1" lang="en-US" sz="800">
                <a:latin typeface="Rubik"/>
                <a:ea typeface="Rubik"/>
                <a:cs typeface="Rubik"/>
                <a:sym typeface="Rubik"/>
              </a:rPr>
              <a:t>- </a:t>
            </a:r>
            <a:r>
              <a:rPr b="1" i="0" lang="en-US" sz="800" u="none" cap="none" strike="noStrike">
                <a:solidFill>
                  <a:srgbClr val="000000"/>
                </a:solidFill>
                <a:latin typeface="Rubik"/>
                <a:ea typeface="Rubik"/>
                <a:cs typeface="Rubik"/>
                <a:sym typeface="Rubik"/>
              </a:rPr>
              <a:t> arbitrage CDO</a:t>
            </a:r>
            <a:endParaRPr b="1" i="0" sz="1400" u="none" cap="none" strike="noStrike">
              <a:solidFill>
                <a:srgbClr val="000000"/>
              </a:solidFill>
            </a:endParaRPr>
          </a:p>
        </p:txBody>
      </p:sp>
      <p:sp>
        <p:nvSpPr>
          <p:cNvPr id="209" name="Google Shape;209;p6"/>
          <p:cNvSpPr/>
          <p:nvPr/>
        </p:nvSpPr>
        <p:spPr>
          <a:xfrm>
            <a:off x="360000" y="3455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Échec du pilote</a:t>
            </a:r>
            <a:endParaRPr b="0" i="0" sz="1400" u="none" cap="none" strike="noStrike">
              <a:solidFill>
                <a:srgbClr val="000000"/>
              </a:solidFill>
              <a:latin typeface="Arial"/>
              <a:ea typeface="Arial"/>
              <a:cs typeface="Arial"/>
              <a:sym typeface="Arial"/>
            </a:endParaRPr>
          </a:p>
        </p:txBody>
      </p:sp>
      <p:sp>
        <p:nvSpPr>
          <p:cNvPr id="210" name="Google Shape;210;p6"/>
          <p:cNvSpPr/>
          <p:nvPr/>
        </p:nvSpPr>
        <p:spPr>
          <a:xfrm>
            <a:off x="3491999" y="3455999"/>
            <a:ext cx="72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Rubik"/>
                <a:ea typeface="Rubik"/>
                <a:cs typeface="Rubik"/>
                <a:sym typeface="Rubik"/>
              </a:rPr>
              <a:t>4/9</a:t>
            </a:r>
            <a:endParaRPr b="0" i="0" sz="1400" u="none" cap="none" strike="noStrike">
              <a:solidFill>
                <a:srgbClr val="000000"/>
              </a:solidFill>
              <a:latin typeface="Arial"/>
              <a:ea typeface="Arial"/>
              <a:cs typeface="Arial"/>
              <a:sym typeface="Arial"/>
            </a:endParaRPr>
          </a:p>
        </p:txBody>
      </p:sp>
      <p:sp>
        <p:nvSpPr>
          <p:cNvPr id="211" name="Google Shape;211;p6"/>
          <p:cNvSpPr/>
          <p:nvPr/>
        </p:nvSpPr>
        <p:spPr>
          <a:xfrm>
            <a:off x="4284000" y="3455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Rubik"/>
                <a:ea typeface="Rubik"/>
                <a:cs typeface="Rubik"/>
                <a:sym typeface="Rubik"/>
              </a:rPr>
              <a:t>Revue Go/No-Go Mois 6 </a:t>
            </a:r>
            <a:r>
              <a:rPr b="1" lang="en-US" sz="800">
                <a:latin typeface="Rubik"/>
                <a:ea typeface="Rubik"/>
                <a:cs typeface="Rubik"/>
                <a:sym typeface="Rubik"/>
              </a:rPr>
              <a:t>- </a:t>
            </a:r>
            <a:r>
              <a:rPr b="1" i="0" lang="en-US" sz="800" u="none" cap="none" strike="noStrike">
                <a:solidFill>
                  <a:srgbClr val="000000"/>
                </a:solidFill>
                <a:latin typeface="Rubik"/>
                <a:ea typeface="Rubik"/>
                <a:cs typeface="Rubik"/>
                <a:sym typeface="Rubik"/>
              </a:rPr>
              <a:t> </a:t>
            </a:r>
            <a:r>
              <a:rPr b="1" i="0" lang="en-US" sz="800" u="none" cap="none" strike="noStrike">
                <a:solidFill>
                  <a:srgbClr val="A329DE"/>
                </a:solidFill>
                <a:latin typeface="Rubik"/>
                <a:ea typeface="Rubik"/>
                <a:cs typeface="Rubik"/>
                <a:sym typeface="Rubik"/>
              </a:rPr>
              <a:t>exit criteria clairs</a:t>
            </a:r>
            <a:endParaRPr b="1" i="0" sz="1400" u="none" cap="none" strike="noStrike">
              <a:solidFill>
                <a:srgbClr val="A329DE"/>
              </a:solidFill>
            </a:endParaRPr>
          </a:p>
        </p:txBody>
      </p:sp>
      <p:sp>
        <p:nvSpPr>
          <p:cNvPr id="212" name="Google Shape;212;p6"/>
          <p:cNvSpPr/>
          <p:nvPr/>
        </p:nvSpPr>
        <p:spPr>
          <a:xfrm>
            <a:off x="360000" y="3960000"/>
            <a:ext cx="82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Rubik"/>
                <a:ea typeface="Rubik"/>
                <a:cs typeface="Rubik"/>
                <a:sym typeface="Rubik"/>
              </a:rPr>
              <a:t>Score = Probabilité × Impact (échelle 1-3 chacun). </a:t>
            </a:r>
            <a:r>
              <a:rPr b="1" i="0" lang="en-US" sz="800" u="none" cap="none" strike="noStrike">
                <a:solidFill>
                  <a:schemeClr val="accent6"/>
                </a:solidFill>
                <a:latin typeface="Rubik"/>
                <a:ea typeface="Rubik"/>
                <a:cs typeface="Rubik"/>
                <a:sym typeface="Rubik"/>
              </a:rPr>
              <a:t>70 % des échecs de gouvernance sont d'origine humaine (Gartner).</a:t>
            </a:r>
            <a:endParaRPr b="1" i="0" sz="1400" u="none" cap="none" strike="noStrike">
              <a:solidFill>
                <a:schemeClr val="accent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216" name="Shape 216"/>
        <p:cNvGrpSpPr/>
        <p:nvPr/>
      </p:nvGrpSpPr>
      <p:grpSpPr>
        <a:xfrm>
          <a:off x="0" y="0"/>
          <a:ext cx="0" cy="0"/>
          <a:chOff x="0" y="0"/>
          <a:chExt cx="0" cy="0"/>
        </a:xfrm>
      </p:grpSpPr>
      <p:sp>
        <p:nvSpPr>
          <p:cNvPr id="217" name="Google Shape;217;p7"/>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8" name="Google Shape;218;p7"/>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ROADMAP ET PILOTE</a:t>
            </a:r>
            <a:endParaRPr b="0" i="0" sz="1400" u="none" cap="none" strike="noStrike">
              <a:solidFill>
                <a:srgbClr val="000000"/>
              </a:solidFill>
              <a:latin typeface="Arial"/>
              <a:ea typeface="Arial"/>
              <a:cs typeface="Arial"/>
              <a:sym typeface="Arial"/>
            </a:endParaRPr>
          </a:p>
        </p:txBody>
      </p:sp>
      <p:sp>
        <p:nvSpPr>
          <p:cNvPr id="219" name="Google Shape;219;p7"/>
          <p:cNvSpPr/>
          <p:nvPr/>
        </p:nvSpPr>
        <p:spPr>
          <a:xfrm>
            <a:off x="524853" y="1512000"/>
            <a:ext cx="21432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7"/>
          <p:cNvSpPr/>
          <p:nvPr/>
        </p:nvSpPr>
        <p:spPr>
          <a:xfrm>
            <a:off x="590795" y="1584000"/>
            <a:ext cx="2143200" cy="612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FONDATION</a:t>
            </a:r>
            <a:br>
              <a:rPr b="1" i="0" lang="en-US" sz="1400" u="none" cap="none" strike="noStrike">
                <a:solidFill>
                  <a:srgbClr val="FFFFFF"/>
                </a:solidFill>
                <a:latin typeface="Rubik"/>
                <a:ea typeface="Rubik"/>
                <a:cs typeface="Rubik"/>
                <a:sym typeface="Rubik"/>
              </a:rPr>
            </a:br>
            <a:r>
              <a:rPr b="1" i="0" lang="en-US" sz="1400" u="none" cap="none" strike="noStrike">
                <a:solidFill>
                  <a:srgbClr val="FFFFFF"/>
                </a:solidFill>
                <a:latin typeface="Rubik"/>
                <a:ea typeface="Rubik"/>
                <a:cs typeface="Rubik"/>
                <a:sym typeface="Rubik"/>
              </a:rPr>
              <a:t>Mois 1-3</a:t>
            </a:r>
            <a:endParaRPr b="0" i="0" sz="1400" u="none" cap="none" strike="noStrike">
              <a:solidFill>
                <a:srgbClr val="000000"/>
              </a:solidFill>
              <a:latin typeface="Arial"/>
              <a:ea typeface="Arial"/>
              <a:cs typeface="Arial"/>
              <a:sym typeface="Arial"/>
            </a:endParaRPr>
          </a:p>
        </p:txBody>
      </p:sp>
      <p:sp>
        <p:nvSpPr>
          <p:cNvPr id="221" name="Google Shape;221;p7"/>
          <p:cNvSpPr/>
          <p:nvPr/>
        </p:nvSpPr>
        <p:spPr>
          <a:xfrm>
            <a:off x="3516938" y="1512000"/>
            <a:ext cx="21432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7"/>
          <p:cNvSpPr/>
          <p:nvPr/>
        </p:nvSpPr>
        <p:spPr>
          <a:xfrm>
            <a:off x="3582879" y="1584000"/>
            <a:ext cx="2143200" cy="612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PILOTE</a:t>
            </a:r>
            <a:br>
              <a:rPr b="1" i="0" lang="en-US" sz="1400" u="none" cap="none" strike="noStrike">
                <a:solidFill>
                  <a:srgbClr val="FFFFFF"/>
                </a:solidFill>
                <a:latin typeface="Rubik"/>
                <a:ea typeface="Rubik"/>
                <a:cs typeface="Rubik"/>
                <a:sym typeface="Rubik"/>
              </a:rPr>
            </a:br>
            <a:r>
              <a:rPr b="1" i="0" lang="en-US" sz="1400" u="none" cap="none" strike="noStrike">
                <a:solidFill>
                  <a:srgbClr val="FFFFFF"/>
                </a:solidFill>
                <a:latin typeface="Rubik"/>
                <a:ea typeface="Rubik"/>
                <a:cs typeface="Rubik"/>
                <a:sym typeface="Rubik"/>
              </a:rPr>
              <a:t>Mois 4-9</a:t>
            </a:r>
            <a:endParaRPr b="0" i="0" sz="1400" u="none" cap="none" strike="noStrike">
              <a:solidFill>
                <a:srgbClr val="000000"/>
              </a:solidFill>
              <a:latin typeface="Arial"/>
              <a:ea typeface="Arial"/>
              <a:cs typeface="Arial"/>
              <a:sym typeface="Arial"/>
            </a:endParaRPr>
          </a:p>
        </p:txBody>
      </p:sp>
      <p:sp>
        <p:nvSpPr>
          <p:cNvPr id="223" name="Google Shape;223;p7"/>
          <p:cNvSpPr/>
          <p:nvPr/>
        </p:nvSpPr>
        <p:spPr>
          <a:xfrm>
            <a:off x="6476052" y="1512000"/>
            <a:ext cx="21432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7"/>
          <p:cNvSpPr/>
          <p:nvPr/>
        </p:nvSpPr>
        <p:spPr>
          <a:xfrm>
            <a:off x="6541993" y="1584000"/>
            <a:ext cx="2143200" cy="612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DÉPLOIEMENT</a:t>
            </a:r>
            <a:br>
              <a:rPr b="1" i="0" lang="en-US" sz="1400" u="none" cap="none" strike="noStrike">
                <a:solidFill>
                  <a:srgbClr val="FFFFFF"/>
                </a:solidFill>
                <a:latin typeface="Rubik"/>
                <a:ea typeface="Rubik"/>
                <a:cs typeface="Rubik"/>
                <a:sym typeface="Rubik"/>
              </a:rPr>
            </a:br>
            <a:r>
              <a:rPr b="1" i="0" lang="en-US" sz="1400" u="none" cap="none" strike="noStrike">
                <a:solidFill>
                  <a:srgbClr val="FFFFFF"/>
                </a:solidFill>
                <a:latin typeface="Rubik"/>
                <a:ea typeface="Rubik"/>
                <a:cs typeface="Rubik"/>
                <a:sym typeface="Rubik"/>
              </a:rPr>
              <a:t>Mois 10-18</a:t>
            </a:r>
            <a:endParaRPr b="0" i="0" sz="1400" u="none" cap="none" strike="noStrike">
              <a:solidFill>
                <a:srgbClr val="000000"/>
              </a:solidFill>
              <a:latin typeface="Arial"/>
              <a:ea typeface="Arial"/>
              <a:cs typeface="Arial"/>
              <a:sym typeface="Arial"/>
            </a:endParaRPr>
          </a:p>
        </p:txBody>
      </p:sp>
      <p:sp>
        <p:nvSpPr>
          <p:cNvPr id="225" name="Google Shape;225;p7"/>
          <p:cNvSpPr/>
          <p:nvPr/>
        </p:nvSpPr>
        <p:spPr>
          <a:xfrm>
            <a:off x="360000" y="2376000"/>
            <a:ext cx="2373900" cy="25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0000"/>
                </a:solidFill>
                <a:latin typeface="Rubik"/>
                <a:ea typeface="Rubik"/>
                <a:cs typeface="Rubik"/>
                <a:sym typeface="Rubik"/>
              </a:rPr>
              <a:t>Recrutement </a:t>
            </a:r>
            <a:r>
              <a:rPr b="1" i="0" lang="en-US" sz="750" u="none" cap="none" strike="noStrike">
                <a:solidFill>
                  <a:srgbClr val="26DBE0"/>
                </a:solidFill>
                <a:latin typeface="Rubik"/>
                <a:ea typeface="Rubik"/>
                <a:cs typeface="Rubik"/>
                <a:sym typeface="Rubik"/>
              </a:rPr>
              <a:t>DGO</a:t>
            </a:r>
            <a:r>
              <a:rPr b="1" i="0" lang="en-US" sz="750" u="none" cap="none" strike="noStrike">
                <a:solidFill>
                  <a:srgbClr val="000000"/>
                </a:solidFill>
                <a:latin typeface="Rubik"/>
                <a:ea typeface="Rubik"/>
                <a:cs typeface="Rubik"/>
                <a:sym typeface="Rubik"/>
              </a:rPr>
              <a:t> (4 pers.)</a:t>
            </a:r>
            <a:endParaRPr b="0" i="0" sz="1400" u="none" cap="none" strike="noStrike">
              <a:solidFill>
                <a:srgbClr val="000000"/>
              </a:solidFill>
              <a:latin typeface="Arial"/>
              <a:ea typeface="Arial"/>
              <a:cs typeface="Arial"/>
              <a:sym typeface="Arial"/>
            </a:endParaRPr>
          </a:p>
        </p:txBody>
      </p:sp>
      <p:sp>
        <p:nvSpPr>
          <p:cNvPr id="226" name="Google Shape;226;p7"/>
          <p:cNvSpPr/>
          <p:nvPr/>
        </p:nvSpPr>
        <p:spPr>
          <a:xfrm>
            <a:off x="360000" y="2682000"/>
            <a:ext cx="2373900" cy="25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750"/>
              <a:buFont typeface="Arial"/>
              <a:buNone/>
            </a:pPr>
            <a:r>
              <a:rPr b="1" lang="en-US" sz="750">
                <a:solidFill>
                  <a:schemeClr val="dk1"/>
                </a:solidFill>
                <a:latin typeface="Rubik"/>
                <a:ea typeface="Rubik"/>
                <a:cs typeface="Rubik"/>
                <a:sym typeface="Rubik"/>
              </a:rPr>
              <a:t>Nomination </a:t>
            </a:r>
            <a:r>
              <a:rPr b="1" lang="en-US" sz="750">
                <a:solidFill>
                  <a:srgbClr val="26DBE0"/>
                </a:solidFill>
                <a:latin typeface="Rubik"/>
                <a:ea typeface="Rubik"/>
                <a:cs typeface="Rubik"/>
                <a:sym typeface="Rubik"/>
              </a:rPr>
              <a:t>Data Stewards</a:t>
            </a:r>
            <a:endParaRPr b="1" sz="750">
              <a:solidFill>
                <a:srgbClr val="26DBE0"/>
              </a:solidFill>
              <a:latin typeface="Rubik"/>
              <a:ea typeface="Rubik"/>
              <a:cs typeface="Rubik"/>
              <a:sym typeface="Rubik"/>
            </a:endParaRPr>
          </a:p>
        </p:txBody>
      </p:sp>
      <p:sp>
        <p:nvSpPr>
          <p:cNvPr id="227" name="Google Shape;227;p7"/>
          <p:cNvSpPr/>
          <p:nvPr/>
        </p:nvSpPr>
        <p:spPr>
          <a:xfrm>
            <a:off x="360000" y="2988000"/>
            <a:ext cx="2373900" cy="25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750"/>
              <a:buFont typeface="Arial"/>
              <a:buNone/>
            </a:pPr>
            <a:r>
              <a:rPr b="1" lang="en-US" sz="750">
                <a:solidFill>
                  <a:schemeClr val="dk1"/>
                </a:solidFill>
                <a:latin typeface="Rubik"/>
                <a:ea typeface="Rubik"/>
                <a:cs typeface="Rubik"/>
                <a:sym typeface="Rubik"/>
              </a:rPr>
              <a:t>Déploiement </a:t>
            </a:r>
            <a:r>
              <a:rPr b="1" lang="en-US" sz="750">
                <a:solidFill>
                  <a:srgbClr val="26DBE0"/>
                </a:solidFill>
                <a:latin typeface="Rubik"/>
                <a:ea typeface="Rubik"/>
                <a:cs typeface="Rubik"/>
                <a:sym typeface="Rubik"/>
              </a:rPr>
              <a:t>Alation</a:t>
            </a:r>
            <a:r>
              <a:rPr b="1" lang="en-US" sz="750">
                <a:solidFill>
                  <a:schemeClr val="dk1"/>
                </a:solidFill>
                <a:latin typeface="Rubik"/>
                <a:ea typeface="Rubik"/>
                <a:cs typeface="Rubik"/>
                <a:sym typeface="Rubik"/>
              </a:rPr>
              <a:t> v0</a:t>
            </a:r>
            <a:endParaRPr b="1" sz="750">
              <a:latin typeface="Rubik"/>
              <a:ea typeface="Rubik"/>
              <a:cs typeface="Rubik"/>
              <a:sym typeface="Rubik"/>
            </a:endParaRPr>
          </a:p>
        </p:txBody>
      </p:sp>
      <p:sp>
        <p:nvSpPr>
          <p:cNvPr id="228" name="Google Shape;228;p7"/>
          <p:cNvSpPr/>
          <p:nvPr/>
        </p:nvSpPr>
        <p:spPr>
          <a:xfrm>
            <a:off x="3385055" y="2376000"/>
            <a:ext cx="2373900" cy="25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0000"/>
                </a:solidFill>
                <a:latin typeface="Rubik"/>
                <a:ea typeface="Rubik"/>
                <a:cs typeface="Rubik"/>
                <a:sym typeface="Rubik"/>
              </a:rPr>
              <a:t>Profiling de la baseline des </a:t>
            </a:r>
            <a:r>
              <a:rPr b="1" i="0" lang="en-US" sz="750" u="none" cap="none" strike="noStrike">
                <a:solidFill>
                  <a:srgbClr val="A329DE"/>
                </a:solidFill>
                <a:latin typeface="Rubik"/>
                <a:ea typeface="Rubik"/>
                <a:cs typeface="Rubik"/>
                <a:sym typeface="Rubik"/>
              </a:rPr>
              <a:t>métadonnées</a:t>
            </a:r>
            <a:endParaRPr b="0" i="0" sz="1400" u="none" cap="none" strike="noStrike">
              <a:solidFill>
                <a:srgbClr val="A329DE"/>
              </a:solidFill>
              <a:latin typeface="Arial"/>
              <a:ea typeface="Arial"/>
              <a:cs typeface="Arial"/>
              <a:sym typeface="Arial"/>
            </a:endParaRPr>
          </a:p>
        </p:txBody>
      </p:sp>
      <p:sp>
        <p:nvSpPr>
          <p:cNvPr id="229" name="Google Shape;229;p7"/>
          <p:cNvSpPr/>
          <p:nvPr/>
        </p:nvSpPr>
        <p:spPr>
          <a:xfrm>
            <a:off x="3385055" y="2682000"/>
            <a:ext cx="2373900" cy="25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0000"/>
                </a:solidFill>
                <a:latin typeface="Rubik"/>
                <a:ea typeface="Rubik"/>
                <a:cs typeface="Rubik"/>
                <a:sym typeface="Rubik"/>
              </a:rPr>
              <a:t>Règles </a:t>
            </a:r>
            <a:r>
              <a:rPr b="1" i="0" lang="en-US" sz="750" u="none" cap="none" strike="noStrike">
                <a:solidFill>
                  <a:srgbClr val="A329DE"/>
                </a:solidFill>
                <a:latin typeface="Rubik"/>
                <a:ea typeface="Rubik"/>
                <a:cs typeface="Rubik"/>
                <a:sym typeface="Rubik"/>
              </a:rPr>
              <a:t>Soda.io</a:t>
            </a:r>
            <a:r>
              <a:rPr b="1" i="0" lang="en-US" sz="750" u="none" cap="none" strike="noStrike">
                <a:solidFill>
                  <a:srgbClr val="000000"/>
                </a:solidFill>
                <a:latin typeface="Rubik"/>
                <a:ea typeface="Rubik"/>
                <a:cs typeface="Rubik"/>
                <a:sym typeface="Rubik"/>
              </a:rPr>
              <a:t> en production</a:t>
            </a:r>
            <a:endParaRPr b="0" i="0" sz="1400" u="none" cap="none" strike="noStrike">
              <a:solidFill>
                <a:srgbClr val="000000"/>
              </a:solidFill>
              <a:latin typeface="Arial"/>
              <a:ea typeface="Arial"/>
              <a:cs typeface="Arial"/>
              <a:sym typeface="Arial"/>
            </a:endParaRPr>
          </a:p>
        </p:txBody>
      </p:sp>
      <p:sp>
        <p:nvSpPr>
          <p:cNvPr id="230" name="Google Shape;230;p7"/>
          <p:cNvSpPr/>
          <p:nvPr/>
        </p:nvSpPr>
        <p:spPr>
          <a:xfrm>
            <a:off x="3385055" y="2988000"/>
            <a:ext cx="2373900" cy="25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0000"/>
                </a:solidFill>
                <a:latin typeface="Rubik"/>
                <a:ea typeface="Rubik"/>
                <a:cs typeface="Rubik"/>
                <a:sym typeface="Rubik"/>
              </a:rPr>
              <a:t>Cible : complétude </a:t>
            </a:r>
            <a:r>
              <a:rPr b="1" i="0" lang="en-US" sz="750" u="none" cap="none" strike="noStrike">
                <a:solidFill>
                  <a:srgbClr val="A329DE"/>
                </a:solidFill>
                <a:latin typeface="Rubik"/>
                <a:ea typeface="Rubik"/>
                <a:cs typeface="Rubik"/>
                <a:sym typeface="Rubik"/>
              </a:rPr>
              <a:t>≥ 92 %</a:t>
            </a:r>
            <a:endParaRPr b="0" i="0" sz="1400" u="none" cap="none" strike="noStrike">
              <a:solidFill>
                <a:srgbClr val="A329DE"/>
              </a:solidFill>
              <a:latin typeface="Arial"/>
              <a:ea typeface="Arial"/>
              <a:cs typeface="Arial"/>
              <a:sym typeface="Arial"/>
            </a:endParaRPr>
          </a:p>
        </p:txBody>
      </p:sp>
      <p:sp>
        <p:nvSpPr>
          <p:cNvPr id="231" name="Google Shape;231;p7"/>
          <p:cNvSpPr/>
          <p:nvPr/>
        </p:nvSpPr>
        <p:spPr>
          <a:xfrm>
            <a:off x="6410110" y="2376000"/>
            <a:ext cx="2373900" cy="25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0000"/>
                </a:solidFill>
                <a:latin typeface="Rubik"/>
                <a:ea typeface="Rubik"/>
                <a:cs typeface="Rubik"/>
                <a:sym typeface="Rubik"/>
              </a:rPr>
              <a:t>Extension Alation aux </a:t>
            </a:r>
            <a:r>
              <a:rPr b="1" lang="en-US" sz="750">
                <a:solidFill>
                  <a:srgbClr val="282AFF"/>
                </a:solidFill>
                <a:latin typeface="Rubik"/>
                <a:ea typeface="Rubik"/>
                <a:cs typeface="Rubik"/>
                <a:sym typeface="Rubik"/>
              </a:rPr>
              <a:t>D</a:t>
            </a:r>
            <a:r>
              <a:rPr b="1" i="0" lang="en-US" sz="750" u="none" cap="none" strike="noStrike">
                <a:solidFill>
                  <a:srgbClr val="282AFF"/>
                </a:solidFill>
                <a:latin typeface="Rubik"/>
                <a:ea typeface="Rubik"/>
                <a:cs typeface="Rubik"/>
                <a:sym typeface="Rubik"/>
              </a:rPr>
              <a:t>ata </a:t>
            </a:r>
            <a:r>
              <a:rPr b="1" lang="en-US" sz="750">
                <a:solidFill>
                  <a:srgbClr val="282AFF"/>
                </a:solidFill>
                <a:latin typeface="Rubik"/>
                <a:ea typeface="Rubik"/>
                <a:cs typeface="Rubik"/>
                <a:sym typeface="Rubik"/>
              </a:rPr>
              <a:t>L</a:t>
            </a:r>
            <a:r>
              <a:rPr b="1" i="0" lang="en-US" sz="750" u="none" cap="none" strike="noStrike">
                <a:solidFill>
                  <a:srgbClr val="282AFF"/>
                </a:solidFill>
                <a:latin typeface="Rubik"/>
                <a:ea typeface="Rubik"/>
                <a:cs typeface="Rubik"/>
                <a:sym typeface="Rubik"/>
              </a:rPr>
              <a:t>akes</a:t>
            </a:r>
            <a:endParaRPr b="0" i="0" sz="1400" u="none" cap="none" strike="noStrike">
              <a:solidFill>
                <a:srgbClr val="282AFF"/>
              </a:solidFill>
              <a:latin typeface="Arial"/>
              <a:ea typeface="Arial"/>
              <a:cs typeface="Arial"/>
              <a:sym typeface="Arial"/>
            </a:endParaRPr>
          </a:p>
        </p:txBody>
      </p:sp>
      <p:sp>
        <p:nvSpPr>
          <p:cNvPr id="232" name="Google Shape;232;p7"/>
          <p:cNvSpPr/>
          <p:nvPr/>
        </p:nvSpPr>
        <p:spPr>
          <a:xfrm>
            <a:off x="6410110" y="2682000"/>
            <a:ext cx="2373900" cy="25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282AFF"/>
                </a:solidFill>
                <a:latin typeface="Rubik"/>
                <a:ea typeface="Rubik"/>
                <a:cs typeface="Rubik"/>
                <a:sym typeface="Rubik"/>
              </a:rPr>
              <a:t>Soda.io</a:t>
            </a:r>
            <a:r>
              <a:rPr b="1" i="0" lang="en-US" sz="750" u="none" cap="none" strike="noStrike">
                <a:solidFill>
                  <a:srgbClr val="000000"/>
                </a:solidFill>
                <a:latin typeface="Rubik"/>
                <a:ea typeface="Rubik"/>
                <a:cs typeface="Rubik"/>
                <a:sym typeface="Rubik"/>
              </a:rPr>
              <a:t> Marketing + Finance</a:t>
            </a:r>
            <a:endParaRPr b="0" i="0" sz="1400" u="none" cap="none" strike="noStrike">
              <a:solidFill>
                <a:srgbClr val="000000"/>
              </a:solidFill>
              <a:latin typeface="Arial"/>
              <a:ea typeface="Arial"/>
              <a:cs typeface="Arial"/>
              <a:sym typeface="Arial"/>
            </a:endParaRPr>
          </a:p>
        </p:txBody>
      </p:sp>
      <p:sp>
        <p:nvSpPr>
          <p:cNvPr id="233" name="Google Shape;233;p7"/>
          <p:cNvSpPr/>
          <p:nvPr/>
        </p:nvSpPr>
        <p:spPr>
          <a:xfrm>
            <a:off x="6410110" y="2988000"/>
            <a:ext cx="2373900" cy="25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750"/>
              <a:buFont typeface="Arial"/>
              <a:buNone/>
            </a:pPr>
            <a:r>
              <a:rPr b="1" lang="en-US" sz="750">
                <a:solidFill>
                  <a:schemeClr val="dk1"/>
                </a:solidFill>
                <a:latin typeface="Rubik"/>
                <a:ea typeface="Rubik"/>
                <a:cs typeface="Rubik"/>
                <a:sym typeface="Rubik"/>
              </a:rPr>
              <a:t>Premier </a:t>
            </a:r>
            <a:r>
              <a:rPr b="1" lang="en-US" sz="750">
                <a:solidFill>
                  <a:srgbClr val="282AFF"/>
                </a:solidFill>
                <a:latin typeface="Rubik"/>
                <a:ea typeface="Rubik"/>
                <a:cs typeface="Rubik"/>
                <a:sym typeface="Rubik"/>
              </a:rPr>
              <a:t>audit</a:t>
            </a:r>
            <a:r>
              <a:rPr b="1" lang="en-US" sz="750">
                <a:solidFill>
                  <a:schemeClr val="dk1"/>
                </a:solidFill>
                <a:latin typeface="Rubik"/>
                <a:ea typeface="Rubik"/>
                <a:cs typeface="Rubik"/>
                <a:sym typeface="Rubik"/>
              </a:rPr>
              <a:t> </a:t>
            </a:r>
            <a:r>
              <a:rPr b="1" lang="en-US" sz="750">
                <a:solidFill>
                  <a:srgbClr val="282AFF"/>
                </a:solidFill>
                <a:latin typeface="Rubik"/>
                <a:ea typeface="Rubik"/>
                <a:cs typeface="Rubik"/>
                <a:sym typeface="Rubik"/>
              </a:rPr>
              <a:t>externe</a:t>
            </a:r>
            <a:r>
              <a:rPr b="1" lang="en-US" sz="750">
                <a:solidFill>
                  <a:schemeClr val="dk1"/>
                </a:solidFill>
                <a:latin typeface="Rubik"/>
                <a:ea typeface="Rubik"/>
                <a:cs typeface="Rubik"/>
                <a:sym typeface="Rubik"/>
              </a:rPr>
              <a:t> annuel</a:t>
            </a:r>
            <a:endParaRPr b="1" sz="750">
              <a:latin typeface="Rubik"/>
              <a:ea typeface="Rubik"/>
              <a:cs typeface="Rubik"/>
              <a:sym typeface="Rubik"/>
            </a:endParaRPr>
          </a:p>
        </p:txBody>
      </p:sp>
      <p:sp>
        <p:nvSpPr>
          <p:cNvPr id="234" name="Google Shape;234;p7"/>
          <p:cNvSpPr/>
          <p:nvPr/>
        </p:nvSpPr>
        <p:spPr>
          <a:xfrm>
            <a:off x="360000" y="3888000"/>
            <a:ext cx="8280000" cy="432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KPI PHARE — Complétude métadonnées pistes : baseline (M4) → 92 % (M6) → 97 % (M9) → 99 % (M18)</a:t>
            </a:r>
            <a:endParaRPr b="0" i="0" sz="1400" u="none" cap="none" strike="noStrike">
              <a:solidFill>
                <a:srgbClr val="000000"/>
              </a:solidFill>
              <a:latin typeface="Arial"/>
              <a:ea typeface="Arial"/>
              <a:cs typeface="Arial"/>
              <a:sym typeface="Arial"/>
            </a:endParaRPr>
          </a:p>
        </p:txBody>
      </p:sp>
      <p:sp>
        <p:nvSpPr>
          <p:cNvPr id="235" name="Google Shape;235;p7"/>
          <p:cNvSpPr/>
          <p:nvPr/>
        </p:nvSpPr>
        <p:spPr>
          <a:xfrm>
            <a:off x="2873775" y="1813200"/>
            <a:ext cx="503400" cy="1536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6" name="Google Shape;236;p7"/>
          <p:cNvSpPr/>
          <p:nvPr/>
        </p:nvSpPr>
        <p:spPr>
          <a:xfrm>
            <a:off x="5849363" y="1813200"/>
            <a:ext cx="503400" cy="1536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240" name="Shape 240"/>
        <p:cNvGrpSpPr/>
        <p:nvPr/>
      </p:nvGrpSpPr>
      <p:grpSpPr>
        <a:xfrm>
          <a:off x="0" y="0"/>
          <a:ext cx="0" cy="0"/>
          <a:chOff x="0" y="0"/>
          <a:chExt cx="0" cy="0"/>
        </a:xfrm>
      </p:grpSpPr>
      <p:sp>
        <p:nvSpPr>
          <p:cNvPr id="241" name="Google Shape;241;p8"/>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8"/>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ROI ET IMPACT FINANCIER</a:t>
            </a:r>
            <a:endParaRPr b="0" i="0" sz="1400" u="none" cap="none" strike="noStrike">
              <a:solidFill>
                <a:srgbClr val="000000"/>
              </a:solidFill>
              <a:latin typeface="Arial"/>
              <a:ea typeface="Arial"/>
              <a:cs typeface="Arial"/>
              <a:sym typeface="Arial"/>
            </a:endParaRPr>
          </a:p>
        </p:txBody>
      </p:sp>
      <p:sp>
        <p:nvSpPr>
          <p:cNvPr id="243" name="Google Shape;243;p8"/>
          <p:cNvSpPr/>
          <p:nvPr/>
        </p:nvSpPr>
        <p:spPr>
          <a:xfrm>
            <a:off x="342000" y="1690200"/>
            <a:ext cx="3420000" cy="360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Amendes RGPD évitées</a:t>
            </a:r>
            <a:endParaRPr b="0" i="0" sz="1400" u="none" cap="none" strike="noStrike">
              <a:solidFill>
                <a:srgbClr val="000000"/>
              </a:solidFill>
              <a:latin typeface="Arial"/>
              <a:ea typeface="Arial"/>
              <a:cs typeface="Arial"/>
              <a:sym typeface="Arial"/>
            </a:endParaRPr>
          </a:p>
        </p:txBody>
      </p:sp>
      <p:sp>
        <p:nvSpPr>
          <p:cNvPr id="244" name="Google Shape;244;p8"/>
          <p:cNvSpPr/>
          <p:nvPr/>
        </p:nvSpPr>
        <p:spPr>
          <a:xfrm>
            <a:off x="3870000" y="1690200"/>
            <a:ext cx="144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Rubik"/>
                <a:ea typeface="Rubik"/>
                <a:cs typeface="Rubik"/>
                <a:sym typeface="Rubik"/>
              </a:rPr>
              <a:t>&gt;&gt; 628M EUR</a:t>
            </a:r>
            <a:endParaRPr b="0" i="0" sz="1400" u="none" cap="none" strike="noStrike">
              <a:solidFill>
                <a:srgbClr val="000000"/>
              </a:solidFill>
              <a:latin typeface="Arial"/>
              <a:ea typeface="Arial"/>
              <a:cs typeface="Arial"/>
              <a:sym typeface="Arial"/>
            </a:endParaRPr>
          </a:p>
        </p:txBody>
      </p:sp>
      <p:sp>
        <p:nvSpPr>
          <p:cNvPr id="245" name="Google Shape;245;p8"/>
          <p:cNvSpPr/>
          <p:nvPr/>
        </p:nvSpPr>
        <p:spPr>
          <a:xfrm>
            <a:off x="5382000" y="1690200"/>
            <a:ext cx="342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Rubik"/>
                <a:ea typeface="Rubik"/>
                <a:cs typeface="Rubik"/>
                <a:sym typeface="Rubik"/>
              </a:rPr>
              <a:t>4 % × CA 2024 (15,67Md EUR)</a:t>
            </a:r>
            <a:endParaRPr b="0" i="0" sz="1400" u="none" cap="none" strike="noStrike">
              <a:solidFill>
                <a:srgbClr val="000000"/>
              </a:solidFill>
              <a:latin typeface="Arial"/>
              <a:ea typeface="Arial"/>
              <a:cs typeface="Arial"/>
              <a:sym typeface="Arial"/>
            </a:endParaRPr>
          </a:p>
        </p:txBody>
      </p:sp>
      <p:sp>
        <p:nvSpPr>
          <p:cNvPr id="246" name="Google Shape;246;p8"/>
          <p:cNvSpPr/>
          <p:nvPr/>
        </p:nvSpPr>
        <p:spPr>
          <a:xfrm>
            <a:off x="342000" y="2158200"/>
            <a:ext cx="3420000" cy="360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Rétention améliorée (-0,1 pt churn)</a:t>
            </a:r>
            <a:endParaRPr b="0" i="0" sz="1400" u="none" cap="none" strike="noStrike">
              <a:solidFill>
                <a:srgbClr val="000000"/>
              </a:solidFill>
              <a:latin typeface="Arial"/>
              <a:ea typeface="Arial"/>
              <a:cs typeface="Arial"/>
              <a:sym typeface="Arial"/>
            </a:endParaRPr>
          </a:p>
        </p:txBody>
      </p:sp>
      <p:sp>
        <p:nvSpPr>
          <p:cNvPr id="247" name="Google Shape;247;p8"/>
          <p:cNvSpPr/>
          <p:nvPr/>
        </p:nvSpPr>
        <p:spPr>
          <a:xfrm>
            <a:off x="3870000" y="2158200"/>
            <a:ext cx="144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Rubik"/>
                <a:ea typeface="Rubik"/>
                <a:cs typeface="Rubik"/>
                <a:sym typeface="Rubik"/>
              </a:rPr>
              <a:t>~15M EUR/an</a:t>
            </a:r>
            <a:endParaRPr b="0" i="0" sz="1400" u="none" cap="none" strike="noStrike">
              <a:solidFill>
                <a:srgbClr val="000000"/>
              </a:solidFill>
              <a:latin typeface="Arial"/>
              <a:ea typeface="Arial"/>
              <a:cs typeface="Arial"/>
              <a:sym typeface="Arial"/>
            </a:endParaRPr>
          </a:p>
        </p:txBody>
      </p:sp>
      <p:sp>
        <p:nvSpPr>
          <p:cNvPr id="248" name="Google Shape;248;p8"/>
          <p:cNvSpPr/>
          <p:nvPr/>
        </p:nvSpPr>
        <p:spPr>
          <a:xfrm>
            <a:off x="5382000" y="2158200"/>
            <a:ext cx="342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Rubik"/>
                <a:ea typeface="Rubik"/>
                <a:cs typeface="Rubik"/>
                <a:sym typeface="Rubik"/>
              </a:rPr>
              <a:t>263M abonnés × ARPU 4,69 EUR/mois</a:t>
            </a:r>
            <a:endParaRPr b="0" i="0" sz="1400" u="none" cap="none" strike="noStrike">
              <a:solidFill>
                <a:srgbClr val="000000"/>
              </a:solidFill>
              <a:latin typeface="Arial"/>
              <a:ea typeface="Arial"/>
              <a:cs typeface="Arial"/>
              <a:sym typeface="Arial"/>
            </a:endParaRPr>
          </a:p>
        </p:txBody>
      </p:sp>
      <p:sp>
        <p:nvSpPr>
          <p:cNvPr id="249" name="Google Shape;249;p8"/>
          <p:cNvSpPr/>
          <p:nvPr/>
        </p:nvSpPr>
        <p:spPr>
          <a:xfrm>
            <a:off x="342000" y="2626200"/>
            <a:ext cx="3420000" cy="360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Gains efficacité opérationnelle</a:t>
            </a:r>
            <a:endParaRPr b="0" i="0" sz="1400" u="none" cap="none" strike="noStrike">
              <a:solidFill>
                <a:srgbClr val="000000"/>
              </a:solidFill>
              <a:latin typeface="Arial"/>
              <a:ea typeface="Arial"/>
              <a:cs typeface="Arial"/>
              <a:sym typeface="Arial"/>
            </a:endParaRPr>
          </a:p>
        </p:txBody>
      </p:sp>
      <p:sp>
        <p:nvSpPr>
          <p:cNvPr id="250" name="Google Shape;250;p8"/>
          <p:cNvSpPr/>
          <p:nvPr/>
        </p:nvSpPr>
        <p:spPr>
          <a:xfrm>
            <a:off x="3870000" y="2626200"/>
            <a:ext cx="144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Rubik"/>
                <a:ea typeface="Rubik"/>
                <a:cs typeface="Rubik"/>
                <a:sym typeface="Rubik"/>
              </a:rPr>
              <a:t>~5M EUR/an</a:t>
            </a:r>
            <a:endParaRPr b="0" i="0" sz="1400" u="none" cap="none" strike="noStrike">
              <a:solidFill>
                <a:srgbClr val="000000"/>
              </a:solidFill>
              <a:latin typeface="Arial"/>
              <a:ea typeface="Arial"/>
              <a:cs typeface="Arial"/>
              <a:sym typeface="Arial"/>
            </a:endParaRPr>
          </a:p>
        </p:txBody>
      </p:sp>
      <p:sp>
        <p:nvSpPr>
          <p:cNvPr id="251" name="Google Shape;251;p8"/>
          <p:cNvSpPr/>
          <p:nvPr/>
        </p:nvSpPr>
        <p:spPr>
          <a:xfrm>
            <a:off x="5382000" y="2626200"/>
            <a:ext cx="342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Rubik"/>
                <a:ea typeface="Rubik"/>
                <a:cs typeface="Rubik"/>
                <a:sym typeface="Rubik"/>
              </a:rPr>
              <a:t>Élimination duplications + accès accéléré</a:t>
            </a:r>
            <a:endParaRPr b="0" i="0" sz="1400" u="none" cap="none" strike="noStrike">
              <a:solidFill>
                <a:srgbClr val="000000"/>
              </a:solidFill>
              <a:latin typeface="Arial"/>
              <a:ea typeface="Arial"/>
              <a:cs typeface="Arial"/>
              <a:sym typeface="Arial"/>
            </a:endParaRPr>
          </a:p>
        </p:txBody>
      </p:sp>
      <p:sp>
        <p:nvSpPr>
          <p:cNvPr id="252" name="Google Shape;252;p8"/>
          <p:cNvSpPr/>
          <p:nvPr/>
        </p:nvSpPr>
        <p:spPr>
          <a:xfrm>
            <a:off x="342000" y="3094200"/>
            <a:ext cx="3420000" cy="360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Pénalités secteur évitées (réf. Netflix)</a:t>
            </a:r>
            <a:endParaRPr b="0" i="0" sz="1400" u="none" cap="none" strike="noStrike">
              <a:solidFill>
                <a:srgbClr val="000000"/>
              </a:solidFill>
              <a:latin typeface="Arial"/>
              <a:ea typeface="Arial"/>
              <a:cs typeface="Arial"/>
              <a:sym typeface="Arial"/>
            </a:endParaRPr>
          </a:p>
        </p:txBody>
      </p:sp>
      <p:sp>
        <p:nvSpPr>
          <p:cNvPr id="253" name="Google Shape;253;p8"/>
          <p:cNvSpPr/>
          <p:nvPr/>
        </p:nvSpPr>
        <p:spPr>
          <a:xfrm>
            <a:off x="3870000" y="3094200"/>
            <a:ext cx="144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Rubik"/>
                <a:ea typeface="Rubik"/>
                <a:cs typeface="Rubik"/>
                <a:sym typeface="Rubik"/>
              </a:rPr>
              <a:t>4,75M EUR</a:t>
            </a:r>
            <a:endParaRPr b="0" i="0" sz="1400" u="none" cap="none" strike="noStrike">
              <a:solidFill>
                <a:srgbClr val="000000"/>
              </a:solidFill>
              <a:latin typeface="Arial"/>
              <a:ea typeface="Arial"/>
              <a:cs typeface="Arial"/>
              <a:sym typeface="Arial"/>
            </a:endParaRPr>
          </a:p>
        </p:txBody>
      </p:sp>
      <p:sp>
        <p:nvSpPr>
          <p:cNvPr id="254" name="Google Shape;254;p8"/>
          <p:cNvSpPr/>
          <p:nvPr/>
        </p:nvSpPr>
        <p:spPr>
          <a:xfrm>
            <a:off x="5382000" y="3094200"/>
            <a:ext cx="342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Rubik"/>
                <a:ea typeface="Rubik"/>
                <a:cs typeface="Rubik"/>
                <a:sym typeface="Rubik"/>
              </a:rPr>
              <a:t>Amende AP néerlandaise déc. 2024</a:t>
            </a:r>
            <a:endParaRPr b="0" i="0" sz="1400" u="none" cap="none" strike="noStrike">
              <a:solidFill>
                <a:srgbClr val="000000"/>
              </a:solidFill>
              <a:latin typeface="Arial"/>
              <a:ea typeface="Arial"/>
              <a:cs typeface="Arial"/>
              <a:sym typeface="Arial"/>
            </a:endParaRPr>
          </a:p>
        </p:txBody>
      </p:sp>
      <p:sp>
        <p:nvSpPr>
          <p:cNvPr id="255" name="Google Shape;255;p8"/>
          <p:cNvSpPr/>
          <p:nvPr/>
        </p:nvSpPr>
        <p:spPr>
          <a:xfrm>
            <a:off x="360000" y="3953400"/>
            <a:ext cx="8280000" cy="468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ROI projeté : ×10 minimum sur 3 ans</a:t>
            </a:r>
            <a:endParaRPr b="0" i="0" sz="1400" u="none" cap="none" strike="noStrike">
              <a:solidFill>
                <a:srgbClr val="000000"/>
              </a:solidFill>
              <a:latin typeface="Arial"/>
              <a:ea typeface="Arial"/>
              <a:cs typeface="Arial"/>
              <a:sym typeface="Arial"/>
            </a:endParaRPr>
          </a:p>
        </p:txBody>
      </p:sp>
      <p:sp>
        <p:nvSpPr>
          <p:cNvPr id="256" name="Google Shape;256;p8"/>
          <p:cNvSpPr/>
          <p:nvPr/>
        </p:nvSpPr>
        <p:spPr>
          <a:xfrm>
            <a:off x="3870000" y="1222200"/>
            <a:ext cx="1440000" cy="360000"/>
          </a:xfrm>
          <a:prstGeom prst="roundRect">
            <a:avLst>
              <a:gd fmla="val 5000" name="adj"/>
            </a:avLst>
          </a:prstGeom>
          <a:solidFill>
            <a:srgbClr val="282A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lang="en-US" sz="1100">
                <a:solidFill>
                  <a:schemeClr val="lt1"/>
                </a:solidFill>
                <a:latin typeface="Rubik"/>
                <a:ea typeface="Rubik"/>
                <a:cs typeface="Rubik"/>
                <a:sym typeface="Rubik"/>
              </a:rPr>
              <a:t>MONTANT</a:t>
            </a:r>
            <a:endParaRPr b="0" i="0" sz="1400" u="none" cap="none" strike="noStrike">
              <a:solidFill>
                <a:schemeClr val="lt1"/>
              </a:solidFill>
              <a:latin typeface="Arial"/>
              <a:ea typeface="Arial"/>
              <a:cs typeface="Arial"/>
              <a:sym typeface="Arial"/>
            </a:endParaRPr>
          </a:p>
        </p:txBody>
      </p:sp>
      <p:sp>
        <p:nvSpPr>
          <p:cNvPr id="257" name="Google Shape;257;p8"/>
          <p:cNvSpPr/>
          <p:nvPr/>
        </p:nvSpPr>
        <p:spPr>
          <a:xfrm>
            <a:off x="5382000" y="1222200"/>
            <a:ext cx="3420000" cy="360000"/>
          </a:xfrm>
          <a:prstGeom prst="roundRect">
            <a:avLst>
              <a:gd fmla="val 5000" name="adj"/>
            </a:avLst>
          </a:prstGeom>
          <a:solidFill>
            <a:srgbClr val="282A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lang="en-US" sz="1100">
                <a:solidFill>
                  <a:schemeClr val="lt1"/>
                </a:solidFill>
                <a:latin typeface="Rubik"/>
                <a:ea typeface="Rubik"/>
                <a:cs typeface="Rubik"/>
                <a:sym typeface="Rubik"/>
              </a:rPr>
              <a:t>CALCUL</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261" name="Shape 261"/>
        <p:cNvGrpSpPr/>
        <p:nvPr/>
      </p:nvGrpSpPr>
      <p:grpSpPr>
        <a:xfrm>
          <a:off x="0" y="0"/>
          <a:ext cx="0" cy="0"/>
          <a:chOff x="0" y="0"/>
          <a:chExt cx="0" cy="0"/>
        </a:xfrm>
      </p:grpSpPr>
      <p:sp>
        <p:nvSpPr>
          <p:cNvPr id="262" name="Google Shape;262;p9"/>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3" name="Google Shape;263;p9"/>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CONFORMITÉ ET ACCESSIBILITÉ INTÉGRÉES</a:t>
            </a:r>
            <a:endParaRPr b="0" i="0" sz="1400" u="none" cap="none" strike="noStrike">
              <a:solidFill>
                <a:srgbClr val="000000"/>
              </a:solidFill>
              <a:latin typeface="Arial"/>
              <a:ea typeface="Arial"/>
              <a:cs typeface="Arial"/>
              <a:sym typeface="Arial"/>
            </a:endParaRPr>
          </a:p>
        </p:txBody>
      </p:sp>
      <p:sp>
        <p:nvSpPr>
          <p:cNvPr id="264" name="Google Shape;264;p9"/>
          <p:cNvSpPr/>
          <p:nvPr/>
        </p:nvSpPr>
        <p:spPr>
          <a:xfrm>
            <a:off x="540000" y="115200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9"/>
          <p:cNvSpPr/>
          <p:nvPr/>
        </p:nvSpPr>
        <p:spPr>
          <a:xfrm>
            <a:off x="612000" y="1224000"/>
            <a:ext cx="2340000" cy="612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CONFORMITÉ</a:t>
            </a:r>
            <a:endParaRPr b="0" i="0" sz="1400" u="none" cap="none" strike="noStrike">
              <a:solidFill>
                <a:srgbClr val="000000"/>
              </a:solidFill>
              <a:latin typeface="Arial"/>
              <a:ea typeface="Arial"/>
              <a:cs typeface="Arial"/>
              <a:sym typeface="Arial"/>
            </a:endParaRPr>
          </a:p>
        </p:txBody>
      </p:sp>
      <p:sp>
        <p:nvSpPr>
          <p:cNvPr id="266" name="Google Shape;266;p9"/>
          <p:cNvSpPr/>
          <p:nvPr/>
        </p:nvSpPr>
        <p:spPr>
          <a:xfrm>
            <a:off x="5760000" y="115200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7" name="Google Shape;267;p9"/>
          <p:cNvSpPr/>
          <p:nvPr/>
        </p:nvSpPr>
        <p:spPr>
          <a:xfrm>
            <a:off x="5832000" y="1224000"/>
            <a:ext cx="2340000" cy="612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ubik"/>
                <a:ea typeface="Rubik"/>
                <a:cs typeface="Rubik"/>
                <a:sym typeface="Rubik"/>
              </a:rPr>
              <a:t>ACCESSIBILITÉ</a:t>
            </a:r>
            <a:endParaRPr b="0" i="0" sz="1400" u="none" cap="none" strike="noStrike">
              <a:solidFill>
                <a:srgbClr val="000000"/>
              </a:solidFill>
              <a:latin typeface="Arial"/>
              <a:ea typeface="Arial"/>
              <a:cs typeface="Arial"/>
              <a:sym typeface="Arial"/>
            </a:endParaRPr>
          </a:p>
        </p:txBody>
      </p:sp>
      <p:sp>
        <p:nvSpPr>
          <p:cNvPr id="268" name="Google Shape;268;p9"/>
          <p:cNvSpPr/>
          <p:nvPr/>
        </p:nvSpPr>
        <p:spPr>
          <a:xfrm>
            <a:off x="346950" y="2124000"/>
            <a:ext cx="5040000" cy="360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RGPD : Consentement, DSAR 30j, notification 72h (Art. 33)</a:t>
            </a:r>
            <a:endParaRPr b="0" i="0" sz="1400" u="none" cap="none" strike="noStrike">
              <a:solidFill>
                <a:srgbClr val="000000"/>
              </a:solidFill>
              <a:latin typeface="Arial"/>
              <a:ea typeface="Arial"/>
              <a:cs typeface="Arial"/>
              <a:sym typeface="Arial"/>
            </a:endParaRPr>
          </a:p>
        </p:txBody>
      </p:sp>
      <p:sp>
        <p:nvSpPr>
          <p:cNvPr id="269" name="Google Shape;269;p9"/>
          <p:cNvSpPr/>
          <p:nvPr/>
        </p:nvSpPr>
        <p:spPr>
          <a:xfrm>
            <a:off x="346950" y="2878800"/>
            <a:ext cx="5040000" cy="360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CCPA : Opt-out intégré workflow DSAR unifié OneTrust</a:t>
            </a:r>
            <a:endParaRPr b="0" i="0" sz="1400" u="none" cap="none" strike="noStrike">
              <a:solidFill>
                <a:srgbClr val="000000"/>
              </a:solidFill>
              <a:latin typeface="Arial"/>
              <a:ea typeface="Arial"/>
              <a:cs typeface="Arial"/>
              <a:sym typeface="Arial"/>
            </a:endParaRPr>
          </a:p>
        </p:txBody>
      </p:sp>
      <p:sp>
        <p:nvSpPr>
          <p:cNvPr id="270" name="Google Shape;270;p9"/>
          <p:cNvSpPr/>
          <p:nvPr/>
        </p:nvSpPr>
        <p:spPr>
          <a:xfrm>
            <a:off x="346950" y="3633600"/>
            <a:ext cx="5040000" cy="360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PCI-DSS v4.0 : Périmètre paiement, AES-256, pentest</a:t>
            </a:r>
            <a:endParaRPr b="0" i="0" sz="1400" u="none" cap="none" strike="noStrike">
              <a:solidFill>
                <a:srgbClr val="000000"/>
              </a:solidFill>
              <a:latin typeface="Arial"/>
              <a:ea typeface="Arial"/>
              <a:cs typeface="Arial"/>
              <a:sym typeface="Arial"/>
            </a:endParaRPr>
          </a:p>
        </p:txBody>
      </p:sp>
      <p:sp>
        <p:nvSpPr>
          <p:cNvPr id="271" name="Google Shape;271;p9"/>
          <p:cNvSpPr/>
          <p:nvPr/>
        </p:nvSpPr>
        <p:spPr>
          <a:xfrm>
            <a:off x="346950" y="4388400"/>
            <a:ext cx="5040000" cy="360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EU AI Act : Transparence algorithmique, anti-biais</a:t>
            </a:r>
            <a:endParaRPr b="0" i="0" sz="1400" u="none" cap="none" strike="noStrike">
              <a:solidFill>
                <a:srgbClr val="000000"/>
              </a:solidFill>
              <a:latin typeface="Arial"/>
              <a:ea typeface="Arial"/>
              <a:cs typeface="Arial"/>
              <a:sym typeface="Arial"/>
            </a:endParaRPr>
          </a:p>
        </p:txBody>
      </p:sp>
      <p:sp>
        <p:nvSpPr>
          <p:cNvPr id="272" name="Google Shape;272;p9"/>
          <p:cNvSpPr/>
          <p:nvPr/>
        </p:nvSpPr>
        <p:spPr>
          <a:xfrm>
            <a:off x="5760000" y="1944000"/>
            <a:ext cx="3060000" cy="46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Formation conforme </a:t>
            </a:r>
            <a:r>
              <a:rPr b="1" i="0" lang="en-US" sz="900" u="none" cap="none" strike="noStrike">
                <a:solidFill>
                  <a:srgbClr val="A329DE"/>
                </a:solidFill>
                <a:latin typeface="Rubik"/>
                <a:ea typeface="Rubik"/>
                <a:cs typeface="Rubik"/>
                <a:sym typeface="Rubik"/>
              </a:rPr>
              <a:t>WCAG 2.1 AA</a:t>
            </a:r>
            <a:br>
              <a:rPr b="1" i="0" lang="en-US" sz="900" u="none" cap="none" strike="noStrike">
                <a:solidFill>
                  <a:srgbClr val="A329DE"/>
                </a:solidFill>
                <a:latin typeface="Rubik"/>
                <a:ea typeface="Rubik"/>
                <a:cs typeface="Rubik"/>
                <a:sym typeface="Rubik"/>
              </a:rPr>
            </a:br>
            <a:r>
              <a:rPr b="1" i="0" lang="en-US" sz="900" u="none" cap="none" strike="noStrike">
                <a:solidFill>
                  <a:srgbClr val="000000"/>
                </a:solidFill>
                <a:latin typeface="Rubik"/>
                <a:ea typeface="Rubik"/>
                <a:cs typeface="Rubik"/>
                <a:sym typeface="Rubik"/>
              </a:rPr>
              <a:t>et </a:t>
            </a:r>
            <a:r>
              <a:rPr b="1" i="0" lang="en-US" sz="900" u="none" cap="none" strike="noStrike">
                <a:solidFill>
                  <a:srgbClr val="A329DE"/>
                </a:solidFill>
                <a:latin typeface="Rubik"/>
                <a:ea typeface="Rubik"/>
                <a:cs typeface="Rubik"/>
                <a:sym typeface="Rubik"/>
              </a:rPr>
              <a:t>RGAA v4.1</a:t>
            </a:r>
            <a:endParaRPr b="0" i="0" sz="1400" u="none" cap="none" strike="noStrike">
              <a:solidFill>
                <a:srgbClr val="A329DE"/>
              </a:solidFill>
              <a:latin typeface="Arial"/>
              <a:ea typeface="Arial"/>
              <a:cs typeface="Arial"/>
              <a:sym typeface="Arial"/>
            </a:endParaRPr>
          </a:p>
        </p:txBody>
      </p:sp>
      <p:sp>
        <p:nvSpPr>
          <p:cNvPr id="273" name="Google Shape;273;p9"/>
          <p:cNvSpPr/>
          <p:nvPr/>
        </p:nvSpPr>
        <p:spPr>
          <a:xfrm>
            <a:off x="5760000" y="2502000"/>
            <a:ext cx="3060000" cy="46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Outils sélectionnés sur </a:t>
            </a:r>
            <a:r>
              <a:rPr b="1" i="0" lang="en-US" sz="900" u="none" cap="none" strike="noStrike">
                <a:solidFill>
                  <a:srgbClr val="A329DE"/>
                </a:solidFill>
                <a:latin typeface="Rubik"/>
                <a:ea typeface="Rubik"/>
                <a:cs typeface="Rubik"/>
                <a:sym typeface="Rubik"/>
              </a:rPr>
              <a:t>critères</a:t>
            </a:r>
            <a:br>
              <a:rPr b="1" i="0" lang="en-US" sz="900" u="none" cap="none" strike="noStrike">
                <a:solidFill>
                  <a:srgbClr val="A329DE"/>
                </a:solidFill>
                <a:latin typeface="Rubik"/>
                <a:ea typeface="Rubik"/>
                <a:cs typeface="Rubik"/>
                <a:sym typeface="Rubik"/>
              </a:rPr>
            </a:br>
            <a:r>
              <a:rPr b="1" i="0" lang="en-US" sz="900" u="none" cap="none" strike="noStrike">
                <a:solidFill>
                  <a:srgbClr val="A329DE"/>
                </a:solidFill>
                <a:latin typeface="Rubik"/>
                <a:ea typeface="Rubik"/>
                <a:cs typeface="Rubik"/>
                <a:sym typeface="Rubik"/>
              </a:rPr>
              <a:t>d'accessibilité</a:t>
            </a:r>
            <a:endParaRPr b="1" i="0" sz="1400" u="none" cap="none" strike="noStrike">
              <a:solidFill>
                <a:srgbClr val="A329DE"/>
              </a:solidFill>
            </a:endParaRPr>
          </a:p>
        </p:txBody>
      </p:sp>
      <p:sp>
        <p:nvSpPr>
          <p:cNvPr id="274" name="Google Shape;274;p9"/>
          <p:cNvSpPr/>
          <p:nvPr/>
        </p:nvSpPr>
        <p:spPr>
          <a:xfrm>
            <a:off x="5760000" y="3060000"/>
            <a:ext cx="3060000" cy="46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Rubik"/>
                <a:ea typeface="Rubik"/>
                <a:cs typeface="Rubik"/>
                <a:sym typeface="Rubik"/>
              </a:rPr>
              <a:t>Taux completion mesuré de</a:t>
            </a:r>
            <a:br>
              <a:rPr b="1" i="0" lang="en-US" sz="900" u="none" cap="none" strike="noStrike">
                <a:solidFill>
                  <a:srgbClr val="000000"/>
                </a:solidFill>
                <a:latin typeface="Rubik"/>
                <a:ea typeface="Rubik"/>
                <a:cs typeface="Rubik"/>
                <a:sym typeface="Rubik"/>
              </a:rPr>
            </a:br>
            <a:r>
              <a:rPr b="1" i="0" lang="en-US" sz="900" u="none" cap="none" strike="noStrike">
                <a:solidFill>
                  <a:srgbClr val="000000"/>
                </a:solidFill>
                <a:latin typeface="Rubik"/>
                <a:ea typeface="Rubik"/>
                <a:cs typeface="Rubik"/>
                <a:sym typeface="Rubik"/>
              </a:rPr>
              <a:t>manière </a:t>
            </a:r>
            <a:r>
              <a:rPr b="1" i="0" lang="en-US" sz="900" u="none" cap="none" strike="noStrike">
                <a:solidFill>
                  <a:srgbClr val="A329DE"/>
                </a:solidFill>
                <a:latin typeface="Rubik"/>
                <a:ea typeface="Rubik"/>
                <a:cs typeface="Rubik"/>
                <a:sym typeface="Rubik"/>
              </a:rPr>
              <a:t>désagrégée</a:t>
            </a:r>
            <a:endParaRPr b="0" i="0" sz="1400" u="none" cap="none" strike="noStrike">
              <a:solidFill>
                <a:srgbClr val="A329DE"/>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278" name="Shape 278"/>
        <p:cNvGrpSpPr/>
        <p:nvPr/>
      </p:nvGrpSpPr>
      <p:grpSpPr>
        <a:xfrm>
          <a:off x="0" y="0"/>
          <a:ext cx="0" cy="0"/>
          <a:chOff x="0" y="0"/>
          <a:chExt cx="0" cy="0"/>
        </a:xfrm>
      </p:grpSpPr>
      <p:sp>
        <p:nvSpPr>
          <p:cNvPr id="279" name="Google Shape;279;p10"/>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10"/>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CONCLUSION ET DEMANDE FORMELLE</a:t>
            </a:r>
            <a:endParaRPr b="0" i="0" sz="1400" u="none" cap="none" strike="noStrike">
              <a:solidFill>
                <a:srgbClr val="000000"/>
              </a:solidFill>
              <a:latin typeface="Arial"/>
              <a:ea typeface="Arial"/>
              <a:cs typeface="Arial"/>
              <a:sym typeface="Arial"/>
            </a:endParaRPr>
          </a:p>
        </p:txBody>
      </p:sp>
      <p:sp>
        <p:nvSpPr>
          <p:cNvPr id="281" name="Google Shape;281;p10"/>
          <p:cNvSpPr/>
          <p:nvPr/>
        </p:nvSpPr>
        <p:spPr>
          <a:xfrm>
            <a:off x="360000" y="1871050"/>
            <a:ext cx="8280000" cy="432000"/>
          </a:xfrm>
          <a:prstGeom prst="roundRect">
            <a:avLst>
              <a:gd fmla="val 5000" name="adj"/>
            </a:avLst>
          </a:prstGeom>
          <a:solidFill>
            <a:schemeClr val="lt1"/>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Rubik"/>
                <a:ea typeface="Rubik"/>
                <a:cs typeface="Rubik"/>
                <a:sym typeface="Rubik"/>
              </a:rPr>
              <a:t> Investir maintenant, pendant que Spotify est profitable pour la 1ère fois, est </a:t>
            </a:r>
            <a:r>
              <a:rPr b="1" i="0" lang="en-US" sz="1100" u="none" cap="none" strike="noStrike">
                <a:solidFill>
                  <a:schemeClr val="accent6"/>
                </a:solidFill>
                <a:latin typeface="Rubik"/>
                <a:ea typeface="Rubik"/>
                <a:cs typeface="Rubik"/>
                <a:sym typeface="Rubik"/>
              </a:rPr>
              <a:t>stratégiquement optimal</a:t>
            </a:r>
            <a:r>
              <a:rPr b="1" i="0" lang="en-US" sz="1100" u="none" cap="none" strike="noStrike">
                <a:solidFill>
                  <a:schemeClr val="dk1"/>
                </a:solidFill>
                <a:latin typeface="Rubik"/>
                <a:ea typeface="Rubik"/>
                <a:cs typeface="Rubik"/>
                <a:sym typeface="Rubik"/>
              </a:rPr>
              <a:t>.</a:t>
            </a:r>
            <a:endParaRPr b="0" i="0" sz="1400" u="none" cap="none" strike="noStrike">
              <a:solidFill>
                <a:schemeClr val="dk1"/>
              </a:solidFill>
              <a:latin typeface="Arial"/>
              <a:ea typeface="Arial"/>
              <a:cs typeface="Arial"/>
              <a:sym typeface="Arial"/>
            </a:endParaRPr>
          </a:p>
        </p:txBody>
      </p:sp>
      <p:sp>
        <p:nvSpPr>
          <p:cNvPr id="282" name="Google Shape;282;p10"/>
          <p:cNvSpPr/>
          <p:nvPr/>
        </p:nvSpPr>
        <p:spPr>
          <a:xfrm>
            <a:off x="360000" y="2407175"/>
            <a:ext cx="8280000" cy="54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Rubik"/>
                <a:ea typeface="Rubik"/>
                <a:cs typeface="Rubik"/>
                <a:sym typeface="Rubik"/>
              </a:rPr>
              <a:t>Demande : </a:t>
            </a:r>
            <a:r>
              <a:rPr b="1" i="0" lang="en-US" sz="1100" u="none" cap="none" strike="noStrike">
                <a:solidFill>
                  <a:schemeClr val="accent6"/>
                </a:solidFill>
                <a:latin typeface="Rubik"/>
                <a:ea typeface="Rubik"/>
                <a:cs typeface="Rubik"/>
                <a:sym typeface="Rubik"/>
              </a:rPr>
              <a:t>approbation de 391 000 EUR</a:t>
            </a:r>
            <a:r>
              <a:rPr b="1" i="0" lang="en-US" sz="1100" u="none" cap="none" strike="noStrike">
                <a:solidFill>
                  <a:srgbClr val="000000"/>
                </a:solidFill>
                <a:latin typeface="Rubik"/>
                <a:ea typeface="Rubik"/>
                <a:cs typeface="Rubik"/>
                <a:sym typeface="Rubik"/>
              </a:rPr>
              <a:t> pour la Phase 1 (Mois 1-3) — recrutement DGD, constitution DGO, procurement Alation.</a:t>
            </a:r>
            <a:endParaRPr b="0" i="0" sz="1400" u="none" cap="none" strike="noStrike">
              <a:solidFill>
                <a:srgbClr val="000000"/>
              </a:solidFill>
              <a:latin typeface="Arial"/>
              <a:ea typeface="Arial"/>
              <a:cs typeface="Arial"/>
              <a:sym typeface="Arial"/>
            </a:endParaRPr>
          </a:p>
        </p:txBody>
      </p:sp>
      <p:sp>
        <p:nvSpPr>
          <p:cNvPr id="283" name="Google Shape;283;p10"/>
          <p:cNvSpPr/>
          <p:nvPr/>
        </p:nvSpPr>
        <p:spPr>
          <a:xfrm>
            <a:off x="360000" y="3953400"/>
            <a:ext cx="8280000" cy="360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Rubik"/>
                <a:ea typeface="Rubik"/>
                <a:cs typeface="Rubik"/>
                <a:sym typeface="Rubik"/>
              </a:rPr>
              <a:t>Prochaine étape : lancement recrutement Directeur de Gouvernance dans les 2 semaines.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7" name="Shape 287"/>
        <p:cNvGrpSpPr/>
        <p:nvPr/>
      </p:nvGrpSpPr>
      <p:grpSpPr>
        <a:xfrm>
          <a:off x="0" y="0"/>
          <a:ext cx="0" cy="0"/>
          <a:chOff x="0" y="0"/>
          <a:chExt cx="0" cy="0"/>
        </a:xfrm>
      </p:grpSpPr>
      <p:sp>
        <p:nvSpPr>
          <p:cNvPr id="288" name="Google Shape;288;p11"/>
          <p:cNvSpPr/>
          <p:nvPr/>
        </p:nvSpPr>
        <p:spPr>
          <a:xfrm>
            <a:off x="1980000" y="1289400"/>
            <a:ext cx="5040000" cy="828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11"/>
          <p:cNvSpPr/>
          <p:nvPr/>
        </p:nvSpPr>
        <p:spPr>
          <a:xfrm>
            <a:off x="2124000" y="1145400"/>
            <a:ext cx="5040000" cy="828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Rubik"/>
                <a:ea typeface="Rubik"/>
                <a:cs typeface="Rubik"/>
                <a:sym typeface="Rubik"/>
              </a:rPr>
              <a:t>DES QUESTIONS ?</a:t>
            </a:r>
            <a:endParaRPr b="0" i="0" sz="1400" u="none" cap="none" strike="noStrike">
              <a:solidFill>
                <a:schemeClr val="dk1"/>
              </a:solidFill>
              <a:latin typeface="Arial"/>
              <a:ea typeface="Arial"/>
              <a:cs typeface="Arial"/>
              <a:sym typeface="Arial"/>
            </a:endParaRPr>
          </a:p>
        </p:txBody>
      </p:sp>
      <p:pic>
        <p:nvPicPr>
          <p:cNvPr id="290" name="Google Shape;290;p11"/>
          <p:cNvPicPr preferRelativeResize="0"/>
          <p:nvPr/>
        </p:nvPicPr>
        <p:blipFill rotWithShape="1">
          <a:blip r:embed="rId3">
            <a:alphaModFix/>
          </a:blip>
          <a:srcRect b="0" l="0" r="0" t="0"/>
          <a:stretch/>
        </p:blipFill>
        <p:spPr>
          <a:xfrm>
            <a:off x="3827588" y="2452280"/>
            <a:ext cx="1632824" cy="15467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294" name="Shape 294"/>
        <p:cNvGrpSpPr/>
        <p:nvPr/>
      </p:nvGrpSpPr>
      <p:grpSpPr>
        <a:xfrm>
          <a:off x="0" y="0"/>
          <a:ext cx="0" cy="0"/>
          <a:chOff x="0" y="0"/>
          <a:chExt cx="0" cy="0"/>
        </a:xfrm>
      </p:grpSpPr>
      <p:sp>
        <p:nvSpPr>
          <p:cNvPr id="295" name="Google Shape;295;g3d432c3de39_0_0"/>
          <p:cNvSpPr/>
          <p:nvPr/>
        </p:nvSpPr>
        <p:spPr>
          <a:xfrm>
            <a:off x="756000" y="1908000"/>
            <a:ext cx="7488000" cy="1800000"/>
          </a:xfrm>
          <a:prstGeom prst="rect">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g3d432c3de39_0_0"/>
          <p:cNvSpPr/>
          <p:nvPr/>
        </p:nvSpPr>
        <p:spPr>
          <a:xfrm>
            <a:off x="827999" y="1728000"/>
            <a:ext cx="7488000" cy="1872000"/>
          </a:xfrm>
          <a:prstGeom prst="rect">
            <a:avLst/>
          </a:prstGeom>
          <a:solidFill>
            <a:schemeClr val="lt1"/>
          </a:solidFill>
          <a:ln cap="flat" cmpd="sng" w="9525">
            <a:solidFill>
              <a:schemeClr val="accent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sz="3600">
                <a:solidFill>
                  <a:schemeClr val="dk1"/>
                </a:solidFill>
              </a:rPr>
              <a:t>Architecture de Données</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800"/>
              </a:spcBef>
              <a:spcAft>
                <a:spcPts val="0"/>
              </a:spcAft>
              <a:buClr>
                <a:srgbClr val="000000"/>
              </a:buClr>
              <a:buSzPts val="2400"/>
              <a:buFont typeface="Arial"/>
              <a:buNone/>
            </a:pPr>
            <a:r>
              <a:rPr b="1" i="0" lang="en-US" sz="2400" u="none" cap="none" strike="noStrike">
                <a:solidFill>
                  <a:srgbClr val="282AFF"/>
                </a:solidFill>
                <a:latin typeface="Rubik"/>
                <a:ea typeface="Rubik"/>
                <a:cs typeface="Rubik"/>
                <a:sym typeface="Rubik"/>
              </a:rPr>
              <a:t>De </a:t>
            </a:r>
            <a:r>
              <a:rPr b="1" lang="en-US" sz="2400">
                <a:solidFill>
                  <a:srgbClr val="282AFF"/>
                </a:solidFill>
                <a:latin typeface="Rubik"/>
                <a:ea typeface="Rubik"/>
                <a:cs typeface="Rubik"/>
                <a:sym typeface="Rubik"/>
              </a:rPr>
              <a:t>l’intégration à la Performance </a:t>
            </a:r>
            <a:r>
              <a:rPr b="1" i="0" lang="en-US" sz="2400" u="none" cap="none" strike="noStrike">
                <a:solidFill>
                  <a:srgbClr val="282AFF"/>
                </a:solidFill>
                <a:latin typeface="Rubik"/>
                <a:ea typeface="Rubik"/>
                <a:cs typeface="Rubik"/>
                <a:sym typeface="Rubik"/>
              </a:rPr>
              <a:t>chez </a:t>
            </a:r>
            <a:r>
              <a:rPr b="1" lang="en-US" sz="2400">
                <a:solidFill>
                  <a:srgbClr val="282AFF"/>
                </a:solidFill>
                <a:latin typeface="Rubik"/>
                <a:ea typeface="Rubik"/>
                <a:cs typeface="Rubik"/>
                <a:sym typeface="Rubik"/>
              </a:rPr>
              <a:t>Stripe</a:t>
            </a:r>
            <a:endParaRPr b="1" i="0" sz="1400" u="none" cap="none" strike="noStrike">
              <a:solidFill>
                <a:srgbClr val="282AFF"/>
              </a:solidFill>
              <a:latin typeface="Arial"/>
              <a:ea typeface="Arial"/>
              <a:cs typeface="Arial"/>
              <a:sym typeface="Arial"/>
            </a:endParaRPr>
          </a:p>
          <a:p>
            <a:pPr indent="0" lvl="0" marL="0" marR="0" rtl="0" algn="ctr">
              <a:lnSpc>
                <a:spcPct val="100000"/>
              </a:lnSpc>
              <a:spcBef>
                <a:spcPts val="2000"/>
              </a:spcBef>
              <a:spcAft>
                <a:spcPts val="0"/>
              </a:spcAft>
              <a:buClr>
                <a:srgbClr val="000000"/>
              </a:buClr>
              <a:buSzPts val="1200"/>
              <a:buFont typeface="Arial"/>
              <a:buNone/>
            </a:pPr>
            <a:r>
              <a:rPr b="0" i="0" lang="en-US" sz="1200" u="none" cap="none" strike="noStrike">
                <a:solidFill>
                  <a:schemeClr val="dk1"/>
                </a:solidFill>
                <a:latin typeface="Rubik"/>
                <a:ea typeface="Rubik"/>
                <a:cs typeface="Rubik"/>
                <a:sym typeface="Rubik"/>
              </a:rPr>
              <a:t>Certification AIA — </a:t>
            </a:r>
            <a:r>
              <a:rPr lang="en-US" sz="1200">
                <a:solidFill>
                  <a:schemeClr val="dk1"/>
                </a:solidFill>
              </a:rPr>
              <a:t>Bloc 2 : Concevoir et Déployer des Architectures de Données</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200"/>
              <a:buFont typeface="Arial"/>
              <a:buNone/>
            </a:pPr>
            <a:r>
              <a:rPr b="0" i="0" lang="en-US" sz="1200" u="none" cap="none" strike="noStrike">
                <a:solidFill>
                  <a:schemeClr val="dk1"/>
                </a:solidFill>
                <a:latin typeface="Rubik"/>
                <a:ea typeface="Rubik"/>
                <a:cs typeface="Rubik"/>
                <a:sym typeface="Rubik"/>
              </a:rPr>
              <a:t>Mathis GENTHON  |  7 Avril 2026</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300" name="Shape 300"/>
        <p:cNvGrpSpPr/>
        <p:nvPr/>
      </p:nvGrpSpPr>
      <p:grpSpPr>
        <a:xfrm>
          <a:off x="0" y="0"/>
          <a:ext cx="0" cy="0"/>
          <a:chOff x="0" y="0"/>
          <a:chExt cx="0" cy="0"/>
        </a:xfrm>
      </p:grpSpPr>
      <p:sp>
        <p:nvSpPr>
          <p:cNvPr id="301" name="Google Shape;301;g3d432c3de39_0_5"/>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g3d432c3de39_0_5"/>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ubik"/>
                <a:ea typeface="Rubik"/>
                <a:cs typeface="Rubik"/>
                <a:sym typeface="Rubik"/>
              </a:rPr>
              <a:t>LE DÉFI : </a:t>
            </a:r>
            <a:r>
              <a:rPr b="1" lang="en-US" sz="1800">
                <a:latin typeface="Rubik"/>
                <a:ea typeface="Rubik"/>
                <a:cs typeface="Rubik"/>
                <a:sym typeface="Rubik"/>
              </a:rPr>
              <a:t>TROIS SYSTÈMES, ZERO COHÉRENCE</a:t>
            </a:r>
            <a:endParaRPr b="0" i="0" sz="1400" u="none" cap="none" strike="noStrike">
              <a:solidFill>
                <a:srgbClr val="000000"/>
              </a:solidFill>
              <a:latin typeface="Arial"/>
              <a:ea typeface="Arial"/>
              <a:cs typeface="Arial"/>
              <a:sym typeface="Arial"/>
            </a:endParaRPr>
          </a:p>
        </p:txBody>
      </p:sp>
      <p:sp>
        <p:nvSpPr>
          <p:cNvPr id="303" name="Google Shape;303;g3d432c3de39_0_5"/>
          <p:cNvSpPr/>
          <p:nvPr/>
        </p:nvSpPr>
        <p:spPr>
          <a:xfrm>
            <a:off x="576000" y="2263450"/>
            <a:ext cx="2340000" cy="612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g3d432c3de39_0_5"/>
          <p:cNvSpPr/>
          <p:nvPr/>
        </p:nvSpPr>
        <p:spPr>
          <a:xfrm>
            <a:off x="648000" y="2335450"/>
            <a:ext cx="2340000" cy="612000"/>
          </a:xfrm>
          <a:prstGeom prst="roundRect">
            <a:avLst>
              <a:gd fmla="val 5000" name="adj"/>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lang="en-US">
                <a:solidFill>
                  <a:srgbClr val="FFFFFF"/>
                </a:solidFill>
                <a:latin typeface="Rubik"/>
                <a:ea typeface="Rubik"/>
                <a:cs typeface="Rubik"/>
                <a:sym typeface="Rubik"/>
              </a:rPr>
              <a:t>TRANSACTIONS (OLTP)</a:t>
            </a:r>
            <a:endParaRPr b="0" i="0" sz="1400" u="none" cap="none" strike="noStrike">
              <a:solidFill>
                <a:srgbClr val="000000"/>
              </a:solidFill>
              <a:latin typeface="Arial"/>
              <a:ea typeface="Arial"/>
              <a:cs typeface="Arial"/>
              <a:sym typeface="Arial"/>
            </a:endParaRPr>
          </a:p>
        </p:txBody>
      </p:sp>
      <p:sp>
        <p:nvSpPr>
          <p:cNvPr id="305" name="Google Shape;305;g3d432c3de39_0_5"/>
          <p:cNvSpPr/>
          <p:nvPr/>
        </p:nvSpPr>
        <p:spPr>
          <a:xfrm>
            <a:off x="3420000" y="2263450"/>
            <a:ext cx="2340000" cy="612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g3d432c3de39_0_5"/>
          <p:cNvSpPr/>
          <p:nvPr/>
        </p:nvSpPr>
        <p:spPr>
          <a:xfrm>
            <a:off x="3492000" y="2335450"/>
            <a:ext cx="2340000" cy="612000"/>
          </a:xfrm>
          <a:prstGeom prst="roundRect">
            <a:avLst>
              <a:gd fmla="val 5000" name="adj"/>
            </a:avLst>
          </a:prstGeom>
          <a:solidFill>
            <a:srgbClr val="A329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lang="en-US">
                <a:solidFill>
                  <a:srgbClr val="FFFFFF"/>
                </a:solidFill>
                <a:latin typeface="Rubik"/>
                <a:ea typeface="Rubik"/>
                <a:cs typeface="Rubik"/>
                <a:sym typeface="Rubik"/>
              </a:rPr>
              <a:t>LOGS ET FEATURES ML (NoSQL)</a:t>
            </a:r>
            <a:endParaRPr b="0" i="0" sz="1400" u="none" cap="none" strike="noStrike">
              <a:solidFill>
                <a:srgbClr val="000000"/>
              </a:solidFill>
              <a:latin typeface="Arial"/>
              <a:ea typeface="Arial"/>
              <a:cs typeface="Arial"/>
              <a:sym typeface="Arial"/>
            </a:endParaRPr>
          </a:p>
        </p:txBody>
      </p:sp>
      <p:sp>
        <p:nvSpPr>
          <p:cNvPr id="307" name="Google Shape;307;g3d432c3de39_0_5"/>
          <p:cNvSpPr/>
          <p:nvPr/>
        </p:nvSpPr>
        <p:spPr>
          <a:xfrm>
            <a:off x="6228000" y="2263450"/>
            <a:ext cx="2340000" cy="612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8" name="Google Shape;308;g3d432c3de39_0_5"/>
          <p:cNvSpPr/>
          <p:nvPr/>
        </p:nvSpPr>
        <p:spPr>
          <a:xfrm>
            <a:off x="6300000" y="2335450"/>
            <a:ext cx="2340000" cy="612000"/>
          </a:xfrm>
          <a:prstGeom prst="roundRect">
            <a:avLst>
              <a:gd fmla="val 5000" name="adj"/>
            </a:avLst>
          </a:prstGeom>
          <a:solidFill>
            <a:srgbClr val="282A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lang="en-US">
                <a:solidFill>
                  <a:srgbClr val="FFFFFF"/>
                </a:solidFill>
                <a:latin typeface="Rubik"/>
                <a:ea typeface="Rubik"/>
                <a:cs typeface="Rubik"/>
                <a:sym typeface="Rubik"/>
              </a:rPr>
              <a:t>ANALYSES COMPLEXES (OLAP)</a:t>
            </a:r>
            <a:endParaRPr b="0" i="0" sz="1400" u="none" cap="none" strike="noStrike">
              <a:solidFill>
                <a:srgbClr val="000000"/>
              </a:solidFill>
              <a:latin typeface="Arial"/>
              <a:ea typeface="Arial"/>
              <a:cs typeface="Arial"/>
              <a:sym typeface="Arial"/>
            </a:endParaRPr>
          </a:p>
        </p:txBody>
      </p:sp>
      <p:sp>
        <p:nvSpPr>
          <p:cNvPr id="309" name="Google Shape;309;g3d432c3de39_0_5"/>
          <p:cNvSpPr/>
          <p:nvPr/>
        </p:nvSpPr>
        <p:spPr>
          <a:xfrm>
            <a:off x="2740225" y="3619565"/>
            <a:ext cx="3770100" cy="367200"/>
          </a:xfrm>
          <a:prstGeom prst="rect">
            <a:avLst/>
          </a:prstGeom>
          <a:solidFill>
            <a:schemeClr val="lt1"/>
          </a:solidFill>
          <a:ln>
            <a:noFill/>
          </a:ln>
          <a:effectLst>
            <a:outerShdw blurRad="27201" rotWithShape="0" dir="5400000" dist="15640">
              <a:srgbClr val="000000">
                <a:alpha val="34900"/>
              </a:srgbClr>
            </a:outerShdw>
          </a:effectLst>
        </p:spPr>
        <p:txBody>
          <a:bodyPr anchorCtr="0" anchor="ctr" bIns="31075" lIns="62175" spcFirstLastPara="1" rIns="62175" wrap="square" tIns="31075">
            <a:noAutofit/>
          </a:bodyPr>
          <a:lstStyle/>
          <a:p>
            <a:pPr indent="0" lvl="0" marL="0" marR="0" rtl="0" algn="ctr">
              <a:lnSpc>
                <a:spcPct val="100000"/>
              </a:lnSpc>
              <a:spcBef>
                <a:spcPts val="0"/>
              </a:spcBef>
              <a:spcAft>
                <a:spcPts val="0"/>
              </a:spcAft>
              <a:buClr>
                <a:srgbClr val="000000"/>
              </a:buClr>
              <a:buSzPts val="1224"/>
              <a:buFont typeface="Arial"/>
              <a:buNone/>
            </a:pPr>
            <a:r>
              <a:t/>
            </a:r>
            <a:endParaRPr b="0" i="0" sz="1224" u="none" cap="none" strike="noStrike">
              <a:solidFill>
                <a:schemeClr val="dk1"/>
              </a:solidFill>
              <a:latin typeface="Calibri"/>
              <a:ea typeface="Calibri"/>
              <a:cs typeface="Calibri"/>
              <a:sym typeface="Calibri"/>
            </a:endParaRPr>
          </a:p>
        </p:txBody>
      </p:sp>
      <p:sp>
        <p:nvSpPr>
          <p:cNvPr id="310" name="Google Shape;310;g3d432c3de39_0_5"/>
          <p:cNvSpPr/>
          <p:nvPr/>
        </p:nvSpPr>
        <p:spPr>
          <a:xfrm>
            <a:off x="2813666" y="3570603"/>
            <a:ext cx="3770100" cy="367200"/>
          </a:xfrm>
          <a:prstGeom prst="rect">
            <a:avLst/>
          </a:prstGeom>
          <a:solidFill>
            <a:schemeClr val="accent6"/>
          </a:solidFill>
          <a:ln>
            <a:noFill/>
          </a:ln>
          <a:effectLst>
            <a:outerShdw blurRad="27201" rotWithShape="0" dir="5400000" dist="15640">
              <a:srgbClr val="000000">
                <a:alpha val="34900"/>
              </a:srgbClr>
            </a:outerShdw>
          </a:effectLst>
        </p:spPr>
        <p:txBody>
          <a:bodyPr anchorCtr="0" anchor="ctr" bIns="31075" lIns="62175" spcFirstLastPara="1" rIns="62175" wrap="square" tIns="31075">
            <a:noAutofit/>
          </a:bodyPr>
          <a:lstStyle/>
          <a:p>
            <a:pPr indent="0" lvl="0" marL="0" marR="0" rtl="0" algn="ctr">
              <a:lnSpc>
                <a:spcPct val="100000"/>
              </a:lnSpc>
              <a:spcBef>
                <a:spcPts val="0"/>
              </a:spcBef>
              <a:spcAft>
                <a:spcPts val="0"/>
              </a:spcAft>
              <a:buClr>
                <a:srgbClr val="000000"/>
              </a:buClr>
              <a:buSzPts val="1224"/>
              <a:buFont typeface="Arial"/>
              <a:buNone/>
            </a:pPr>
            <a:r>
              <a:rPr b="1" lang="en-US" sz="1224">
                <a:solidFill>
                  <a:schemeClr val="lt1"/>
                </a:solidFill>
                <a:latin typeface="Rubik"/>
                <a:ea typeface="Rubik"/>
                <a:cs typeface="Rubik"/>
                <a:sym typeface="Rubik"/>
              </a:rPr>
              <a:t>CONTRAINTES NON-NÉGOCIABLES</a:t>
            </a:r>
            <a:endParaRPr b="0" i="0" sz="952" u="none" cap="none" strike="noStrike">
              <a:solidFill>
                <a:schemeClr val="lt1"/>
              </a:solidFill>
              <a:latin typeface="Arial"/>
              <a:ea typeface="Arial"/>
              <a:cs typeface="Arial"/>
              <a:sym typeface="Arial"/>
            </a:endParaRPr>
          </a:p>
        </p:txBody>
      </p:sp>
      <p:sp>
        <p:nvSpPr>
          <p:cNvPr id="311" name="Google Shape;311;g3d432c3de39_0_5"/>
          <p:cNvSpPr/>
          <p:nvPr/>
        </p:nvSpPr>
        <p:spPr>
          <a:xfrm>
            <a:off x="1947332" y="4202901"/>
            <a:ext cx="16854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marR="0" rtl="0" algn="ctr">
              <a:lnSpc>
                <a:spcPct val="100000"/>
              </a:lnSpc>
              <a:spcBef>
                <a:spcPts val="0"/>
              </a:spcBef>
              <a:spcAft>
                <a:spcPts val="0"/>
              </a:spcAft>
              <a:buClr>
                <a:srgbClr val="000000"/>
              </a:buClr>
              <a:buSzPts val="1204"/>
              <a:buFont typeface="Arial"/>
              <a:buNone/>
            </a:pPr>
            <a:r>
              <a:rPr lang="en-US" sz="900">
                <a:latin typeface="Rubik"/>
                <a:ea typeface="Rubik"/>
                <a:cs typeface="Rubik"/>
                <a:sym typeface="Rubik"/>
              </a:rPr>
              <a:t>Détection de fraude </a:t>
            </a:r>
            <a:r>
              <a:rPr lang="en-US" sz="900">
                <a:solidFill>
                  <a:schemeClr val="accent6"/>
                </a:solidFill>
                <a:latin typeface="Rubik"/>
                <a:ea typeface="Rubik"/>
                <a:cs typeface="Rubik"/>
                <a:sym typeface="Rubik"/>
              </a:rPr>
              <a:t>temps réel </a:t>
            </a:r>
            <a:endParaRPr i="0" sz="900" u="none" cap="none" strike="noStrike">
              <a:solidFill>
                <a:schemeClr val="accent6"/>
              </a:solidFill>
              <a:latin typeface="Rubik"/>
              <a:ea typeface="Rubik"/>
              <a:cs typeface="Rubik"/>
              <a:sym typeface="Rubik"/>
            </a:endParaRPr>
          </a:p>
        </p:txBody>
      </p:sp>
      <p:sp>
        <p:nvSpPr>
          <p:cNvPr id="312" name="Google Shape;312;g3d432c3de39_0_5"/>
          <p:cNvSpPr/>
          <p:nvPr/>
        </p:nvSpPr>
        <p:spPr>
          <a:xfrm>
            <a:off x="3729289" y="4202901"/>
            <a:ext cx="16854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marR="0" rtl="0" algn="ctr">
              <a:lnSpc>
                <a:spcPct val="100000"/>
              </a:lnSpc>
              <a:spcBef>
                <a:spcPts val="0"/>
              </a:spcBef>
              <a:spcAft>
                <a:spcPts val="0"/>
              </a:spcAft>
              <a:buClr>
                <a:srgbClr val="000000"/>
              </a:buClr>
              <a:buSzPts val="1204"/>
              <a:buFont typeface="Arial"/>
              <a:buNone/>
            </a:pPr>
            <a:r>
              <a:rPr lang="en-US" sz="900">
                <a:latin typeface="Rubik"/>
                <a:ea typeface="Rubik"/>
                <a:cs typeface="Rubik"/>
                <a:sym typeface="Rubik"/>
              </a:rPr>
              <a:t>Analyse quasi-temps réel </a:t>
            </a:r>
            <a:r>
              <a:rPr lang="en-US" sz="900">
                <a:solidFill>
                  <a:schemeClr val="accent6"/>
                </a:solidFill>
                <a:latin typeface="Rubik"/>
                <a:ea typeface="Rubik"/>
                <a:cs typeface="Rubik"/>
                <a:sym typeface="Rubik"/>
              </a:rPr>
              <a:t>&lt; 5 min</a:t>
            </a:r>
            <a:endParaRPr i="0" sz="900" u="none" cap="none" strike="noStrike">
              <a:solidFill>
                <a:schemeClr val="accent6"/>
              </a:solidFill>
              <a:latin typeface="Rubik"/>
              <a:ea typeface="Rubik"/>
              <a:cs typeface="Rubik"/>
              <a:sym typeface="Rubik"/>
            </a:endParaRPr>
          </a:p>
        </p:txBody>
      </p:sp>
      <p:sp>
        <p:nvSpPr>
          <p:cNvPr id="313" name="Google Shape;313;g3d432c3de39_0_5"/>
          <p:cNvSpPr/>
          <p:nvPr/>
        </p:nvSpPr>
        <p:spPr>
          <a:xfrm>
            <a:off x="5511246" y="4202901"/>
            <a:ext cx="16854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rtl="0" algn="ctr">
              <a:spcBef>
                <a:spcPts val="0"/>
              </a:spcBef>
              <a:spcAft>
                <a:spcPts val="0"/>
              </a:spcAft>
              <a:buClr>
                <a:schemeClr val="dk1"/>
              </a:buClr>
              <a:buSzPts val="1100"/>
              <a:buFont typeface="Arial"/>
              <a:buNone/>
            </a:pPr>
            <a:r>
              <a:rPr lang="en-US" sz="900">
                <a:latin typeface="Rubik"/>
                <a:ea typeface="Rubik"/>
                <a:cs typeface="Rubik"/>
                <a:sym typeface="Rubik"/>
              </a:rPr>
              <a:t>Données sensibles dans </a:t>
            </a:r>
            <a:r>
              <a:rPr lang="en-US" sz="900">
                <a:solidFill>
                  <a:schemeClr val="accent6"/>
                </a:solidFill>
                <a:latin typeface="Rubik"/>
                <a:ea typeface="Rubik"/>
                <a:cs typeface="Rubik"/>
                <a:sym typeface="Rubik"/>
              </a:rPr>
              <a:t>180+ pays</a:t>
            </a:r>
            <a:endParaRPr sz="900">
              <a:solidFill>
                <a:schemeClr val="accent6"/>
              </a:solidFill>
              <a:latin typeface="Rubik"/>
              <a:ea typeface="Rubik"/>
              <a:cs typeface="Rubik"/>
              <a:sym typeface="Rubik"/>
            </a:endParaRPr>
          </a:p>
        </p:txBody>
      </p:sp>
      <p:sp>
        <p:nvSpPr>
          <p:cNvPr id="314" name="Google Shape;314;g3d432c3de39_0_5"/>
          <p:cNvSpPr/>
          <p:nvPr/>
        </p:nvSpPr>
        <p:spPr>
          <a:xfrm>
            <a:off x="165375" y="4202901"/>
            <a:ext cx="16854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rtl="0" algn="ctr">
              <a:spcBef>
                <a:spcPts val="300"/>
              </a:spcBef>
              <a:spcAft>
                <a:spcPts val="0"/>
              </a:spcAft>
              <a:buClr>
                <a:schemeClr val="dk1"/>
              </a:buClr>
              <a:buFont typeface="Arial"/>
              <a:buNone/>
            </a:pPr>
            <a:r>
              <a:rPr lang="en-US" sz="900">
                <a:solidFill>
                  <a:schemeClr val="dk1"/>
                </a:solidFill>
                <a:latin typeface="Rubik"/>
                <a:ea typeface="Rubik"/>
                <a:cs typeface="Rubik"/>
                <a:sym typeface="Rubik"/>
              </a:rPr>
              <a:t>Latence transactionnelle </a:t>
            </a:r>
            <a:r>
              <a:rPr lang="en-US" sz="900">
                <a:solidFill>
                  <a:schemeClr val="accent6"/>
                </a:solidFill>
                <a:latin typeface="Rubik"/>
                <a:ea typeface="Rubik"/>
                <a:cs typeface="Rubik"/>
                <a:sym typeface="Rubik"/>
              </a:rPr>
              <a:t>&lt; 100ms</a:t>
            </a:r>
            <a:endParaRPr i="0" sz="900" u="none" cap="none" strike="noStrike">
              <a:solidFill>
                <a:schemeClr val="accent6"/>
              </a:solidFill>
              <a:latin typeface="Rubik"/>
              <a:ea typeface="Rubik"/>
              <a:cs typeface="Rubik"/>
              <a:sym typeface="Rubik"/>
            </a:endParaRPr>
          </a:p>
        </p:txBody>
      </p:sp>
      <p:sp>
        <p:nvSpPr>
          <p:cNvPr id="315" name="Google Shape;315;g3d432c3de39_0_5"/>
          <p:cNvSpPr/>
          <p:nvPr/>
        </p:nvSpPr>
        <p:spPr>
          <a:xfrm>
            <a:off x="7293203" y="4202901"/>
            <a:ext cx="16854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rtl="0" algn="ctr">
              <a:spcBef>
                <a:spcPts val="0"/>
              </a:spcBef>
              <a:spcAft>
                <a:spcPts val="0"/>
              </a:spcAft>
              <a:buClr>
                <a:schemeClr val="dk1"/>
              </a:buClr>
              <a:buSzPts val="1100"/>
              <a:buFont typeface="Arial"/>
              <a:buNone/>
            </a:pPr>
            <a:r>
              <a:rPr lang="en-US" sz="900">
                <a:solidFill>
                  <a:schemeClr val="accent6"/>
                </a:solidFill>
                <a:latin typeface="Rubik"/>
                <a:ea typeface="Rubik"/>
                <a:cs typeface="Rubik"/>
                <a:sym typeface="Rubik"/>
              </a:rPr>
              <a:t>RPO &lt; 1 min</a:t>
            </a:r>
            <a:r>
              <a:rPr lang="en-US" sz="900">
                <a:latin typeface="Rubik"/>
                <a:ea typeface="Rubik"/>
                <a:cs typeface="Rubik"/>
                <a:sym typeface="Rubik"/>
              </a:rPr>
              <a:t> et </a:t>
            </a:r>
            <a:r>
              <a:rPr lang="en-US" sz="900">
                <a:solidFill>
                  <a:schemeClr val="accent6"/>
                </a:solidFill>
                <a:latin typeface="Rubik"/>
                <a:ea typeface="Rubik"/>
                <a:cs typeface="Rubik"/>
                <a:sym typeface="Rubik"/>
              </a:rPr>
              <a:t>RTO &lt; 5 min </a:t>
            </a:r>
            <a:r>
              <a:rPr lang="en-US" sz="900">
                <a:latin typeface="Rubik"/>
                <a:ea typeface="Rubik"/>
                <a:cs typeface="Rubik"/>
                <a:sym typeface="Rubik"/>
              </a:rPr>
              <a:t>pour l'OLTP</a:t>
            </a:r>
            <a:endParaRPr sz="900">
              <a:latin typeface="Rubik"/>
              <a:ea typeface="Rubik"/>
              <a:cs typeface="Rubik"/>
              <a:sym typeface="Rubik"/>
            </a:endParaRPr>
          </a:p>
        </p:txBody>
      </p:sp>
      <p:pic>
        <p:nvPicPr>
          <p:cNvPr id="316" name="Google Shape;316;g3d432c3de39_0_5"/>
          <p:cNvPicPr preferRelativeResize="0"/>
          <p:nvPr/>
        </p:nvPicPr>
        <p:blipFill>
          <a:blip r:embed="rId3">
            <a:alphaModFix/>
          </a:blip>
          <a:stretch>
            <a:fillRect/>
          </a:stretch>
        </p:blipFill>
        <p:spPr>
          <a:xfrm>
            <a:off x="975300" y="1201625"/>
            <a:ext cx="1685402" cy="868189"/>
          </a:xfrm>
          <a:prstGeom prst="rect">
            <a:avLst/>
          </a:prstGeom>
          <a:noFill/>
          <a:ln>
            <a:noFill/>
          </a:ln>
        </p:spPr>
      </p:pic>
      <p:pic>
        <p:nvPicPr>
          <p:cNvPr id="317" name="Google Shape;317;g3d432c3de39_0_5"/>
          <p:cNvPicPr preferRelativeResize="0"/>
          <p:nvPr/>
        </p:nvPicPr>
        <p:blipFill>
          <a:blip r:embed="rId4">
            <a:alphaModFix/>
          </a:blip>
          <a:stretch>
            <a:fillRect/>
          </a:stretch>
        </p:blipFill>
        <p:spPr>
          <a:xfrm>
            <a:off x="4086138" y="1059137"/>
            <a:ext cx="1151720" cy="1081173"/>
          </a:xfrm>
          <a:prstGeom prst="rect">
            <a:avLst/>
          </a:prstGeom>
          <a:noFill/>
          <a:ln>
            <a:noFill/>
          </a:ln>
        </p:spPr>
      </p:pic>
      <p:pic>
        <p:nvPicPr>
          <p:cNvPr id="318" name="Google Shape;318;g3d432c3de39_0_5"/>
          <p:cNvPicPr preferRelativeResize="0"/>
          <p:nvPr/>
        </p:nvPicPr>
        <p:blipFill>
          <a:blip r:embed="rId5">
            <a:alphaModFix/>
          </a:blip>
          <a:stretch>
            <a:fillRect/>
          </a:stretch>
        </p:blipFill>
        <p:spPr>
          <a:xfrm>
            <a:off x="6783588" y="1104813"/>
            <a:ext cx="1372814" cy="10618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322" name="Shape 322"/>
        <p:cNvGrpSpPr/>
        <p:nvPr/>
      </p:nvGrpSpPr>
      <p:grpSpPr>
        <a:xfrm>
          <a:off x="0" y="0"/>
          <a:ext cx="0" cy="0"/>
          <a:chOff x="0" y="0"/>
          <a:chExt cx="0" cy="0"/>
        </a:xfrm>
      </p:grpSpPr>
      <p:pic>
        <p:nvPicPr>
          <p:cNvPr id="323" name="Google Shape;323;p31"/>
          <p:cNvPicPr preferRelativeResize="0"/>
          <p:nvPr/>
        </p:nvPicPr>
        <p:blipFill>
          <a:blip r:embed="rId3">
            <a:alphaModFix/>
          </a:blip>
          <a:stretch>
            <a:fillRect/>
          </a:stretch>
        </p:blipFill>
        <p:spPr>
          <a:xfrm>
            <a:off x="2162075" y="48975"/>
            <a:ext cx="4317926" cy="4850877"/>
          </a:xfrm>
          <a:prstGeom prst="rect">
            <a:avLst/>
          </a:prstGeom>
          <a:noFill/>
          <a:ln>
            <a:noFill/>
          </a:ln>
        </p:spPr>
      </p:pic>
      <p:sp>
        <p:nvSpPr>
          <p:cNvPr id="324" name="Google Shape;324;p31"/>
          <p:cNvSpPr/>
          <p:nvPr/>
        </p:nvSpPr>
        <p:spPr>
          <a:xfrm>
            <a:off x="5348650" y="164864"/>
            <a:ext cx="3618000" cy="352200"/>
          </a:xfrm>
          <a:prstGeom prst="rect">
            <a:avLst/>
          </a:prstGeom>
          <a:solidFill>
            <a:srgbClr val="26DBE0"/>
          </a:solidFill>
          <a:ln>
            <a:noFill/>
          </a:ln>
          <a:effectLst>
            <a:outerShdw blurRad="26105" rotWithShape="0" dir="5400000" dist="15010">
              <a:srgbClr val="000000">
                <a:alpha val="34900"/>
              </a:srgbClr>
            </a:outerShdw>
          </a:effectLst>
        </p:spPr>
        <p:txBody>
          <a:bodyPr anchorCtr="0" anchor="ctr" bIns="29825" lIns="59675" spcFirstLastPara="1" rIns="59675" wrap="square" tIns="29825">
            <a:noAutofit/>
          </a:bodyPr>
          <a:lstStyle/>
          <a:p>
            <a:pPr indent="0" lvl="0" marL="0" marR="0" rtl="0" algn="ctr">
              <a:lnSpc>
                <a:spcPct val="100000"/>
              </a:lnSpc>
              <a:spcBef>
                <a:spcPts val="0"/>
              </a:spcBef>
              <a:spcAft>
                <a:spcPts val="0"/>
              </a:spcAft>
              <a:buClr>
                <a:srgbClr val="000000"/>
              </a:buClr>
              <a:buSzPts val="1175"/>
              <a:buFont typeface="Arial"/>
              <a:buNone/>
            </a:pPr>
            <a:r>
              <a:t/>
            </a:r>
            <a:endParaRPr b="0" i="0" sz="1175" u="none" cap="none" strike="noStrike">
              <a:solidFill>
                <a:srgbClr val="26DBE0"/>
              </a:solidFill>
              <a:latin typeface="Calibri"/>
              <a:ea typeface="Calibri"/>
              <a:cs typeface="Calibri"/>
              <a:sym typeface="Calibri"/>
            </a:endParaRPr>
          </a:p>
        </p:txBody>
      </p:sp>
      <p:sp>
        <p:nvSpPr>
          <p:cNvPr id="325" name="Google Shape;325;p31"/>
          <p:cNvSpPr/>
          <p:nvPr/>
        </p:nvSpPr>
        <p:spPr>
          <a:xfrm>
            <a:off x="5419133" y="117876"/>
            <a:ext cx="3618000" cy="352200"/>
          </a:xfrm>
          <a:prstGeom prst="rect">
            <a:avLst/>
          </a:prstGeom>
          <a:solidFill>
            <a:srgbClr val="FFFFFF"/>
          </a:solidFill>
          <a:ln>
            <a:noFill/>
          </a:ln>
          <a:effectLst>
            <a:outerShdw blurRad="26105" rotWithShape="0" dir="5400000" dist="15010">
              <a:srgbClr val="000000">
                <a:alpha val="34900"/>
              </a:srgbClr>
            </a:outerShdw>
          </a:effectLst>
        </p:spPr>
        <p:txBody>
          <a:bodyPr anchorCtr="0" anchor="ctr" bIns="29825" lIns="59675" spcFirstLastPara="1" rIns="59675" wrap="square" tIns="29825">
            <a:noAutofit/>
          </a:bodyPr>
          <a:lstStyle/>
          <a:p>
            <a:pPr indent="0" lvl="0" marL="0" marR="0" rtl="0" algn="l">
              <a:lnSpc>
                <a:spcPct val="100000"/>
              </a:lnSpc>
              <a:spcBef>
                <a:spcPts val="0"/>
              </a:spcBef>
              <a:spcAft>
                <a:spcPts val="0"/>
              </a:spcAft>
              <a:buClr>
                <a:srgbClr val="000000"/>
              </a:buClr>
              <a:buSzPts val="1175"/>
              <a:buFont typeface="Arial"/>
              <a:buNone/>
            </a:pPr>
            <a:r>
              <a:rPr b="1" lang="en-US" sz="1175">
                <a:latin typeface="Rubik"/>
                <a:ea typeface="Rubik"/>
                <a:cs typeface="Rubik"/>
                <a:sym typeface="Rubik"/>
              </a:rPr>
              <a:t>L’ARCHITECTURE : PATTERN LAMBDA</a:t>
            </a:r>
            <a:endParaRPr b="0" i="0" sz="914"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329" name="Shape 329"/>
        <p:cNvGrpSpPr/>
        <p:nvPr/>
      </p:nvGrpSpPr>
      <p:grpSpPr>
        <a:xfrm>
          <a:off x="0" y="0"/>
          <a:ext cx="0" cy="0"/>
          <a:chOff x="0" y="0"/>
          <a:chExt cx="0" cy="0"/>
        </a:xfrm>
      </p:grpSpPr>
      <p:sp>
        <p:nvSpPr>
          <p:cNvPr id="330" name="Google Shape;330;g3d432c3de39_0_88"/>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g3d432c3de39_0_88"/>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800">
                <a:latin typeface="Rubik"/>
                <a:ea typeface="Rubik"/>
                <a:cs typeface="Rubik"/>
                <a:sym typeface="Rubik"/>
              </a:rPr>
              <a:t>LES MODÈLES DE DONNÉES</a:t>
            </a:r>
            <a:endParaRPr b="1" sz="1800">
              <a:latin typeface="Rubik"/>
              <a:ea typeface="Rubik"/>
              <a:cs typeface="Rubik"/>
              <a:sym typeface="Rubik"/>
            </a:endParaRPr>
          </a:p>
        </p:txBody>
      </p:sp>
      <p:sp>
        <p:nvSpPr>
          <p:cNvPr id="332" name="Google Shape;332;g3d432c3de39_0_88"/>
          <p:cNvSpPr/>
          <p:nvPr/>
        </p:nvSpPr>
        <p:spPr>
          <a:xfrm>
            <a:off x="710331" y="1390524"/>
            <a:ext cx="2199300" cy="575100"/>
          </a:xfrm>
          <a:prstGeom prst="roundRect">
            <a:avLst>
              <a:gd fmla="val 5000" name="adj"/>
            </a:avLst>
          </a:prstGeom>
          <a:solidFill>
            <a:srgbClr val="FFFFFF"/>
          </a:solidFill>
          <a:ln>
            <a:noFill/>
          </a:ln>
          <a:effectLst>
            <a:outerShdw blurRad="37596" rotWithShape="0" dir="5400000" dist="21618">
              <a:srgbClr val="000000">
                <a:alpha val="34900"/>
              </a:srgbClr>
            </a:outerShdw>
          </a:effectLst>
        </p:spPr>
        <p:txBody>
          <a:bodyPr anchorCtr="0" anchor="ctr" bIns="42950" lIns="85925" spcFirstLastPara="1" rIns="85925" wrap="square" tIns="42950">
            <a:noAutofit/>
          </a:bodyPr>
          <a:lstStyle/>
          <a:p>
            <a:pPr indent="0" lvl="0" marL="0" marR="0" rtl="0" algn="ctr">
              <a:lnSpc>
                <a:spcPct val="100000"/>
              </a:lnSpc>
              <a:spcBef>
                <a:spcPts val="0"/>
              </a:spcBef>
              <a:spcAft>
                <a:spcPts val="0"/>
              </a:spcAft>
              <a:buClr>
                <a:srgbClr val="000000"/>
              </a:buClr>
              <a:buSzPts val="1692"/>
              <a:buFont typeface="Arial"/>
              <a:buNone/>
            </a:pPr>
            <a:r>
              <a:t/>
            </a:r>
            <a:endParaRPr b="0" i="0" sz="1692" u="none" cap="none" strike="noStrike">
              <a:solidFill>
                <a:schemeClr val="dk1"/>
              </a:solidFill>
              <a:latin typeface="Calibri"/>
              <a:ea typeface="Calibri"/>
              <a:cs typeface="Calibri"/>
              <a:sym typeface="Calibri"/>
            </a:endParaRPr>
          </a:p>
        </p:txBody>
      </p:sp>
      <p:sp>
        <p:nvSpPr>
          <p:cNvPr id="333" name="Google Shape;333;g3d432c3de39_0_88"/>
          <p:cNvSpPr/>
          <p:nvPr/>
        </p:nvSpPr>
        <p:spPr>
          <a:xfrm>
            <a:off x="778004" y="1458198"/>
            <a:ext cx="2199300" cy="575100"/>
          </a:xfrm>
          <a:prstGeom prst="roundRect">
            <a:avLst>
              <a:gd fmla="val 5000" name="adj"/>
            </a:avLst>
          </a:prstGeom>
          <a:solidFill>
            <a:srgbClr val="26DBE0"/>
          </a:solidFill>
          <a:ln>
            <a:noFill/>
          </a:ln>
          <a:effectLst>
            <a:outerShdw blurRad="37596" rotWithShape="0" dir="5400000" dist="21618">
              <a:srgbClr val="000000">
                <a:alpha val="34900"/>
              </a:srgbClr>
            </a:outerShdw>
          </a:effectLst>
        </p:spPr>
        <p:txBody>
          <a:bodyPr anchorCtr="0" anchor="ctr" bIns="42950" lIns="85925" spcFirstLastPara="1" rIns="85925" wrap="square" tIns="42950">
            <a:noAutofit/>
          </a:bodyPr>
          <a:lstStyle/>
          <a:p>
            <a:pPr indent="0" lvl="0" marL="0" rtl="0" algn="ctr">
              <a:spcBef>
                <a:spcPts val="0"/>
              </a:spcBef>
              <a:spcAft>
                <a:spcPts val="0"/>
              </a:spcAft>
              <a:buClr>
                <a:schemeClr val="dk1"/>
              </a:buClr>
              <a:buSzPts val="1034"/>
              <a:buFont typeface="Arial"/>
              <a:buNone/>
            </a:pPr>
            <a:r>
              <a:rPr b="1" lang="en-US" sz="1316">
                <a:solidFill>
                  <a:srgbClr val="FFFFFF"/>
                </a:solidFill>
                <a:latin typeface="Rubik"/>
                <a:ea typeface="Rubik"/>
                <a:cs typeface="Rubik"/>
                <a:sym typeface="Rubik"/>
              </a:rPr>
              <a:t>OLTP — PostgreSQL</a:t>
            </a:r>
            <a:endParaRPr b="1" sz="1316">
              <a:solidFill>
                <a:srgbClr val="FFFFFF"/>
              </a:solidFill>
              <a:latin typeface="Rubik"/>
              <a:ea typeface="Rubik"/>
              <a:cs typeface="Rubik"/>
              <a:sym typeface="Rubik"/>
            </a:endParaRPr>
          </a:p>
        </p:txBody>
      </p:sp>
      <p:sp>
        <p:nvSpPr>
          <p:cNvPr id="334" name="Google Shape;334;g3d432c3de39_0_88"/>
          <p:cNvSpPr/>
          <p:nvPr/>
        </p:nvSpPr>
        <p:spPr>
          <a:xfrm>
            <a:off x="3383424" y="1390524"/>
            <a:ext cx="2199300" cy="575100"/>
          </a:xfrm>
          <a:prstGeom prst="roundRect">
            <a:avLst>
              <a:gd fmla="val 5000" name="adj"/>
            </a:avLst>
          </a:prstGeom>
          <a:solidFill>
            <a:srgbClr val="FFFFFF"/>
          </a:solidFill>
          <a:ln>
            <a:noFill/>
          </a:ln>
          <a:effectLst>
            <a:outerShdw blurRad="37596" rotWithShape="0" dir="5400000" dist="21618">
              <a:srgbClr val="000000">
                <a:alpha val="34900"/>
              </a:srgbClr>
            </a:outerShdw>
          </a:effectLst>
        </p:spPr>
        <p:txBody>
          <a:bodyPr anchorCtr="0" anchor="ctr" bIns="42950" lIns="85925" spcFirstLastPara="1" rIns="85925" wrap="square" tIns="42950">
            <a:noAutofit/>
          </a:bodyPr>
          <a:lstStyle/>
          <a:p>
            <a:pPr indent="0" lvl="0" marL="0" marR="0" rtl="0" algn="ctr">
              <a:lnSpc>
                <a:spcPct val="100000"/>
              </a:lnSpc>
              <a:spcBef>
                <a:spcPts val="0"/>
              </a:spcBef>
              <a:spcAft>
                <a:spcPts val="0"/>
              </a:spcAft>
              <a:buClr>
                <a:srgbClr val="000000"/>
              </a:buClr>
              <a:buSzPts val="1692"/>
              <a:buFont typeface="Arial"/>
              <a:buNone/>
            </a:pPr>
            <a:r>
              <a:t/>
            </a:r>
            <a:endParaRPr b="0" i="0" sz="1692" u="none" cap="none" strike="noStrike">
              <a:solidFill>
                <a:schemeClr val="dk1"/>
              </a:solidFill>
              <a:latin typeface="Calibri"/>
              <a:ea typeface="Calibri"/>
              <a:cs typeface="Calibri"/>
              <a:sym typeface="Calibri"/>
            </a:endParaRPr>
          </a:p>
        </p:txBody>
      </p:sp>
      <p:sp>
        <p:nvSpPr>
          <p:cNvPr id="335" name="Google Shape;335;g3d432c3de39_0_88"/>
          <p:cNvSpPr/>
          <p:nvPr/>
        </p:nvSpPr>
        <p:spPr>
          <a:xfrm>
            <a:off x="3451098" y="1458198"/>
            <a:ext cx="2199300" cy="575100"/>
          </a:xfrm>
          <a:prstGeom prst="roundRect">
            <a:avLst>
              <a:gd fmla="val 5000" name="adj"/>
            </a:avLst>
          </a:prstGeom>
          <a:solidFill>
            <a:srgbClr val="A329DE"/>
          </a:solidFill>
          <a:ln>
            <a:noFill/>
          </a:ln>
          <a:effectLst>
            <a:outerShdw blurRad="37596" rotWithShape="0" dir="5400000" dist="21618">
              <a:srgbClr val="000000">
                <a:alpha val="34900"/>
              </a:srgbClr>
            </a:outerShdw>
          </a:effectLst>
        </p:spPr>
        <p:txBody>
          <a:bodyPr anchorCtr="0" anchor="ctr" bIns="42950" lIns="85925" spcFirstLastPara="1" rIns="85925" wrap="square" tIns="42950">
            <a:noAutofit/>
          </a:bodyPr>
          <a:lstStyle/>
          <a:p>
            <a:pPr indent="0" lvl="0" marL="0" rtl="0" algn="ctr">
              <a:spcBef>
                <a:spcPts val="0"/>
              </a:spcBef>
              <a:spcAft>
                <a:spcPts val="0"/>
              </a:spcAft>
              <a:buClr>
                <a:schemeClr val="dk1"/>
              </a:buClr>
              <a:buSzPts val="1034"/>
              <a:buFont typeface="Arial"/>
              <a:buNone/>
            </a:pPr>
            <a:r>
              <a:rPr b="1" lang="en-US" sz="1316">
                <a:solidFill>
                  <a:srgbClr val="FFFFFF"/>
                </a:solidFill>
                <a:latin typeface="Rubik"/>
                <a:ea typeface="Rubik"/>
                <a:cs typeface="Rubik"/>
                <a:sym typeface="Rubik"/>
              </a:rPr>
              <a:t>OLAP — Snowflake</a:t>
            </a:r>
            <a:endParaRPr b="1" sz="1316">
              <a:solidFill>
                <a:srgbClr val="FFFFFF"/>
              </a:solidFill>
              <a:latin typeface="Rubik"/>
              <a:ea typeface="Rubik"/>
              <a:cs typeface="Rubik"/>
              <a:sym typeface="Rubik"/>
            </a:endParaRPr>
          </a:p>
        </p:txBody>
      </p:sp>
      <p:sp>
        <p:nvSpPr>
          <p:cNvPr id="336" name="Google Shape;336;g3d432c3de39_0_88"/>
          <p:cNvSpPr/>
          <p:nvPr/>
        </p:nvSpPr>
        <p:spPr>
          <a:xfrm>
            <a:off x="6022681" y="1390524"/>
            <a:ext cx="2199300" cy="575100"/>
          </a:xfrm>
          <a:prstGeom prst="roundRect">
            <a:avLst>
              <a:gd fmla="val 5000" name="adj"/>
            </a:avLst>
          </a:prstGeom>
          <a:solidFill>
            <a:srgbClr val="FFFFFF"/>
          </a:solidFill>
          <a:ln>
            <a:noFill/>
          </a:ln>
          <a:effectLst>
            <a:outerShdw blurRad="37596" rotWithShape="0" dir="5400000" dist="21618">
              <a:srgbClr val="000000">
                <a:alpha val="34900"/>
              </a:srgbClr>
            </a:outerShdw>
          </a:effectLst>
        </p:spPr>
        <p:txBody>
          <a:bodyPr anchorCtr="0" anchor="ctr" bIns="42950" lIns="85925" spcFirstLastPara="1" rIns="85925" wrap="square" tIns="42950">
            <a:noAutofit/>
          </a:bodyPr>
          <a:lstStyle/>
          <a:p>
            <a:pPr indent="0" lvl="0" marL="0" marR="0" rtl="0" algn="ctr">
              <a:lnSpc>
                <a:spcPct val="100000"/>
              </a:lnSpc>
              <a:spcBef>
                <a:spcPts val="0"/>
              </a:spcBef>
              <a:spcAft>
                <a:spcPts val="0"/>
              </a:spcAft>
              <a:buClr>
                <a:srgbClr val="000000"/>
              </a:buClr>
              <a:buSzPts val="1692"/>
              <a:buFont typeface="Arial"/>
              <a:buNone/>
            </a:pPr>
            <a:r>
              <a:t/>
            </a:r>
            <a:endParaRPr b="0" i="0" sz="1692" u="none" cap="none" strike="noStrike">
              <a:solidFill>
                <a:schemeClr val="dk1"/>
              </a:solidFill>
              <a:latin typeface="Calibri"/>
              <a:ea typeface="Calibri"/>
              <a:cs typeface="Calibri"/>
              <a:sym typeface="Calibri"/>
            </a:endParaRPr>
          </a:p>
        </p:txBody>
      </p:sp>
      <p:sp>
        <p:nvSpPr>
          <p:cNvPr id="337" name="Google Shape;337;g3d432c3de39_0_88"/>
          <p:cNvSpPr/>
          <p:nvPr/>
        </p:nvSpPr>
        <p:spPr>
          <a:xfrm>
            <a:off x="6090355" y="1458198"/>
            <a:ext cx="2199300" cy="575100"/>
          </a:xfrm>
          <a:prstGeom prst="roundRect">
            <a:avLst>
              <a:gd fmla="val 5000" name="adj"/>
            </a:avLst>
          </a:prstGeom>
          <a:solidFill>
            <a:srgbClr val="282AFF"/>
          </a:solidFill>
          <a:ln>
            <a:noFill/>
          </a:ln>
          <a:effectLst>
            <a:outerShdw blurRad="37596" rotWithShape="0" dir="5400000" dist="21618">
              <a:srgbClr val="000000">
                <a:alpha val="34900"/>
              </a:srgbClr>
            </a:outerShdw>
          </a:effectLst>
        </p:spPr>
        <p:txBody>
          <a:bodyPr anchorCtr="0" anchor="ctr" bIns="42950" lIns="85925" spcFirstLastPara="1" rIns="85925" wrap="square" tIns="42950">
            <a:noAutofit/>
          </a:bodyPr>
          <a:lstStyle/>
          <a:p>
            <a:pPr indent="0" lvl="0" marL="0" rtl="0" algn="ctr">
              <a:spcBef>
                <a:spcPts val="0"/>
              </a:spcBef>
              <a:spcAft>
                <a:spcPts val="0"/>
              </a:spcAft>
              <a:buClr>
                <a:schemeClr val="dk1"/>
              </a:buClr>
              <a:buSzPts val="1034"/>
              <a:buFont typeface="Arial"/>
              <a:buNone/>
            </a:pPr>
            <a:r>
              <a:rPr b="1" lang="en-US" sz="1316">
                <a:solidFill>
                  <a:srgbClr val="FFFFFF"/>
                </a:solidFill>
                <a:latin typeface="Rubik"/>
                <a:ea typeface="Rubik"/>
                <a:cs typeface="Rubik"/>
                <a:sym typeface="Rubik"/>
              </a:rPr>
              <a:t>NoSQL — MongoDB</a:t>
            </a:r>
            <a:endParaRPr b="1" sz="1316">
              <a:solidFill>
                <a:srgbClr val="FFFFFF"/>
              </a:solidFill>
              <a:latin typeface="Rubik"/>
              <a:ea typeface="Rubik"/>
              <a:cs typeface="Rubik"/>
              <a:sym typeface="Rubik"/>
            </a:endParaRPr>
          </a:p>
        </p:txBody>
      </p:sp>
      <p:sp>
        <p:nvSpPr>
          <p:cNvPr id="338" name="Google Shape;338;g3d432c3de39_0_88"/>
          <p:cNvSpPr/>
          <p:nvPr/>
        </p:nvSpPr>
        <p:spPr>
          <a:xfrm>
            <a:off x="683638" y="2371782"/>
            <a:ext cx="2368500" cy="405900"/>
          </a:xfrm>
          <a:prstGeom prst="roundRect">
            <a:avLst>
              <a:gd fmla="val 5000" name="adj"/>
            </a:avLst>
          </a:prstGeom>
          <a:solidFill>
            <a:srgbClr val="FFFFFF"/>
          </a:solidFill>
          <a:ln>
            <a:noFill/>
          </a:ln>
          <a:effectLst>
            <a:outerShdw blurRad="64451" rotWithShape="0" dir="5400000" dist="37059">
              <a:srgbClr val="000000">
                <a:alpha val="34900"/>
              </a:srgbClr>
            </a:outerShdw>
          </a:effectLst>
        </p:spPr>
        <p:txBody>
          <a:bodyPr anchorCtr="0" anchor="ctr" bIns="73650" lIns="174025" spcFirstLastPara="1" rIns="147300" wrap="square" tIns="73650">
            <a:noAutofit/>
          </a:bodyPr>
          <a:lstStyle/>
          <a:p>
            <a:pPr indent="0" lvl="0" marL="0" rtl="0" algn="ctr">
              <a:spcBef>
                <a:spcPts val="0"/>
              </a:spcBef>
              <a:spcAft>
                <a:spcPts val="0"/>
              </a:spcAft>
              <a:buClr>
                <a:schemeClr val="dk1"/>
              </a:buClr>
              <a:buSzPts val="1034"/>
              <a:buFont typeface="Arial"/>
              <a:buNone/>
            </a:pPr>
            <a:r>
              <a:rPr b="1" lang="en-US" sz="926">
                <a:solidFill>
                  <a:srgbClr val="26DBE0"/>
                </a:solidFill>
                <a:latin typeface="Rubik"/>
                <a:ea typeface="Rubik"/>
                <a:cs typeface="Rubik"/>
                <a:sym typeface="Rubik"/>
              </a:rPr>
              <a:t>3NF</a:t>
            </a:r>
            <a:r>
              <a:rPr b="1" lang="en-US" sz="926">
                <a:latin typeface="Rubik"/>
                <a:ea typeface="Rubik"/>
                <a:cs typeface="Rubik"/>
                <a:sym typeface="Rubik"/>
              </a:rPr>
              <a:t> normalisé</a:t>
            </a:r>
            <a:endParaRPr b="1" sz="926">
              <a:latin typeface="Rubik"/>
              <a:ea typeface="Rubik"/>
              <a:cs typeface="Rubik"/>
              <a:sym typeface="Rubik"/>
            </a:endParaRPr>
          </a:p>
        </p:txBody>
      </p:sp>
      <p:sp>
        <p:nvSpPr>
          <p:cNvPr id="339" name="Google Shape;339;g3d432c3de39_0_88"/>
          <p:cNvSpPr/>
          <p:nvPr/>
        </p:nvSpPr>
        <p:spPr>
          <a:xfrm>
            <a:off x="3315756" y="2371782"/>
            <a:ext cx="2368500" cy="405900"/>
          </a:xfrm>
          <a:prstGeom prst="roundRect">
            <a:avLst>
              <a:gd fmla="val 5000" name="adj"/>
            </a:avLst>
          </a:prstGeom>
          <a:solidFill>
            <a:srgbClr val="FFFFFF"/>
          </a:solidFill>
          <a:ln>
            <a:noFill/>
          </a:ln>
          <a:effectLst>
            <a:outerShdw blurRad="64451" rotWithShape="0" dir="5400000" dist="37059">
              <a:srgbClr val="000000">
                <a:alpha val="34900"/>
              </a:srgbClr>
            </a:outerShdw>
          </a:effectLst>
        </p:spPr>
        <p:txBody>
          <a:bodyPr anchorCtr="0" anchor="ctr" bIns="73650" lIns="174025" spcFirstLastPara="1" rIns="147300" wrap="square" tIns="73650">
            <a:noAutofit/>
          </a:bodyPr>
          <a:lstStyle/>
          <a:p>
            <a:pPr indent="0" lvl="0" marL="0" rtl="0" algn="ctr">
              <a:spcBef>
                <a:spcPts val="0"/>
              </a:spcBef>
              <a:spcAft>
                <a:spcPts val="0"/>
              </a:spcAft>
              <a:buClr>
                <a:schemeClr val="dk1"/>
              </a:buClr>
              <a:buSzPts val="1034"/>
              <a:buFont typeface="Arial"/>
              <a:buNone/>
            </a:pPr>
            <a:r>
              <a:rPr b="1" lang="en-US" sz="926">
                <a:solidFill>
                  <a:srgbClr val="A329DE"/>
                </a:solidFill>
                <a:latin typeface="Rubik"/>
                <a:ea typeface="Rubik"/>
                <a:cs typeface="Rubik"/>
                <a:sym typeface="Rubik"/>
              </a:rPr>
              <a:t>Étoile</a:t>
            </a:r>
            <a:r>
              <a:rPr b="1" lang="en-US" sz="926">
                <a:latin typeface="Rubik"/>
                <a:ea typeface="Rubik"/>
                <a:cs typeface="Rubik"/>
                <a:sym typeface="Rubik"/>
              </a:rPr>
              <a:t> + Data Marts</a:t>
            </a:r>
            <a:endParaRPr b="1" sz="926">
              <a:latin typeface="Rubik"/>
              <a:ea typeface="Rubik"/>
              <a:cs typeface="Rubik"/>
              <a:sym typeface="Rubik"/>
            </a:endParaRPr>
          </a:p>
        </p:txBody>
      </p:sp>
      <p:sp>
        <p:nvSpPr>
          <p:cNvPr id="340" name="Google Shape;340;g3d432c3de39_0_88"/>
          <p:cNvSpPr/>
          <p:nvPr/>
        </p:nvSpPr>
        <p:spPr>
          <a:xfrm>
            <a:off x="5947874" y="2371782"/>
            <a:ext cx="2368500" cy="405900"/>
          </a:xfrm>
          <a:prstGeom prst="roundRect">
            <a:avLst>
              <a:gd fmla="val 5000" name="adj"/>
            </a:avLst>
          </a:prstGeom>
          <a:solidFill>
            <a:srgbClr val="FFFFFF"/>
          </a:solidFill>
          <a:ln>
            <a:noFill/>
          </a:ln>
          <a:effectLst>
            <a:outerShdw blurRad="64451" rotWithShape="0" dir="5400000" dist="37059">
              <a:srgbClr val="000000">
                <a:alpha val="34900"/>
              </a:srgbClr>
            </a:outerShdw>
          </a:effectLst>
        </p:spPr>
        <p:txBody>
          <a:bodyPr anchorCtr="0" anchor="ctr" bIns="73650" lIns="174025" spcFirstLastPara="1" rIns="147300" wrap="square" tIns="73650">
            <a:noAutofit/>
          </a:bodyPr>
          <a:lstStyle/>
          <a:p>
            <a:pPr indent="0" lvl="0" marL="0" rtl="0" algn="ctr">
              <a:spcBef>
                <a:spcPts val="0"/>
              </a:spcBef>
              <a:spcAft>
                <a:spcPts val="0"/>
              </a:spcAft>
              <a:buClr>
                <a:schemeClr val="dk1"/>
              </a:buClr>
              <a:buSzPts val="1034"/>
              <a:buFont typeface="Arial"/>
              <a:buNone/>
            </a:pPr>
            <a:r>
              <a:rPr b="1" lang="en-US" sz="926">
                <a:latin typeface="Rubik"/>
                <a:ea typeface="Rubik"/>
                <a:cs typeface="Rubik"/>
                <a:sym typeface="Rubik"/>
              </a:rPr>
              <a:t>Documents </a:t>
            </a:r>
            <a:r>
              <a:rPr b="1" lang="en-US" sz="926">
                <a:solidFill>
                  <a:srgbClr val="282AFF"/>
                </a:solidFill>
                <a:latin typeface="Rubik"/>
                <a:ea typeface="Rubik"/>
                <a:cs typeface="Rubik"/>
                <a:sym typeface="Rubik"/>
              </a:rPr>
              <a:t>flexibles</a:t>
            </a:r>
            <a:endParaRPr b="1" sz="926">
              <a:solidFill>
                <a:srgbClr val="282AFF"/>
              </a:solidFill>
              <a:latin typeface="Rubik"/>
              <a:ea typeface="Rubik"/>
              <a:cs typeface="Rubik"/>
              <a:sym typeface="Rubik"/>
            </a:endParaRPr>
          </a:p>
        </p:txBody>
      </p:sp>
      <p:sp>
        <p:nvSpPr>
          <p:cNvPr id="341" name="Google Shape;341;g3d432c3de39_0_88"/>
          <p:cNvSpPr/>
          <p:nvPr/>
        </p:nvSpPr>
        <p:spPr>
          <a:xfrm>
            <a:off x="675163" y="4001507"/>
            <a:ext cx="2368500" cy="405900"/>
          </a:xfrm>
          <a:prstGeom prst="roundRect">
            <a:avLst>
              <a:gd fmla="val 5000" name="adj"/>
            </a:avLst>
          </a:prstGeom>
          <a:solidFill>
            <a:srgbClr val="FFFFFF"/>
          </a:solidFill>
          <a:ln>
            <a:noFill/>
          </a:ln>
          <a:effectLst>
            <a:outerShdw blurRad="64451" rotWithShape="0" dir="5400000" dist="37059">
              <a:srgbClr val="000000">
                <a:alpha val="34900"/>
              </a:srgbClr>
            </a:outerShdw>
          </a:effectLst>
        </p:spPr>
        <p:txBody>
          <a:bodyPr anchorCtr="0" anchor="ctr" bIns="73650" lIns="174025" spcFirstLastPara="1" rIns="147300" wrap="square" tIns="73650">
            <a:noAutofit/>
          </a:bodyPr>
          <a:lstStyle/>
          <a:p>
            <a:pPr indent="0" lvl="0" marL="0" rtl="0" algn="ctr">
              <a:spcBef>
                <a:spcPts val="0"/>
              </a:spcBef>
              <a:spcAft>
                <a:spcPts val="0"/>
              </a:spcAft>
              <a:buClr>
                <a:schemeClr val="dk1"/>
              </a:buClr>
              <a:buSzPts val="1100"/>
              <a:buFont typeface="Arial"/>
              <a:buNone/>
            </a:pPr>
            <a:r>
              <a:rPr b="1" lang="en-US" sz="926">
                <a:solidFill>
                  <a:schemeClr val="accent6"/>
                </a:solidFill>
                <a:latin typeface="Rubik"/>
                <a:ea typeface="Rubik"/>
                <a:cs typeface="Rubik"/>
                <a:sym typeface="Rubik"/>
              </a:rPr>
              <a:t>DECIMAL</a:t>
            </a:r>
            <a:r>
              <a:rPr b="1" lang="en-US" sz="926">
                <a:latin typeface="Rubik"/>
                <a:ea typeface="Rubik"/>
                <a:cs typeface="Rubik"/>
                <a:sym typeface="Rubik"/>
              </a:rPr>
              <a:t> (jamais FLOAT) · </a:t>
            </a:r>
            <a:r>
              <a:rPr b="1" lang="en-US" sz="926">
                <a:solidFill>
                  <a:schemeClr val="accent6"/>
                </a:solidFill>
                <a:latin typeface="Rubik"/>
                <a:ea typeface="Rubik"/>
                <a:cs typeface="Rubik"/>
                <a:sym typeface="Rubik"/>
              </a:rPr>
              <a:t>FraudAssessments</a:t>
            </a:r>
            <a:r>
              <a:rPr b="1" lang="en-US" sz="926">
                <a:latin typeface="Rubik"/>
                <a:ea typeface="Rubik"/>
                <a:cs typeface="Rubik"/>
                <a:sym typeface="Rubik"/>
              </a:rPr>
              <a:t> séparée</a:t>
            </a:r>
            <a:endParaRPr b="1" sz="926">
              <a:latin typeface="Rubik"/>
              <a:ea typeface="Rubik"/>
              <a:cs typeface="Rubik"/>
              <a:sym typeface="Rubik"/>
            </a:endParaRPr>
          </a:p>
        </p:txBody>
      </p:sp>
      <p:sp>
        <p:nvSpPr>
          <p:cNvPr id="342" name="Google Shape;342;g3d432c3de39_0_88"/>
          <p:cNvSpPr/>
          <p:nvPr/>
        </p:nvSpPr>
        <p:spPr>
          <a:xfrm>
            <a:off x="3324206" y="4001507"/>
            <a:ext cx="2368500" cy="405900"/>
          </a:xfrm>
          <a:prstGeom prst="roundRect">
            <a:avLst>
              <a:gd fmla="val 5000" name="adj"/>
            </a:avLst>
          </a:prstGeom>
          <a:solidFill>
            <a:srgbClr val="FFFFFF"/>
          </a:solidFill>
          <a:ln>
            <a:noFill/>
          </a:ln>
          <a:effectLst>
            <a:outerShdw blurRad="64451" rotWithShape="0" dir="5400000" dist="37059">
              <a:srgbClr val="000000">
                <a:alpha val="34900"/>
              </a:srgbClr>
            </a:outerShdw>
          </a:effectLst>
        </p:spPr>
        <p:txBody>
          <a:bodyPr anchorCtr="0" anchor="ctr" bIns="73650" lIns="174025" spcFirstLastPara="1" rIns="147300" wrap="square" tIns="73650">
            <a:noAutofit/>
          </a:bodyPr>
          <a:lstStyle/>
          <a:p>
            <a:pPr indent="0" lvl="0" marL="0" rtl="0" algn="ctr">
              <a:spcBef>
                <a:spcPts val="0"/>
              </a:spcBef>
              <a:spcAft>
                <a:spcPts val="0"/>
              </a:spcAft>
              <a:buClr>
                <a:schemeClr val="dk1"/>
              </a:buClr>
              <a:buSzPts val="1100"/>
              <a:buFont typeface="Arial"/>
              <a:buNone/>
            </a:pPr>
            <a:r>
              <a:rPr b="1" lang="en-US" sz="926">
                <a:solidFill>
                  <a:schemeClr val="accent6"/>
                </a:solidFill>
                <a:latin typeface="Rubik"/>
                <a:ea typeface="Rubik"/>
                <a:cs typeface="Rubik"/>
                <a:sym typeface="Rubik"/>
              </a:rPr>
              <a:t>dim_merchant</a:t>
            </a:r>
            <a:r>
              <a:rPr b="1" lang="en-US" sz="926">
                <a:latin typeface="Rubik"/>
                <a:ea typeface="Rubik"/>
                <a:cs typeface="Rubik"/>
                <a:sym typeface="Rubik"/>
              </a:rPr>
              <a:t> SCD Type 2 — historique </a:t>
            </a:r>
            <a:r>
              <a:rPr b="1" lang="en-US" sz="926">
                <a:solidFill>
                  <a:schemeClr val="accent6"/>
                </a:solidFill>
                <a:latin typeface="Rubik"/>
                <a:ea typeface="Rubik"/>
                <a:cs typeface="Rubik"/>
                <a:sym typeface="Rubik"/>
              </a:rPr>
              <a:t>préservé</a:t>
            </a:r>
            <a:endParaRPr b="1" sz="926">
              <a:solidFill>
                <a:schemeClr val="accent6"/>
              </a:solidFill>
              <a:latin typeface="Rubik"/>
              <a:ea typeface="Rubik"/>
              <a:cs typeface="Rubik"/>
              <a:sym typeface="Rubik"/>
            </a:endParaRPr>
          </a:p>
        </p:txBody>
      </p:sp>
      <p:sp>
        <p:nvSpPr>
          <p:cNvPr id="343" name="Google Shape;343;g3d432c3de39_0_88"/>
          <p:cNvSpPr/>
          <p:nvPr/>
        </p:nvSpPr>
        <p:spPr>
          <a:xfrm>
            <a:off x="5956324" y="4001507"/>
            <a:ext cx="2368500" cy="405900"/>
          </a:xfrm>
          <a:prstGeom prst="roundRect">
            <a:avLst>
              <a:gd fmla="val 5000" name="adj"/>
            </a:avLst>
          </a:prstGeom>
          <a:solidFill>
            <a:srgbClr val="FFFFFF"/>
          </a:solidFill>
          <a:ln>
            <a:noFill/>
          </a:ln>
          <a:effectLst>
            <a:outerShdw blurRad="64451" rotWithShape="0" dir="5400000" dist="37059">
              <a:srgbClr val="000000">
                <a:alpha val="34900"/>
              </a:srgbClr>
            </a:outerShdw>
          </a:effectLst>
        </p:spPr>
        <p:txBody>
          <a:bodyPr anchorCtr="0" anchor="ctr" bIns="73650" lIns="174025" spcFirstLastPara="1" rIns="147300" wrap="square" tIns="73650">
            <a:noAutofit/>
          </a:bodyPr>
          <a:lstStyle/>
          <a:p>
            <a:pPr indent="0" lvl="0" marL="0" rtl="0" algn="ctr">
              <a:spcBef>
                <a:spcPts val="0"/>
              </a:spcBef>
              <a:spcAft>
                <a:spcPts val="0"/>
              </a:spcAft>
              <a:buClr>
                <a:schemeClr val="dk1"/>
              </a:buClr>
              <a:buSzPts val="1100"/>
              <a:buFont typeface="Arial"/>
              <a:buNone/>
            </a:pPr>
            <a:r>
              <a:rPr b="1" lang="en-US" sz="926">
                <a:latin typeface="Rubik"/>
                <a:ea typeface="Rubik"/>
                <a:cs typeface="Rubik"/>
                <a:sym typeface="Rubik"/>
              </a:rPr>
              <a:t>Feature Store : schéma évolutif </a:t>
            </a:r>
            <a:r>
              <a:rPr b="1" lang="en-US" sz="926">
                <a:solidFill>
                  <a:schemeClr val="accent6"/>
                </a:solidFill>
                <a:latin typeface="Rubik"/>
                <a:ea typeface="Rubik"/>
                <a:cs typeface="Rubik"/>
                <a:sym typeface="Rubik"/>
              </a:rPr>
              <a:t>sans migration</a:t>
            </a:r>
            <a:r>
              <a:rPr b="1" lang="en-US" sz="926">
                <a:latin typeface="Rubik"/>
                <a:ea typeface="Rubik"/>
                <a:cs typeface="Rubik"/>
                <a:sym typeface="Rubik"/>
              </a:rPr>
              <a:t> · TTL auto</a:t>
            </a:r>
            <a:endParaRPr b="1" sz="926">
              <a:latin typeface="Rubik"/>
              <a:ea typeface="Rubik"/>
              <a:cs typeface="Rubik"/>
              <a:sym typeface="Rubik"/>
            </a:endParaRPr>
          </a:p>
        </p:txBody>
      </p:sp>
      <p:sp>
        <p:nvSpPr>
          <p:cNvPr id="344" name="Google Shape;344;g3d432c3de39_0_88"/>
          <p:cNvSpPr/>
          <p:nvPr/>
        </p:nvSpPr>
        <p:spPr>
          <a:xfrm>
            <a:off x="1160550" y="3569500"/>
            <a:ext cx="1373700" cy="432000"/>
          </a:xfrm>
          <a:prstGeom prst="roundRect">
            <a:avLst>
              <a:gd fmla="val 5000" name="adj"/>
            </a:avLst>
          </a:prstGeom>
          <a:solidFill>
            <a:schemeClr val="accent6"/>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lang="en-US" sz="1100">
                <a:solidFill>
                  <a:srgbClr val="FFFFFF"/>
                </a:solidFill>
                <a:latin typeface="Rubik"/>
                <a:ea typeface="Rubik"/>
                <a:cs typeface="Rubik"/>
                <a:sym typeface="Rubik"/>
              </a:rPr>
              <a:t>Décision clé</a:t>
            </a:r>
            <a:endParaRPr b="0" i="0" sz="1400" u="none" cap="none" strike="noStrike">
              <a:solidFill>
                <a:srgbClr val="000000"/>
              </a:solidFill>
              <a:latin typeface="Arial"/>
              <a:ea typeface="Arial"/>
              <a:cs typeface="Arial"/>
              <a:sym typeface="Arial"/>
            </a:endParaRPr>
          </a:p>
        </p:txBody>
      </p:sp>
      <p:sp>
        <p:nvSpPr>
          <p:cNvPr id="345" name="Google Shape;345;g3d432c3de39_0_88"/>
          <p:cNvSpPr/>
          <p:nvPr/>
        </p:nvSpPr>
        <p:spPr>
          <a:xfrm>
            <a:off x="6482650" y="3569500"/>
            <a:ext cx="1373700" cy="432000"/>
          </a:xfrm>
          <a:prstGeom prst="roundRect">
            <a:avLst>
              <a:gd fmla="val 5000" name="adj"/>
            </a:avLst>
          </a:prstGeom>
          <a:solidFill>
            <a:schemeClr val="accent6"/>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lang="en-US" sz="1100">
                <a:solidFill>
                  <a:srgbClr val="FFFFFF"/>
                </a:solidFill>
                <a:latin typeface="Rubik"/>
                <a:ea typeface="Rubik"/>
                <a:cs typeface="Rubik"/>
                <a:sym typeface="Rubik"/>
              </a:rPr>
              <a:t>Décision clé</a:t>
            </a:r>
            <a:endParaRPr b="0" i="0" sz="1400" u="none" cap="none" strike="noStrike">
              <a:solidFill>
                <a:srgbClr val="000000"/>
              </a:solidFill>
              <a:latin typeface="Arial"/>
              <a:ea typeface="Arial"/>
              <a:cs typeface="Arial"/>
              <a:sym typeface="Arial"/>
            </a:endParaRPr>
          </a:p>
        </p:txBody>
      </p:sp>
      <p:sp>
        <p:nvSpPr>
          <p:cNvPr id="346" name="Google Shape;346;g3d432c3de39_0_88"/>
          <p:cNvSpPr/>
          <p:nvPr/>
        </p:nvSpPr>
        <p:spPr>
          <a:xfrm>
            <a:off x="3792650" y="3569500"/>
            <a:ext cx="1373700" cy="432000"/>
          </a:xfrm>
          <a:prstGeom prst="roundRect">
            <a:avLst>
              <a:gd fmla="val 5000" name="adj"/>
            </a:avLst>
          </a:prstGeom>
          <a:solidFill>
            <a:schemeClr val="accent6"/>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lang="en-US" sz="1100">
                <a:solidFill>
                  <a:srgbClr val="FFFFFF"/>
                </a:solidFill>
                <a:latin typeface="Rubik"/>
                <a:ea typeface="Rubik"/>
                <a:cs typeface="Rubik"/>
                <a:sym typeface="Rubik"/>
              </a:rPr>
              <a:t>Décision clé</a:t>
            </a:r>
            <a:endParaRPr b="0" i="0" sz="1400" u="none" cap="none" strike="noStrike">
              <a:solidFill>
                <a:srgbClr val="000000"/>
              </a:solidFill>
              <a:latin typeface="Arial"/>
              <a:ea typeface="Arial"/>
              <a:cs typeface="Arial"/>
              <a:sym typeface="Arial"/>
            </a:endParaRPr>
          </a:p>
        </p:txBody>
      </p:sp>
      <p:cxnSp>
        <p:nvCxnSpPr>
          <p:cNvPr id="347" name="Google Shape;347;g3d432c3de39_0_88"/>
          <p:cNvCxnSpPr>
            <a:stCxn id="333" idx="2"/>
            <a:endCxn id="338" idx="0"/>
          </p:cNvCxnSpPr>
          <p:nvPr/>
        </p:nvCxnSpPr>
        <p:spPr>
          <a:xfrm rot="5400000">
            <a:off x="1703504" y="2197548"/>
            <a:ext cx="338400" cy="9900"/>
          </a:xfrm>
          <a:prstGeom prst="curvedConnector3">
            <a:avLst>
              <a:gd fmla="val 50012" name="adj1"/>
            </a:avLst>
          </a:prstGeom>
          <a:noFill/>
          <a:ln cap="flat" cmpd="sng" w="9525">
            <a:solidFill>
              <a:schemeClr val="dk2"/>
            </a:solidFill>
            <a:prstDash val="solid"/>
            <a:round/>
            <a:headEnd len="med" w="med" type="none"/>
            <a:tailEnd len="med" w="med" type="none"/>
          </a:ln>
        </p:spPr>
      </p:cxnSp>
      <p:cxnSp>
        <p:nvCxnSpPr>
          <p:cNvPr id="348" name="Google Shape;348;g3d432c3de39_0_88"/>
          <p:cNvCxnSpPr>
            <a:stCxn id="335" idx="2"/>
            <a:endCxn id="339" idx="0"/>
          </p:cNvCxnSpPr>
          <p:nvPr/>
        </p:nvCxnSpPr>
        <p:spPr>
          <a:xfrm rot="5400000">
            <a:off x="4356198" y="2177148"/>
            <a:ext cx="338400" cy="50700"/>
          </a:xfrm>
          <a:prstGeom prst="curvedConnector3">
            <a:avLst>
              <a:gd fmla="val 50012" name="adj1"/>
            </a:avLst>
          </a:prstGeom>
          <a:noFill/>
          <a:ln cap="flat" cmpd="sng" w="9525">
            <a:solidFill>
              <a:schemeClr val="dk2"/>
            </a:solidFill>
            <a:prstDash val="solid"/>
            <a:round/>
            <a:headEnd len="med" w="med" type="none"/>
            <a:tailEnd len="med" w="med" type="none"/>
          </a:ln>
        </p:spPr>
      </p:cxnSp>
      <p:cxnSp>
        <p:nvCxnSpPr>
          <p:cNvPr id="349" name="Google Shape;349;g3d432c3de39_0_88"/>
          <p:cNvCxnSpPr>
            <a:stCxn id="337" idx="2"/>
            <a:endCxn id="340" idx="0"/>
          </p:cNvCxnSpPr>
          <p:nvPr/>
        </p:nvCxnSpPr>
        <p:spPr>
          <a:xfrm rot="5400000">
            <a:off x="6991855" y="2173548"/>
            <a:ext cx="338400" cy="57900"/>
          </a:xfrm>
          <a:prstGeom prst="curvedConnector3">
            <a:avLst>
              <a:gd fmla="val 50012" name="adj1"/>
            </a:avLst>
          </a:prstGeom>
          <a:noFill/>
          <a:ln cap="flat" cmpd="sng" w="9525">
            <a:solidFill>
              <a:schemeClr val="dk2"/>
            </a:solidFill>
            <a:prstDash val="solid"/>
            <a:round/>
            <a:headEnd len="med" w="med" type="none"/>
            <a:tailEnd len="med" w="med" type="none"/>
          </a:ln>
        </p:spPr>
      </p:cxnSp>
      <p:cxnSp>
        <p:nvCxnSpPr>
          <p:cNvPr id="350" name="Google Shape;350;g3d432c3de39_0_88"/>
          <p:cNvCxnSpPr>
            <a:stCxn id="338" idx="2"/>
            <a:endCxn id="344" idx="3"/>
          </p:cNvCxnSpPr>
          <p:nvPr/>
        </p:nvCxnSpPr>
        <p:spPr>
          <a:xfrm flipH="1" rot="-5400000">
            <a:off x="1697188" y="2948382"/>
            <a:ext cx="1007700" cy="666300"/>
          </a:xfrm>
          <a:prstGeom prst="curvedConnector4">
            <a:avLst>
              <a:gd fmla="val 39288" name="adj1"/>
              <a:gd fmla="val 135748" name="adj2"/>
            </a:avLst>
          </a:prstGeom>
          <a:noFill/>
          <a:ln cap="flat" cmpd="sng" w="9525">
            <a:solidFill>
              <a:schemeClr val="dk2"/>
            </a:solidFill>
            <a:prstDash val="solid"/>
            <a:round/>
            <a:headEnd len="med" w="med" type="none"/>
            <a:tailEnd len="med" w="med" type="none"/>
          </a:ln>
        </p:spPr>
      </p:cxnSp>
      <p:cxnSp>
        <p:nvCxnSpPr>
          <p:cNvPr id="351" name="Google Shape;351;g3d432c3de39_0_88"/>
          <p:cNvCxnSpPr>
            <a:stCxn id="340" idx="2"/>
            <a:endCxn id="345" idx="3"/>
          </p:cNvCxnSpPr>
          <p:nvPr/>
        </p:nvCxnSpPr>
        <p:spPr>
          <a:xfrm flipH="1" rot="-5400000">
            <a:off x="6990374" y="2919432"/>
            <a:ext cx="1007700" cy="724200"/>
          </a:xfrm>
          <a:prstGeom prst="curvedConnector4">
            <a:avLst>
              <a:gd fmla="val 39288" name="adj1"/>
              <a:gd fmla="val 132885" name="adj2"/>
            </a:avLst>
          </a:prstGeom>
          <a:noFill/>
          <a:ln cap="flat" cmpd="sng" w="9525">
            <a:solidFill>
              <a:schemeClr val="dk2"/>
            </a:solidFill>
            <a:prstDash val="solid"/>
            <a:round/>
            <a:headEnd len="med" w="med" type="none"/>
            <a:tailEnd len="med" w="med" type="none"/>
          </a:ln>
        </p:spPr>
      </p:cxnSp>
      <p:cxnSp>
        <p:nvCxnSpPr>
          <p:cNvPr id="352" name="Google Shape;352;g3d432c3de39_0_88"/>
          <p:cNvCxnSpPr>
            <a:stCxn id="339" idx="2"/>
            <a:endCxn id="346" idx="1"/>
          </p:cNvCxnSpPr>
          <p:nvPr/>
        </p:nvCxnSpPr>
        <p:spPr>
          <a:xfrm rot="5400000">
            <a:off x="3642456" y="2927832"/>
            <a:ext cx="1007700" cy="707400"/>
          </a:xfrm>
          <a:prstGeom prst="curvedConnector4">
            <a:avLst>
              <a:gd fmla="val 39288" name="adj1"/>
              <a:gd fmla="val 133656" name="adj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356" name="Shape 356"/>
        <p:cNvGrpSpPr/>
        <p:nvPr/>
      </p:nvGrpSpPr>
      <p:grpSpPr>
        <a:xfrm>
          <a:off x="0" y="0"/>
          <a:ext cx="0" cy="0"/>
          <a:chOff x="0" y="0"/>
          <a:chExt cx="0" cy="0"/>
        </a:xfrm>
      </p:grpSpPr>
      <p:sp>
        <p:nvSpPr>
          <p:cNvPr id="357" name="Google Shape;357;g3d432c3de39_0_152"/>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8" name="Google Shape;358;g3d432c3de39_0_152"/>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800">
                <a:latin typeface="Rubik"/>
                <a:ea typeface="Rubik"/>
                <a:cs typeface="Rubik"/>
                <a:sym typeface="Rubik"/>
              </a:rPr>
              <a:t>SÉCURITÉ &amp; CONFORMITÉ PCI-DSS / RGPD</a:t>
            </a:r>
            <a:endParaRPr b="1" sz="1800">
              <a:latin typeface="Rubik"/>
              <a:ea typeface="Rubik"/>
              <a:cs typeface="Rubik"/>
              <a:sym typeface="Rubik"/>
            </a:endParaRPr>
          </a:p>
        </p:txBody>
      </p:sp>
      <p:sp>
        <p:nvSpPr>
          <p:cNvPr id="359" name="Google Shape;359;g3d432c3de39_0_152"/>
          <p:cNvSpPr/>
          <p:nvPr/>
        </p:nvSpPr>
        <p:spPr>
          <a:xfrm>
            <a:off x="421984" y="1336088"/>
            <a:ext cx="2711100" cy="709200"/>
          </a:xfrm>
          <a:prstGeom prst="roundRect">
            <a:avLst>
              <a:gd fmla="val 5000" name="adj"/>
            </a:avLst>
          </a:prstGeom>
          <a:solidFill>
            <a:srgbClr val="FFFFFF"/>
          </a:solidFill>
          <a:ln>
            <a:noFill/>
          </a:ln>
          <a:effectLst>
            <a:outerShdw blurRad="46346" rotWithShape="0" dir="5400000" dist="26649">
              <a:srgbClr val="000000">
                <a:alpha val="34900"/>
              </a:srgbClr>
            </a:outerShdw>
          </a:effectLst>
        </p:spPr>
        <p:txBody>
          <a:bodyPr anchorCtr="0" anchor="ctr" bIns="52950" lIns="105925" spcFirstLastPara="1" rIns="105925" wrap="square" tIns="52950">
            <a:noAutofit/>
          </a:bodyPr>
          <a:lstStyle/>
          <a:p>
            <a:pPr indent="0" lvl="0" marL="0" marR="0" rtl="0" algn="ctr">
              <a:lnSpc>
                <a:spcPct val="100000"/>
              </a:lnSpc>
              <a:spcBef>
                <a:spcPts val="0"/>
              </a:spcBef>
              <a:spcAft>
                <a:spcPts val="0"/>
              </a:spcAft>
              <a:buClr>
                <a:srgbClr val="000000"/>
              </a:buClr>
              <a:buSzPts val="2086"/>
              <a:buFont typeface="Arial"/>
              <a:buNone/>
            </a:pPr>
            <a:r>
              <a:t/>
            </a:r>
            <a:endParaRPr b="0" i="0" sz="2086" u="none" cap="none" strike="noStrike">
              <a:solidFill>
                <a:schemeClr val="dk1"/>
              </a:solidFill>
              <a:latin typeface="Calibri"/>
              <a:ea typeface="Calibri"/>
              <a:cs typeface="Calibri"/>
              <a:sym typeface="Calibri"/>
            </a:endParaRPr>
          </a:p>
        </p:txBody>
      </p:sp>
      <p:sp>
        <p:nvSpPr>
          <p:cNvPr id="360" name="Google Shape;360;g3d432c3de39_0_152"/>
          <p:cNvSpPr/>
          <p:nvPr/>
        </p:nvSpPr>
        <p:spPr>
          <a:xfrm>
            <a:off x="505407" y="1419511"/>
            <a:ext cx="2711100" cy="709200"/>
          </a:xfrm>
          <a:prstGeom prst="roundRect">
            <a:avLst>
              <a:gd fmla="val 5000" name="adj"/>
            </a:avLst>
          </a:prstGeom>
          <a:solidFill>
            <a:srgbClr val="A329DE"/>
          </a:solidFill>
          <a:ln>
            <a:noFill/>
          </a:ln>
          <a:effectLst>
            <a:outerShdw blurRad="46346" rotWithShape="0" dir="5400000" dist="26649">
              <a:srgbClr val="000000">
                <a:alpha val="34900"/>
              </a:srgbClr>
            </a:outerShdw>
          </a:effectLst>
        </p:spPr>
        <p:txBody>
          <a:bodyPr anchorCtr="0" anchor="ctr" bIns="52950" lIns="105925" spcFirstLastPara="1" rIns="105925" wrap="square" tIns="52950">
            <a:noAutofit/>
          </a:bodyPr>
          <a:lstStyle/>
          <a:p>
            <a:pPr indent="0" lvl="0" marL="0" marR="0" rtl="0" algn="ctr">
              <a:lnSpc>
                <a:spcPct val="100000"/>
              </a:lnSpc>
              <a:spcBef>
                <a:spcPts val="0"/>
              </a:spcBef>
              <a:spcAft>
                <a:spcPts val="0"/>
              </a:spcAft>
              <a:buClr>
                <a:srgbClr val="000000"/>
              </a:buClr>
              <a:buSzPts val="1622"/>
              <a:buFont typeface="Arial"/>
              <a:buNone/>
            </a:pPr>
            <a:r>
              <a:rPr b="1" lang="en-US" sz="1622">
                <a:solidFill>
                  <a:srgbClr val="FFFFFF"/>
                </a:solidFill>
                <a:latin typeface="Rubik"/>
                <a:ea typeface="Rubik"/>
                <a:cs typeface="Rubik"/>
                <a:sym typeface="Rubik"/>
              </a:rPr>
              <a:t>PCI-DSS</a:t>
            </a:r>
            <a:endParaRPr b="0" i="0" sz="1622" u="none" cap="none" strike="noStrike">
              <a:solidFill>
                <a:srgbClr val="000000"/>
              </a:solidFill>
              <a:latin typeface="Arial"/>
              <a:ea typeface="Arial"/>
              <a:cs typeface="Arial"/>
              <a:sym typeface="Arial"/>
            </a:endParaRPr>
          </a:p>
        </p:txBody>
      </p:sp>
      <p:sp>
        <p:nvSpPr>
          <p:cNvPr id="361" name="Google Shape;361;g3d432c3de39_0_152"/>
          <p:cNvSpPr/>
          <p:nvPr/>
        </p:nvSpPr>
        <p:spPr>
          <a:xfrm>
            <a:off x="421963" y="2724125"/>
            <a:ext cx="3906000" cy="360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300"/>
              </a:spcBef>
              <a:spcAft>
                <a:spcPts val="0"/>
              </a:spcAft>
              <a:buClr>
                <a:schemeClr val="dk1"/>
              </a:buClr>
              <a:buFont typeface="Arial"/>
              <a:buNone/>
            </a:pPr>
            <a:r>
              <a:rPr lang="en-US" sz="1000">
                <a:solidFill>
                  <a:schemeClr val="dk1"/>
                </a:solidFill>
              </a:rPr>
              <a:t>PAN chiffrés (AES-256) avant insertion.</a:t>
            </a:r>
            <a:r>
              <a:rPr lang="en-US" sz="1000">
                <a:solidFill>
                  <a:srgbClr val="A329DE"/>
                </a:solidFill>
              </a:rPr>
              <a:t> Blobs en base</a:t>
            </a:r>
            <a:endParaRPr b="0" i="0" sz="1400" u="none" cap="none" strike="noStrike">
              <a:solidFill>
                <a:srgbClr val="A329DE"/>
              </a:solidFill>
              <a:latin typeface="Arial"/>
              <a:ea typeface="Arial"/>
              <a:cs typeface="Arial"/>
              <a:sym typeface="Arial"/>
            </a:endParaRPr>
          </a:p>
        </p:txBody>
      </p:sp>
      <p:sp>
        <p:nvSpPr>
          <p:cNvPr id="362" name="Google Shape;362;g3d432c3de39_0_152"/>
          <p:cNvSpPr/>
          <p:nvPr/>
        </p:nvSpPr>
        <p:spPr>
          <a:xfrm>
            <a:off x="421975" y="2379250"/>
            <a:ext cx="2322900" cy="360000"/>
          </a:xfrm>
          <a:prstGeom prst="roundRect">
            <a:avLst>
              <a:gd fmla="val 5000" name="adj"/>
            </a:avLst>
          </a:prstGeom>
          <a:solidFill>
            <a:schemeClr val="accent6"/>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lang="en-US" sz="1100">
                <a:solidFill>
                  <a:srgbClr val="FFFFFF"/>
                </a:solidFill>
                <a:latin typeface="Rubik"/>
                <a:ea typeface="Rubik"/>
                <a:cs typeface="Rubik"/>
                <a:sym typeface="Rubik"/>
              </a:rPr>
              <a:t>Chiffrement et tokenisation</a:t>
            </a:r>
            <a:endParaRPr b="0" i="0" sz="1400" u="none" cap="none" strike="noStrike">
              <a:solidFill>
                <a:srgbClr val="000000"/>
              </a:solidFill>
              <a:latin typeface="Arial"/>
              <a:ea typeface="Arial"/>
              <a:cs typeface="Arial"/>
              <a:sym typeface="Arial"/>
            </a:endParaRPr>
          </a:p>
        </p:txBody>
      </p:sp>
      <p:sp>
        <p:nvSpPr>
          <p:cNvPr id="363" name="Google Shape;363;g3d432c3de39_0_152"/>
          <p:cNvSpPr/>
          <p:nvPr/>
        </p:nvSpPr>
        <p:spPr>
          <a:xfrm>
            <a:off x="4990509" y="1359275"/>
            <a:ext cx="2711100" cy="709200"/>
          </a:xfrm>
          <a:prstGeom prst="roundRect">
            <a:avLst>
              <a:gd fmla="val 5000" name="adj"/>
            </a:avLst>
          </a:prstGeom>
          <a:solidFill>
            <a:srgbClr val="FFFFFF"/>
          </a:solidFill>
          <a:ln>
            <a:noFill/>
          </a:ln>
          <a:effectLst>
            <a:outerShdw blurRad="46346" rotWithShape="0" dir="5400000" dist="26649">
              <a:srgbClr val="000000">
                <a:alpha val="34900"/>
              </a:srgbClr>
            </a:outerShdw>
          </a:effectLst>
        </p:spPr>
        <p:txBody>
          <a:bodyPr anchorCtr="0" anchor="ctr" bIns="52950" lIns="105925" spcFirstLastPara="1" rIns="105925" wrap="square" tIns="52950">
            <a:noAutofit/>
          </a:bodyPr>
          <a:lstStyle/>
          <a:p>
            <a:pPr indent="0" lvl="0" marL="0" marR="0" rtl="0" algn="ctr">
              <a:lnSpc>
                <a:spcPct val="100000"/>
              </a:lnSpc>
              <a:spcBef>
                <a:spcPts val="0"/>
              </a:spcBef>
              <a:spcAft>
                <a:spcPts val="0"/>
              </a:spcAft>
              <a:buClr>
                <a:srgbClr val="000000"/>
              </a:buClr>
              <a:buSzPts val="2086"/>
              <a:buFont typeface="Arial"/>
              <a:buNone/>
            </a:pPr>
            <a:r>
              <a:t/>
            </a:r>
            <a:endParaRPr b="0" i="0" sz="2086" u="none" cap="none" strike="noStrike">
              <a:solidFill>
                <a:schemeClr val="dk1"/>
              </a:solidFill>
              <a:latin typeface="Calibri"/>
              <a:ea typeface="Calibri"/>
              <a:cs typeface="Calibri"/>
              <a:sym typeface="Calibri"/>
            </a:endParaRPr>
          </a:p>
        </p:txBody>
      </p:sp>
      <p:sp>
        <p:nvSpPr>
          <p:cNvPr id="364" name="Google Shape;364;g3d432c3de39_0_152"/>
          <p:cNvSpPr/>
          <p:nvPr/>
        </p:nvSpPr>
        <p:spPr>
          <a:xfrm>
            <a:off x="5073932" y="1442698"/>
            <a:ext cx="2711100" cy="709200"/>
          </a:xfrm>
          <a:prstGeom prst="roundRect">
            <a:avLst>
              <a:gd fmla="val 5000" name="adj"/>
            </a:avLst>
          </a:prstGeom>
          <a:solidFill>
            <a:srgbClr val="282AFF"/>
          </a:solidFill>
          <a:ln>
            <a:noFill/>
          </a:ln>
          <a:effectLst>
            <a:outerShdw blurRad="46346" rotWithShape="0" dir="5400000" dist="26649">
              <a:srgbClr val="000000">
                <a:alpha val="34900"/>
              </a:srgbClr>
            </a:outerShdw>
          </a:effectLst>
        </p:spPr>
        <p:txBody>
          <a:bodyPr anchorCtr="0" anchor="ctr" bIns="52950" lIns="105925" spcFirstLastPara="1" rIns="105925" wrap="square" tIns="52950">
            <a:noAutofit/>
          </a:bodyPr>
          <a:lstStyle/>
          <a:p>
            <a:pPr indent="0" lvl="0" marL="0" marR="0" rtl="0" algn="ctr">
              <a:lnSpc>
                <a:spcPct val="100000"/>
              </a:lnSpc>
              <a:spcBef>
                <a:spcPts val="0"/>
              </a:spcBef>
              <a:spcAft>
                <a:spcPts val="0"/>
              </a:spcAft>
              <a:buClr>
                <a:srgbClr val="000000"/>
              </a:buClr>
              <a:buSzPts val="1622"/>
              <a:buFont typeface="Arial"/>
              <a:buNone/>
            </a:pPr>
            <a:r>
              <a:rPr b="1" lang="en-US" sz="1622">
                <a:solidFill>
                  <a:srgbClr val="FFFFFF"/>
                </a:solidFill>
                <a:latin typeface="Rubik"/>
                <a:ea typeface="Rubik"/>
                <a:cs typeface="Rubik"/>
                <a:sym typeface="Rubik"/>
              </a:rPr>
              <a:t>RGPD</a:t>
            </a:r>
            <a:endParaRPr b="0" i="0" sz="1622" u="none" cap="none" strike="noStrike">
              <a:solidFill>
                <a:srgbClr val="000000"/>
              </a:solidFill>
              <a:latin typeface="Arial"/>
              <a:ea typeface="Arial"/>
              <a:cs typeface="Arial"/>
              <a:sym typeface="Arial"/>
            </a:endParaRPr>
          </a:p>
        </p:txBody>
      </p:sp>
      <p:sp>
        <p:nvSpPr>
          <p:cNvPr id="365" name="Google Shape;365;g3d432c3de39_0_152"/>
          <p:cNvSpPr/>
          <p:nvPr/>
        </p:nvSpPr>
        <p:spPr>
          <a:xfrm>
            <a:off x="421963" y="3142800"/>
            <a:ext cx="3906000" cy="360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300"/>
              </a:spcBef>
              <a:spcAft>
                <a:spcPts val="0"/>
              </a:spcAft>
              <a:buClr>
                <a:schemeClr val="dk1"/>
              </a:buClr>
              <a:buFont typeface="Arial"/>
              <a:buNone/>
            </a:pPr>
            <a:r>
              <a:rPr lang="en-US" sz="1000">
                <a:solidFill>
                  <a:schemeClr val="dk1"/>
                </a:solidFill>
              </a:rPr>
              <a:t>Chiffrement disque insuffisant. </a:t>
            </a:r>
            <a:r>
              <a:rPr lang="en-US" sz="1000">
                <a:solidFill>
                  <a:srgbClr val="A329DE"/>
                </a:solidFill>
              </a:rPr>
              <a:t>Accès root contourne le TDE</a:t>
            </a:r>
            <a:endParaRPr b="0" i="0" sz="1400" u="none" cap="none" strike="noStrike">
              <a:solidFill>
                <a:srgbClr val="A329DE"/>
              </a:solidFill>
              <a:latin typeface="Arial"/>
              <a:ea typeface="Arial"/>
              <a:cs typeface="Arial"/>
              <a:sym typeface="Arial"/>
            </a:endParaRPr>
          </a:p>
        </p:txBody>
      </p:sp>
      <p:sp>
        <p:nvSpPr>
          <p:cNvPr id="366" name="Google Shape;366;g3d432c3de39_0_152"/>
          <p:cNvSpPr/>
          <p:nvPr/>
        </p:nvSpPr>
        <p:spPr>
          <a:xfrm>
            <a:off x="4990488" y="2717375"/>
            <a:ext cx="3906000" cy="360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300"/>
              </a:spcBef>
              <a:spcAft>
                <a:spcPts val="0"/>
              </a:spcAft>
              <a:buClr>
                <a:schemeClr val="dk1"/>
              </a:buClr>
              <a:buSzPts val="1100"/>
              <a:buFont typeface="Arial"/>
              <a:buNone/>
            </a:pPr>
            <a:r>
              <a:rPr lang="en-US" sz="1000">
                <a:solidFill>
                  <a:schemeClr val="dk1"/>
                </a:solidFill>
              </a:rPr>
              <a:t>OLTP → </a:t>
            </a:r>
            <a:r>
              <a:rPr lang="en-US" sz="1000">
                <a:solidFill>
                  <a:srgbClr val="282AFF"/>
                </a:solidFill>
              </a:rPr>
              <a:t>suppression directe</a:t>
            </a:r>
            <a:endParaRPr sz="1000">
              <a:solidFill>
                <a:srgbClr val="282AFF"/>
              </a:solidFill>
            </a:endParaRPr>
          </a:p>
        </p:txBody>
      </p:sp>
      <p:sp>
        <p:nvSpPr>
          <p:cNvPr id="367" name="Google Shape;367;g3d432c3de39_0_152"/>
          <p:cNvSpPr/>
          <p:nvPr/>
        </p:nvSpPr>
        <p:spPr>
          <a:xfrm>
            <a:off x="4990488" y="3136050"/>
            <a:ext cx="3906000" cy="360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300"/>
              </a:spcBef>
              <a:spcAft>
                <a:spcPts val="0"/>
              </a:spcAft>
              <a:buClr>
                <a:schemeClr val="dk1"/>
              </a:buClr>
              <a:buFont typeface="Arial"/>
              <a:buNone/>
            </a:pPr>
            <a:r>
              <a:rPr lang="en-US" sz="1000">
                <a:solidFill>
                  <a:schemeClr val="dk1"/>
                </a:solidFill>
              </a:rPr>
              <a:t>OLAP → </a:t>
            </a:r>
            <a:r>
              <a:rPr lang="en-US" sz="1000">
                <a:solidFill>
                  <a:srgbClr val="282AFF"/>
                </a:solidFill>
              </a:rPr>
              <a:t>anonymisation</a:t>
            </a:r>
            <a:endParaRPr sz="1000">
              <a:solidFill>
                <a:srgbClr val="282AFF"/>
              </a:solidFill>
            </a:endParaRPr>
          </a:p>
        </p:txBody>
      </p:sp>
      <p:sp>
        <p:nvSpPr>
          <p:cNvPr id="368" name="Google Shape;368;g3d432c3de39_0_152"/>
          <p:cNvSpPr/>
          <p:nvPr/>
        </p:nvSpPr>
        <p:spPr>
          <a:xfrm>
            <a:off x="4990500" y="2379250"/>
            <a:ext cx="2322900" cy="360000"/>
          </a:xfrm>
          <a:prstGeom prst="roundRect">
            <a:avLst>
              <a:gd fmla="val 5000" name="adj"/>
            </a:avLst>
          </a:prstGeom>
          <a:solidFill>
            <a:schemeClr val="accent6"/>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lang="en-US" sz="1100">
                <a:solidFill>
                  <a:srgbClr val="FFFFFF"/>
                </a:solidFill>
                <a:latin typeface="Rubik"/>
                <a:ea typeface="Rubik"/>
                <a:cs typeface="Rubik"/>
                <a:sym typeface="Rubik"/>
              </a:rPr>
              <a:t>Stratégie par couche</a:t>
            </a:r>
            <a:endParaRPr b="0" i="0" sz="1400" u="none" cap="none" strike="noStrike">
              <a:solidFill>
                <a:srgbClr val="000000"/>
              </a:solidFill>
              <a:latin typeface="Arial"/>
              <a:ea typeface="Arial"/>
              <a:cs typeface="Arial"/>
              <a:sym typeface="Arial"/>
            </a:endParaRPr>
          </a:p>
        </p:txBody>
      </p:sp>
      <p:sp>
        <p:nvSpPr>
          <p:cNvPr id="369" name="Google Shape;369;g3d432c3de39_0_152"/>
          <p:cNvSpPr/>
          <p:nvPr/>
        </p:nvSpPr>
        <p:spPr>
          <a:xfrm>
            <a:off x="1700275" y="4254500"/>
            <a:ext cx="2627700" cy="540000"/>
          </a:xfrm>
          <a:prstGeom prst="rect">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lang="en-US" sz="1100">
                <a:solidFill>
                  <a:srgbClr val="FFFFFF"/>
                </a:solidFill>
                <a:latin typeface="Rubik"/>
                <a:ea typeface="Rubik"/>
                <a:cs typeface="Rubik"/>
                <a:sym typeface="Rubik"/>
              </a:rPr>
              <a:t>Infrastructure chiffrée de bout en bout</a:t>
            </a:r>
            <a:endParaRPr b="1" sz="1100">
              <a:solidFill>
                <a:srgbClr val="FFFFFF"/>
              </a:solidFill>
              <a:latin typeface="Rubik"/>
              <a:ea typeface="Rubik"/>
              <a:cs typeface="Rubik"/>
              <a:sym typeface="Rubik"/>
            </a:endParaRPr>
          </a:p>
        </p:txBody>
      </p:sp>
      <p:sp>
        <p:nvSpPr>
          <p:cNvPr id="370" name="Google Shape;370;g3d432c3de39_0_152"/>
          <p:cNvSpPr/>
          <p:nvPr/>
        </p:nvSpPr>
        <p:spPr>
          <a:xfrm>
            <a:off x="6268800" y="4254500"/>
            <a:ext cx="2627700" cy="540000"/>
          </a:xfrm>
          <a:prstGeom prst="rect">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lang="en-US" sz="1100">
                <a:solidFill>
                  <a:srgbClr val="FFFFFF"/>
                </a:solidFill>
                <a:latin typeface="Rubik"/>
                <a:ea typeface="Rubik"/>
                <a:cs typeface="Rubik"/>
                <a:sym typeface="Rubik"/>
              </a:rPr>
              <a:t>Stratégie RGPD adaptée à la nature de chaque système</a:t>
            </a:r>
            <a:endParaRPr b="1" sz="1100">
              <a:solidFill>
                <a:srgbClr val="FFFFFF"/>
              </a:solidFill>
              <a:latin typeface="Rubik"/>
              <a:ea typeface="Rubik"/>
              <a:cs typeface="Rubik"/>
              <a:sym typeface="Rubik"/>
            </a:endParaRPr>
          </a:p>
        </p:txBody>
      </p:sp>
      <p:cxnSp>
        <p:nvCxnSpPr>
          <p:cNvPr id="371" name="Google Shape;371;g3d432c3de39_0_152"/>
          <p:cNvCxnSpPr>
            <a:stCxn id="362" idx="1"/>
          </p:cNvCxnSpPr>
          <p:nvPr/>
        </p:nvCxnSpPr>
        <p:spPr>
          <a:xfrm>
            <a:off x="421975" y="2559250"/>
            <a:ext cx="1278300" cy="2039700"/>
          </a:xfrm>
          <a:prstGeom prst="curvedConnector4">
            <a:avLst>
              <a:gd fmla="val -18628" name="adj1"/>
              <a:gd fmla="val 54412" name="adj2"/>
            </a:avLst>
          </a:prstGeom>
          <a:noFill/>
          <a:ln cap="flat" cmpd="sng" w="9525">
            <a:solidFill>
              <a:schemeClr val="dk2"/>
            </a:solidFill>
            <a:prstDash val="solid"/>
            <a:round/>
            <a:headEnd len="med" w="med" type="none"/>
            <a:tailEnd len="med" w="med" type="none"/>
          </a:ln>
        </p:spPr>
      </p:cxnSp>
      <p:sp>
        <p:nvSpPr>
          <p:cNvPr id="372" name="Google Shape;372;g3d432c3de39_0_152"/>
          <p:cNvSpPr/>
          <p:nvPr/>
        </p:nvSpPr>
        <p:spPr>
          <a:xfrm>
            <a:off x="421963" y="3561475"/>
            <a:ext cx="3906000" cy="360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300"/>
              </a:spcBef>
              <a:spcAft>
                <a:spcPts val="0"/>
              </a:spcAft>
              <a:buClr>
                <a:schemeClr val="dk1"/>
              </a:buClr>
              <a:buFont typeface="Arial"/>
              <a:buNone/>
            </a:pPr>
            <a:r>
              <a:rPr lang="en-US" sz="1000">
                <a:solidFill>
                  <a:schemeClr val="dk1"/>
                </a:solidFill>
              </a:rPr>
              <a:t>L</a:t>
            </a:r>
            <a:r>
              <a:rPr lang="en-US" sz="1000">
                <a:solidFill>
                  <a:schemeClr val="dk1"/>
                </a:solidFill>
              </a:rPr>
              <a:t>es numéros de carte </a:t>
            </a:r>
            <a:r>
              <a:rPr lang="en-US" sz="1000">
                <a:solidFill>
                  <a:srgbClr val="A329DE"/>
                </a:solidFill>
              </a:rPr>
              <a:t>ne quittent jamais le CDE</a:t>
            </a:r>
            <a:r>
              <a:rPr lang="en-US" sz="1000">
                <a:solidFill>
                  <a:schemeClr val="dk1"/>
                </a:solidFill>
              </a:rPr>
              <a:t>.</a:t>
            </a:r>
            <a:endParaRPr b="0" i="0" sz="1400" u="none" cap="none" strike="noStrike">
              <a:solidFill>
                <a:srgbClr val="000000"/>
              </a:solidFill>
              <a:latin typeface="Arial"/>
              <a:ea typeface="Arial"/>
              <a:cs typeface="Arial"/>
              <a:sym typeface="Arial"/>
            </a:endParaRPr>
          </a:p>
        </p:txBody>
      </p:sp>
      <p:cxnSp>
        <p:nvCxnSpPr>
          <p:cNvPr id="373" name="Google Shape;373;g3d432c3de39_0_152"/>
          <p:cNvCxnSpPr>
            <a:stCxn id="368" idx="1"/>
          </p:cNvCxnSpPr>
          <p:nvPr/>
        </p:nvCxnSpPr>
        <p:spPr>
          <a:xfrm>
            <a:off x="4990500" y="2559250"/>
            <a:ext cx="1267200" cy="2182800"/>
          </a:xfrm>
          <a:prstGeom prst="curvedConnector4">
            <a:avLst>
              <a:gd fmla="val -12334" name="adj1"/>
              <a:gd fmla="val 54123" name="adj2"/>
            </a:avLst>
          </a:prstGeom>
          <a:noFill/>
          <a:ln cap="flat" cmpd="sng" w="9525">
            <a:solidFill>
              <a:schemeClr val="dk2"/>
            </a:solidFill>
            <a:prstDash val="solid"/>
            <a:round/>
            <a:headEnd len="med" w="med" type="none"/>
            <a:tailEnd len="med" w="med" type="none"/>
          </a:ln>
        </p:spPr>
      </p:cxnSp>
      <p:sp>
        <p:nvSpPr>
          <p:cNvPr id="374" name="Google Shape;374;g3d432c3de39_0_152"/>
          <p:cNvSpPr/>
          <p:nvPr/>
        </p:nvSpPr>
        <p:spPr>
          <a:xfrm>
            <a:off x="4990488" y="3554725"/>
            <a:ext cx="3906000" cy="360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300"/>
              </a:spcBef>
              <a:spcAft>
                <a:spcPts val="0"/>
              </a:spcAft>
              <a:buClr>
                <a:schemeClr val="dk1"/>
              </a:buClr>
              <a:buFont typeface="Arial"/>
              <a:buNone/>
            </a:pPr>
            <a:r>
              <a:rPr lang="en-US" sz="1000">
                <a:solidFill>
                  <a:schemeClr val="dk1"/>
                </a:solidFill>
              </a:rPr>
              <a:t>NoSQL → </a:t>
            </a:r>
            <a:r>
              <a:rPr lang="en-US" sz="1000">
                <a:solidFill>
                  <a:srgbClr val="282AFF"/>
                </a:solidFill>
              </a:rPr>
              <a:t>TTL automatique</a:t>
            </a:r>
            <a:endParaRPr sz="1000">
              <a:solidFill>
                <a:srgbClr val="282A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378" name="Shape 378"/>
        <p:cNvGrpSpPr/>
        <p:nvPr/>
      </p:nvGrpSpPr>
      <p:grpSpPr>
        <a:xfrm>
          <a:off x="0" y="0"/>
          <a:ext cx="0" cy="0"/>
          <a:chOff x="0" y="0"/>
          <a:chExt cx="0" cy="0"/>
        </a:xfrm>
      </p:grpSpPr>
      <p:sp>
        <p:nvSpPr>
          <p:cNvPr id="379" name="Google Shape;379;g3d432c3de39_0_217"/>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g3d432c3de39_0_217"/>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800">
                <a:latin typeface="Rubik"/>
                <a:ea typeface="Rubik"/>
                <a:cs typeface="Rubik"/>
                <a:sym typeface="Rubik"/>
              </a:rPr>
              <a:t>ARCHITECTURE MACHINE LEARNING</a:t>
            </a:r>
            <a:endParaRPr b="1" sz="1800">
              <a:latin typeface="Rubik"/>
              <a:ea typeface="Rubik"/>
              <a:cs typeface="Rubik"/>
              <a:sym typeface="Rubik"/>
            </a:endParaRPr>
          </a:p>
        </p:txBody>
      </p:sp>
      <p:pic>
        <p:nvPicPr>
          <p:cNvPr id="381" name="Google Shape;381;g3d432c3de39_0_217"/>
          <p:cNvPicPr preferRelativeResize="0"/>
          <p:nvPr/>
        </p:nvPicPr>
        <p:blipFill>
          <a:blip r:embed="rId3">
            <a:alphaModFix/>
          </a:blip>
          <a:stretch>
            <a:fillRect/>
          </a:stretch>
        </p:blipFill>
        <p:spPr>
          <a:xfrm>
            <a:off x="152400" y="1088400"/>
            <a:ext cx="8839204" cy="362545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385" name="Shape 385"/>
        <p:cNvGrpSpPr/>
        <p:nvPr/>
      </p:nvGrpSpPr>
      <p:grpSpPr>
        <a:xfrm>
          <a:off x="0" y="0"/>
          <a:ext cx="0" cy="0"/>
          <a:chOff x="0" y="0"/>
          <a:chExt cx="0" cy="0"/>
        </a:xfrm>
      </p:grpSpPr>
      <p:sp>
        <p:nvSpPr>
          <p:cNvPr id="386" name="Google Shape;386;g3d432c3de39_0_248"/>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7" name="Google Shape;387;g3d432c3de39_0_248"/>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US" sz="1800">
                <a:latin typeface="Rubik"/>
                <a:ea typeface="Rubik"/>
                <a:cs typeface="Rubik"/>
                <a:sym typeface="Rubik"/>
              </a:rPr>
              <a:t>SYNTHÈSE</a:t>
            </a:r>
            <a:endParaRPr b="0" i="0" sz="1400" u="none" cap="none" strike="noStrike">
              <a:solidFill>
                <a:srgbClr val="000000"/>
              </a:solidFill>
              <a:latin typeface="Arial"/>
              <a:ea typeface="Arial"/>
              <a:cs typeface="Arial"/>
              <a:sym typeface="Arial"/>
            </a:endParaRPr>
          </a:p>
        </p:txBody>
      </p:sp>
      <p:sp>
        <p:nvSpPr>
          <p:cNvPr id="388" name="Google Shape;388;g3d432c3de39_0_248"/>
          <p:cNvSpPr/>
          <p:nvPr/>
        </p:nvSpPr>
        <p:spPr>
          <a:xfrm>
            <a:off x="360000" y="1571925"/>
            <a:ext cx="2763900" cy="324000"/>
          </a:xfrm>
          <a:prstGeom prst="roundRect">
            <a:avLst>
              <a:gd fmla="val 5000" name="adj"/>
            </a:avLst>
          </a:prstGeom>
          <a:solidFill>
            <a:srgbClr val="0000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Besoin</a:t>
            </a:r>
            <a:endParaRPr b="0" i="0" sz="1400" u="none" cap="none" strike="noStrike">
              <a:solidFill>
                <a:srgbClr val="000000"/>
              </a:solidFill>
              <a:latin typeface="Arial"/>
              <a:ea typeface="Arial"/>
              <a:cs typeface="Arial"/>
              <a:sym typeface="Arial"/>
            </a:endParaRPr>
          </a:p>
        </p:txBody>
      </p:sp>
      <p:sp>
        <p:nvSpPr>
          <p:cNvPr id="389" name="Google Shape;389;g3d432c3de39_0_248"/>
          <p:cNvSpPr/>
          <p:nvPr/>
        </p:nvSpPr>
        <p:spPr>
          <a:xfrm>
            <a:off x="3249656" y="1571925"/>
            <a:ext cx="2866200" cy="324000"/>
          </a:xfrm>
          <a:prstGeom prst="roundRect">
            <a:avLst>
              <a:gd fmla="val 5000" name="adj"/>
            </a:avLst>
          </a:prstGeom>
          <a:solidFill>
            <a:srgbClr val="0000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Dimension</a:t>
            </a:r>
            <a:endParaRPr b="0" i="0" sz="1400" u="none" cap="none" strike="noStrike">
              <a:solidFill>
                <a:srgbClr val="000000"/>
              </a:solidFill>
              <a:latin typeface="Arial"/>
              <a:ea typeface="Arial"/>
              <a:cs typeface="Arial"/>
              <a:sym typeface="Arial"/>
            </a:endParaRPr>
          </a:p>
        </p:txBody>
      </p:sp>
      <p:sp>
        <p:nvSpPr>
          <p:cNvPr id="390" name="Google Shape;390;g3d432c3de39_0_248"/>
          <p:cNvSpPr/>
          <p:nvPr/>
        </p:nvSpPr>
        <p:spPr>
          <a:xfrm>
            <a:off x="6218709" y="1571925"/>
            <a:ext cx="2055600" cy="324000"/>
          </a:xfrm>
          <a:prstGeom prst="roundRect">
            <a:avLst>
              <a:gd fmla="val 5000" name="adj"/>
            </a:avLst>
          </a:prstGeom>
          <a:solidFill>
            <a:srgbClr val="0000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Résultat</a:t>
            </a:r>
            <a:endParaRPr b="0" i="0" sz="1400" u="none" cap="none" strike="noStrike">
              <a:solidFill>
                <a:srgbClr val="000000"/>
              </a:solidFill>
              <a:latin typeface="Arial"/>
              <a:ea typeface="Arial"/>
              <a:cs typeface="Arial"/>
              <a:sym typeface="Arial"/>
            </a:endParaRPr>
          </a:p>
        </p:txBody>
      </p:sp>
      <p:sp>
        <p:nvSpPr>
          <p:cNvPr id="391" name="Google Shape;391;g3d432c3de39_0_248"/>
          <p:cNvSpPr/>
          <p:nvPr/>
        </p:nvSpPr>
        <p:spPr>
          <a:xfrm>
            <a:off x="360000" y="1967925"/>
            <a:ext cx="27639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Transactions ACID</a:t>
            </a:r>
            <a:endParaRPr b="1" sz="900">
              <a:latin typeface="Rubik"/>
              <a:ea typeface="Rubik"/>
              <a:cs typeface="Rubik"/>
              <a:sym typeface="Rubik"/>
            </a:endParaRPr>
          </a:p>
        </p:txBody>
      </p:sp>
      <p:sp>
        <p:nvSpPr>
          <p:cNvPr id="392" name="Google Shape;392;g3d432c3de39_0_248"/>
          <p:cNvSpPr/>
          <p:nvPr/>
        </p:nvSpPr>
        <p:spPr>
          <a:xfrm>
            <a:off x="3249656" y="1967925"/>
            <a:ext cx="2866200" cy="324000"/>
          </a:xfrm>
          <a:prstGeom prst="roundRect">
            <a:avLst>
              <a:gd fmla="val 5000" name="adj"/>
            </a:avLst>
          </a:prstGeom>
          <a:solidFill>
            <a:srgbClr val="A329DE"/>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PostgreSQL Cluster + Patroni</a:t>
            </a:r>
            <a:endParaRPr b="1" sz="1000">
              <a:solidFill>
                <a:srgbClr val="FFFFFF"/>
              </a:solidFill>
              <a:latin typeface="Rubik"/>
              <a:ea typeface="Rubik"/>
              <a:cs typeface="Rubik"/>
              <a:sym typeface="Rubik"/>
            </a:endParaRPr>
          </a:p>
        </p:txBody>
      </p:sp>
      <p:sp>
        <p:nvSpPr>
          <p:cNvPr id="393" name="Google Shape;393;g3d432c3de39_0_248"/>
          <p:cNvSpPr/>
          <p:nvPr/>
        </p:nvSpPr>
        <p:spPr>
          <a:xfrm>
            <a:off x="6218709" y="1967925"/>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1" lang="en-US" sz="900">
                <a:latin typeface="Rubik"/>
                <a:ea typeface="Rubik"/>
                <a:cs typeface="Rubik"/>
                <a:sym typeface="Rubik"/>
              </a:rPr>
              <a:t>RPO &lt; 1 min</a:t>
            </a:r>
            <a:endParaRPr b="1" sz="900">
              <a:latin typeface="Rubik"/>
              <a:ea typeface="Rubik"/>
              <a:cs typeface="Rubik"/>
              <a:sym typeface="Rubik"/>
            </a:endParaRPr>
          </a:p>
        </p:txBody>
      </p:sp>
      <p:sp>
        <p:nvSpPr>
          <p:cNvPr id="394" name="Google Shape;394;g3d432c3de39_0_248"/>
          <p:cNvSpPr/>
          <p:nvPr/>
        </p:nvSpPr>
        <p:spPr>
          <a:xfrm>
            <a:off x="360000" y="2345925"/>
            <a:ext cx="27639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Fraude temps réel</a:t>
            </a:r>
            <a:endParaRPr b="1" sz="900">
              <a:latin typeface="Rubik"/>
              <a:ea typeface="Rubik"/>
              <a:cs typeface="Rubik"/>
              <a:sym typeface="Rubik"/>
            </a:endParaRPr>
          </a:p>
        </p:txBody>
      </p:sp>
      <p:sp>
        <p:nvSpPr>
          <p:cNvPr id="395" name="Google Shape;395;g3d432c3de39_0_248"/>
          <p:cNvSpPr/>
          <p:nvPr/>
        </p:nvSpPr>
        <p:spPr>
          <a:xfrm>
            <a:off x="3249656" y="2345925"/>
            <a:ext cx="2866200" cy="324000"/>
          </a:xfrm>
          <a:prstGeom prst="roundRect">
            <a:avLst>
              <a:gd fmla="val 5000" name="adj"/>
            </a:avLst>
          </a:prstGeom>
          <a:solidFill>
            <a:srgbClr val="A329DE"/>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Feature Store + XGBoost + Kafka</a:t>
            </a:r>
            <a:endParaRPr b="1" sz="1000">
              <a:solidFill>
                <a:srgbClr val="FFFFFF"/>
              </a:solidFill>
              <a:latin typeface="Rubik"/>
              <a:ea typeface="Rubik"/>
              <a:cs typeface="Rubik"/>
              <a:sym typeface="Rubik"/>
            </a:endParaRPr>
          </a:p>
        </p:txBody>
      </p:sp>
      <p:sp>
        <p:nvSpPr>
          <p:cNvPr id="396" name="Google Shape;396;g3d432c3de39_0_248"/>
          <p:cNvSpPr/>
          <p:nvPr/>
        </p:nvSpPr>
        <p:spPr>
          <a:xfrm>
            <a:off x="6218709" y="2345925"/>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1" lang="en-US" sz="900">
                <a:latin typeface="Rubik"/>
                <a:ea typeface="Rubik"/>
                <a:cs typeface="Rubik"/>
                <a:sym typeface="Rubik"/>
              </a:rPr>
              <a:t>Score &lt; 100ms</a:t>
            </a:r>
            <a:endParaRPr b="1" sz="900">
              <a:latin typeface="Rubik"/>
              <a:ea typeface="Rubik"/>
              <a:cs typeface="Rubik"/>
              <a:sym typeface="Rubik"/>
            </a:endParaRPr>
          </a:p>
        </p:txBody>
      </p:sp>
      <p:sp>
        <p:nvSpPr>
          <p:cNvPr id="397" name="Google Shape;397;g3d432c3de39_0_248"/>
          <p:cNvSpPr/>
          <p:nvPr/>
        </p:nvSpPr>
        <p:spPr>
          <a:xfrm>
            <a:off x="360000" y="2723925"/>
            <a:ext cx="27639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Analytics complexes</a:t>
            </a:r>
            <a:endParaRPr b="1" sz="900">
              <a:latin typeface="Rubik"/>
              <a:ea typeface="Rubik"/>
              <a:cs typeface="Rubik"/>
              <a:sym typeface="Rubik"/>
            </a:endParaRPr>
          </a:p>
        </p:txBody>
      </p:sp>
      <p:sp>
        <p:nvSpPr>
          <p:cNvPr id="398" name="Google Shape;398;g3d432c3de39_0_248"/>
          <p:cNvSpPr/>
          <p:nvPr/>
        </p:nvSpPr>
        <p:spPr>
          <a:xfrm>
            <a:off x="3249656" y="2723925"/>
            <a:ext cx="2866200" cy="324000"/>
          </a:xfrm>
          <a:prstGeom prst="roundRect">
            <a:avLst>
              <a:gd fmla="val 5000" name="adj"/>
            </a:avLst>
          </a:prstGeom>
          <a:solidFill>
            <a:srgbClr val="26DBE0"/>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Snowflake + dbt + Data Marts</a:t>
            </a:r>
            <a:endParaRPr b="0" i="0" sz="1400" u="none" cap="none" strike="noStrike">
              <a:solidFill>
                <a:srgbClr val="000000"/>
              </a:solidFill>
              <a:latin typeface="Arial"/>
              <a:ea typeface="Arial"/>
              <a:cs typeface="Arial"/>
              <a:sym typeface="Arial"/>
            </a:endParaRPr>
          </a:p>
        </p:txBody>
      </p:sp>
      <p:sp>
        <p:nvSpPr>
          <p:cNvPr id="399" name="Google Shape;399;g3d432c3de39_0_248"/>
          <p:cNvSpPr/>
          <p:nvPr/>
        </p:nvSpPr>
        <p:spPr>
          <a:xfrm>
            <a:off x="6218709" y="2723925"/>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1" lang="en-US" sz="900">
                <a:latin typeface="Rubik"/>
                <a:ea typeface="Rubik"/>
                <a:cs typeface="Rubik"/>
                <a:sym typeface="Rubik"/>
              </a:rPr>
              <a:t>Requêtes &lt; 5 min</a:t>
            </a:r>
            <a:endParaRPr b="1" sz="900">
              <a:latin typeface="Rubik"/>
              <a:ea typeface="Rubik"/>
              <a:cs typeface="Rubik"/>
              <a:sym typeface="Rubik"/>
            </a:endParaRPr>
          </a:p>
        </p:txBody>
      </p:sp>
      <p:sp>
        <p:nvSpPr>
          <p:cNvPr id="400" name="Google Shape;400;g3d432c3de39_0_248"/>
          <p:cNvSpPr/>
          <p:nvPr/>
        </p:nvSpPr>
        <p:spPr>
          <a:xfrm>
            <a:off x="360000" y="3101925"/>
            <a:ext cx="27639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900">
                <a:latin typeface="Rubik"/>
                <a:ea typeface="Rubik"/>
                <a:cs typeface="Rubik"/>
                <a:sym typeface="Rubik"/>
              </a:rPr>
              <a:t>Données non structurées</a:t>
            </a:r>
            <a:endParaRPr b="1" sz="900">
              <a:latin typeface="Rubik"/>
              <a:ea typeface="Rubik"/>
              <a:cs typeface="Rubik"/>
              <a:sym typeface="Rubik"/>
            </a:endParaRPr>
          </a:p>
        </p:txBody>
      </p:sp>
      <p:sp>
        <p:nvSpPr>
          <p:cNvPr id="401" name="Google Shape;401;g3d432c3de39_0_248"/>
          <p:cNvSpPr/>
          <p:nvPr/>
        </p:nvSpPr>
        <p:spPr>
          <a:xfrm>
            <a:off x="3249656" y="3101925"/>
            <a:ext cx="2866200" cy="324000"/>
          </a:xfrm>
          <a:prstGeom prst="roundRect">
            <a:avLst>
              <a:gd fmla="val 5000" name="adj"/>
            </a:avLst>
          </a:prstGeom>
          <a:solidFill>
            <a:srgbClr val="26DBE0"/>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MongoDB Feature Store (Online/Offline)</a:t>
            </a:r>
            <a:endParaRPr b="1" sz="1000">
              <a:solidFill>
                <a:srgbClr val="FFFFFF"/>
              </a:solidFill>
              <a:latin typeface="Rubik"/>
              <a:ea typeface="Rubik"/>
              <a:cs typeface="Rubik"/>
              <a:sym typeface="Rubik"/>
            </a:endParaRPr>
          </a:p>
        </p:txBody>
      </p:sp>
      <p:sp>
        <p:nvSpPr>
          <p:cNvPr id="402" name="Google Shape;402;g3d432c3de39_0_248"/>
          <p:cNvSpPr/>
          <p:nvPr/>
        </p:nvSpPr>
        <p:spPr>
          <a:xfrm>
            <a:off x="6218709" y="3101925"/>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1" lang="en-US" sz="900">
                <a:latin typeface="Rubik"/>
                <a:ea typeface="Rubik"/>
                <a:cs typeface="Rubik"/>
                <a:sym typeface="Rubik"/>
              </a:rPr>
              <a:t>Train/inférence cohérents</a:t>
            </a:r>
            <a:endParaRPr b="1" sz="900">
              <a:latin typeface="Rubik"/>
              <a:ea typeface="Rubik"/>
              <a:cs typeface="Rubik"/>
              <a:sym typeface="Rubik"/>
            </a:endParaRPr>
          </a:p>
        </p:txBody>
      </p:sp>
      <p:sp>
        <p:nvSpPr>
          <p:cNvPr id="403" name="Google Shape;403;g3d432c3de39_0_248"/>
          <p:cNvSpPr/>
          <p:nvPr/>
        </p:nvSpPr>
        <p:spPr>
          <a:xfrm>
            <a:off x="360000" y="3479925"/>
            <a:ext cx="27639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900">
                <a:latin typeface="Rubik"/>
                <a:ea typeface="Rubik"/>
                <a:cs typeface="Rubik"/>
                <a:sym typeface="Rubik"/>
              </a:rPr>
              <a:t>Conformité PCI-DSS</a:t>
            </a:r>
            <a:endParaRPr b="1" sz="900">
              <a:latin typeface="Rubik"/>
              <a:ea typeface="Rubik"/>
              <a:cs typeface="Rubik"/>
              <a:sym typeface="Rubik"/>
            </a:endParaRPr>
          </a:p>
        </p:txBody>
      </p:sp>
      <p:sp>
        <p:nvSpPr>
          <p:cNvPr id="404" name="Google Shape;404;g3d432c3de39_0_248"/>
          <p:cNvSpPr/>
          <p:nvPr/>
        </p:nvSpPr>
        <p:spPr>
          <a:xfrm>
            <a:off x="3249656" y="3479925"/>
            <a:ext cx="2866200" cy="324000"/>
          </a:xfrm>
          <a:prstGeom prst="roundRect">
            <a:avLst>
              <a:gd fmla="val 5000" name="adj"/>
            </a:avLst>
          </a:prstGeom>
          <a:solidFill>
            <a:schemeClr val="accent6"/>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15000"/>
              </a:lnSpc>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Tokenisation + CDE isolé</a:t>
            </a:r>
            <a:endParaRPr b="1" sz="1000">
              <a:solidFill>
                <a:srgbClr val="FFFFFF"/>
              </a:solidFill>
              <a:latin typeface="Rubik"/>
              <a:ea typeface="Rubik"/>
              <a:cs typeface="Rubik"/>
              <a:sym typeface="Rubik"/>
            </a:endParaRPr>
          </a:p>
        </p:txBody>
      </p:sp>
      <p:sp>
        <p:nvSpPr>
          <p:cNvPr id="405" name="Google Shape;405;g3d432c3de39_0_248"/>
          <p:cNvSpPr/>
          <p:nvPr/>
        </p:nvSpPr>
        <p:spPr>
          <a:xfrm>
            <a:off x="6218709" y="3479925"/>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1" lang="en-US" sz="900">
                <a:latin typeface="Rubik"/>
                <a:ea typeface="Rubik"/>
                <a:cs typeface="Rubik"/>
                <a:sym typeface="Rubik"/>
              </a:rPr>
              <a:t>Audit-ready</a:t>
            </a:r>
            <a:endParaRPr b="1" sz="900">
              <a:latin typeface="Rubik"/>
              <a:ea typeface="Rubik"/>
              <a:cs typeface="Rubik"/>
              <a:sym typeface="Rubik"/>
            </a:endParaRPr>
          </a:p>
        </p:txBody>
      </p:sp>
      <p:sp>
        <p:nvSpPr>
          <p:cNvPr id="406" name="Google Shape;406;g3d432c3de39_0_248"/>
          <p:cNvSpPr/>
          <p:nvPr/>
        </p:nvSpPr>
        <p:spPr>
          <a:xfrm>
            <a:off x="1954050" y="4372625"/>
            <a:ext cx="5378700" cy="367200"/>
          </a:xfrm>
          <a:prstGeom prst="rect">
            <a:avLst/>
          </a:prstGeom>
          <a:solidFill>
            <a:schemeClr val="lt1"/>
          </a:solidFill>
          <a:ln>
            <a:noFill/>
          </a:ln>
          <a:effectLst>
            <a:outerShdw blurRad="27201" rotWithShape="0" dir="5400000" dist="15640">
              <a:srgbClr val="000000">
                <a:alpha val="34900"/>
              </a:srgbClr>
            </a:outerShdw>
          </a:effectLst>
        </p:spPr>
        <p:txBody>
          <a:bodyPr anchorCtr="0" anchor="ctr" bIns="31075" lIns="62175" spcFirstLastPara="1" rIns="62175" wrap="square" tIns="31075">
            <a:noAutofit/>
          </a:bodyPr>
          <a:lstStyle/>
          <a:p>
            <a:pPr indent="0" lvl="0" marL="0" marR="0" rtl="0" algn="ctr">
              <a:lnSpc>
                <a:spcPct val="100000"/>
              </a:lnSpc>
              <a:spcBef>
                <a:spcPts val="0"/>
              </a:spcBef>
              <a:spcAft>
                <a:spcPts val="0"/>
              </a:spcAft>
              <a:buClr>
                <a:srgbClr val="000000"/>
              </a:buClr>
              <a:buSzPts val="1224"/>
              <a:buFont typeface="Arial"/>
              <a:buNone/>
            </a:pPr>
            <a:r>
              <a:t/>
            </a:r>
            <a:endParaRPr b="0" i="0" sz="1224" u="none" cap="none" strike="noStrike">
              <a:solidFill>
                <a:schemeClr val="dk1"/>
              </a:solidFill>
              <a:latin typeface="Calibri"/>
              <a:ea typeface="Calibri"/>
              <a:cs typeface="Calibri"/>
              <a:sym typeface="Calibri"/>
            </a:endParaRPr>
          </a:p>
        </p:txBody>
      </p:sp>
      <p:sp>
        <p:nvSpPr>
          <p:cNvPr id="407" name="Google Shape;407;g3d432c3de39_0_248"/>
          <p:cNvSpPr/>
          <p:nvPr/>
        </p:nvSpPr>
        <p:spPr>
          <a:xfrm>
            <a:off x="2032758" y="4315300"/>
            <a:ext cx="5378700" cy="367200"/>
          </a:xfrm>
          <a:prstGeom prst="rect">
            <a:avLst/>
          </a:prstGeom>
          <a:solidFill>
            <a:schemeClr val="accent6"/>
          </a:solidFill>
          <a:ln>
            <a:noFill/>
          </a:ln>
          <a:effectLst>
            <a:outerShdw blurRad="27201" rotWithShape="0" dir="5400000" dist="15640">
              <a:srgbClr val="000000">
                <a:alpha val="34900"/>
              </a:srgbClr>
            </a:outerShdw>
          </a:effectLst>
        </p:spPr>
        <p:txBody>
          <a:bodyPr anchorCtr="0" anchor="ctr" bIns="31075" lIns="62175" spcFirstLastPara="1" rIns="62175" wrap="square" tIns="31075">
            <a:noAutofit/>
          </a:bodyPr>
          <a:lstStyle/>
          <a:p>
            <a:pPr indent="0" lvl="0" marL="0" rtl="0" algn="ctr">
              <a:lnSpc>
                <a:spcPct val="115000"/>
              </a:lnSpc>
              <a:spcBef>
                <a:spcPts val="0"/>
              </a:spcBef>
              <a:spcAft>
                <a:spcPts val="0"/>
              </a:spcAft>
              <a:buClr>
                <a:schemeClr val="dk1"/>
              </a:buClr>
              <a:buSzPts val="1100"/>
              <a:buFont typeface="Arial"/>
              <a:buNone/>
            </a:pPr>
            <a:r>
              <a:rPr b="1" lang="en-US" sz="1100">
                <a:solidFill>
                  <a:schemeClr val="lt1"/>
                </a:solidFill>
                <a:latin typeface="Rubik"/>
                <a:ea typeface="Rubik"/>
                <a:cs typeface="Rubik"/>
                <a:sym typeface="Rubik"/>
              </a:rPr>
              <a:t>Sécurité structurelle et séparation des responsabilités des systèmes</a:t>
            </a:r>
            <a:endParaRPr b="1" sz="1224">
              <a:solidFill>
                <a:schemeClr val="lt1"/>
              </a:solidFill>
              <a:latin typeface="Rubik"/>
              <a:ea typeface="Rubik"/>
              <a:cs typeface="Rubik"/>
              <a:sym typeface="Rubik"/>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11" name="Shape 411"/>
        <p:cNvGrpSpPr/>
        <p:nvPr/>
      </p:nvGrpSpPr>
      <p:grpSpPr>
        <a:xfrm>
          <a:off x="0" y="0"/>
          <a:ext cx="0" cy="0"/>
          <a:chOff x="0" y="0"/>
          <a:chExt cx="0" cy="0"/>
        </a:xfrm>
      </p:grpSpPr>
      <p:sp>
        <p:nvSpPr>
          <p:cNvPr id="412" name="Google Shape;412;g3d46f7dc534_4_15"/>
          <p:cNvSpPr/>
          <p:nvPr/>
        </p:nvSpPr>
        <p:spPr>
          <a:xfrm>
            <a:off x="1980000" y="1289400"/>
            <a:ext cx="5040000" cy="828000"/>
          </a:xfrm>
          <a:prstGeom prst="rect">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3" name="Google Shape;413;g3d46f7dc534_4_15"/>
          <p:cNvSpPr/>
          <p:nvPr/>
        </p:nvSpPr>
        <p:spPr>
          <a:xfrm>
            <a:off x="2124000" y="1145400"/>
            <a:ext cx="5040000" cy="828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Rubik"/>
                <a:ea typeface="Rubik"/>
                <a:cs typeface="Rubik"/>
                <a:sym typeface="Rubik"/>
              </a:rPr>
              <a:t>DES QUESTIONS ?</a:t>
            </a:r>
            <a:endParaRPr b="0" i="0" sz="1400" u="none" cap="none" strike="noStrike">
              <a:solidFill>
                <a:schemeClr val="dk1"/>
              </a:solidFill>
              <a:latin typeface="Arial"/>
              <a:ea typeface="Arial"/>
              <a:cs typeface="Arial"/>
              <a:sym typeface="Arial"/>
            </a:endParaRPr>
          </a:p>
        </p:txBody>
      </p:sp>
      <p:pic>
        <p:nvPicPr>
          <p:cNvPr id="414" name="Google Shape;414;g3d46f7dc534_4_15"/>
          <p:cNvPicPr preferRelativeResize="0"/>
          <p:nvPr/>
        </p:nvPicPr>
        <p:blipFill rotWithShape="1">
          <a:blip r:embed="rId3">
            <a:alphaModFix/>
          </a:blip>
          <a:srcRect b="0" l="0" r="0" t="0"/>
          <a:stretch/>
        </p:blipFill>
        <p:spPr>
          <a:xfrm>
            <a:off x="3827588" y="2452280"/>
            <a:ext cx="1632824" cy="154671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418" name="Shape 418"/>
        <p:cNvGrpSpPr/>
        <p:nvPr/>
      </p:nvGrpSpPr>
      <p:grpSpPr>
        <a:xfrm>
          <a:off x="0" y="0"/>
          <a:ext cx="0" cy="0"/>
          <a:chOff x="0" y="0"/>
          <a:chExt cx="0" cy="0"/>
        </a:xfrm>
      </p:grpSpPr>
      <p:sp>
        <p:nvSpPr>
          <p:cNvPr id="419" name="Google Shape;419;g3d46f7dc534_4_21"/>
          <p:cNvSpPr/>
          <p:nvPr/>
        </p:nvSpPr>
        <p:spPr>
          <a:xfrm>
            <a:off x="756000" y="1908000"/>
            <a:ext cx="7488000" cy="1800000"/>
          </a:xfrm>
          <a:prstGeom prst="rect">
            <a:avLst/>
          </a:prstGeom>
          <a:solidFill>
            <a:srgbClr val="282A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0" name="Google Shape;420;g3d46f7dc534_4_21"/>
          <p:cNvSpPr/>
          <p:nvPr/>
        </p:nvSpPr>
        <p:spPr>
          <a:xfrm>
            <a:off x="827999" y="1728000"/>
            <a:ext cx="7488000" cy="1872000"/>
          </a:xfrm>
          <a:prstGeom prst="rect">
            <a:avLst/>
          </a:prstGeom>
          <a:solidFill>
            <a:schemeClr val="lt1"/>
          </a:solidFill>
          <a:ln cap="flat" cmpd="sng" w="9525">
            <a:solidFill>
              <a:schemeClr val="accent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sz="3600">
                <a:solidFill>
                  <a:schemeClr val="dk1"/>
                </a:solidFill>
              </a:rPr>
              <a:t>Pipeline de Détection de Fraude</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800"/>
              </a:spcBef>
              <a:spcAft>
                <a:spcPts val="0"/>
              </a:spcAft>
              <a:buClr>
                <a:srgbClr val="000000"/>
              </a:buClr>
              <a:buSzPts val="2400"/>
              <a:buFont typeface="Arial"/>
              <a:buNone/>
            </a:pPr>
            <a:r>
              <a:rPr b="1" lang="en-US" sz="2400">
                <a:solidFill>
                  <a:srgbClr val="A329DE"/>
                </a:solidFill>
                <a:latin typeface="Rubik"/>
                <a:ea typeface="Rubik"/>
                <a:cs typeface="Rubik"/>
                <a:sym typeface="Rubik"/>
              </a:rPr>
              <a:t>De la Donnée Brute à l'Alerte en Temps Réel</a:t>
            </a:r>
            <a:endParaRPr b="1" i="0" sz="1400" u="none" cap="none" strike="noStrike">
              <a:solidFill>
                <a:srgbClr val="A329DE"/>
              </a:solidFill>
              <a:latin typeface="Arial"/>
              <a:ea typeface="Arial"/>
              <a:cs typeface="Arial"/>
              <a:sym typeface="Arial"/>
            </a:endParaRPr>
          </a:p>
          <a:p>
            <a:pPr indent="0" lvl="0" marL="0" marR="0" rtl="0" algn="ctr">
              <a:lnSpc>
                <a:spcPct val="100000"/>
              </a:lnSpc>
              <a:spcBef>
                <a:spcPts val="2000"/>
              </a:spcBef>
              <a:spcAft>
                <a:spcPts val="0"/>
              </a:spcAft>
              <a:buClr>
                <a:srgbClr val="000000"/>
              </a:buClr>
              <a:buSzPts val="1200"/>
              <a:buFont typeface="Arial"/>
              <a:buNone/>
            </a:pPr>
            <a:r>
              <a:rPr b="0" i="0" lang="en-US" sz="1200" u="none" cap="none" strike="noStrike">
                <a:solidFill>
                  <a:schemeClr val="dk1"/>
                </a:solidFill>
                <a:latin typeface="Rubik"/>
                <a:ea typeface="Rubik"/>
                <a:cs typeface="Rubik"/>
                <a:sym typeface="Rubik"/>
              </a:rPr>
              <a:t>Certification AIA — </a:t>
            </a:r>
            <a:r>
              <a:rPr lang="en-US" sz="1200">
                <a:solidFill>
                  <a:schemeClr val="dk1"/>
                </a:solidFill>
              </a:rPr>
              <a:t>Bloc 3 : Concevoir et mettre en oeuvre des pipelines de données</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200"/>
              <a:buFont typeface="Arial"/>
              <a:buNone/>
            </a:pPr>
            <a:r>
              <a:rPr b="0" i="0" lang="en-US" sz="1200" u="none" cap="none" strike="noStrike">
                <a:solidFill>
                  <a:schemeClr val="dk1"/>
                </a:solidFill>
                <a:latin typeface="Rubik"/>
                <a:ea typeface="Rubik"/>
                <a:cs typeface="Rubik"/>
                <a:sym typeface="Rubik"/>
              </a:rPr>
              <a:t>Mathis GENTHON  |  7 Avril 2026</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424" name="Shape 424"/>
        <p:cNvGrpSpPr/>
        <p:nvPr/>
      </p:nvGrpSpPr>
      <p:grpSpPr>
        <a:xfrm>
          <a:off x="0" y="0"/>
          <a:ext cx="0" cy="0"/>
          <a:chOff x="0" y="0"/>
          <a:chExt cx="0" cy="0"/>
        </a:xfrm>
      </p:grpSpPr>
      <p:sp>
        <p:nvSpPr>
          <p:cNvPr id="425" name="Google Shape;425;g3d46f7dc534_5_20"/>
          <p:cNvSpPr/>
          <p:nvPr/>
        </p:nvSpPr>
        <p:spPr>
          <a:xfrm>
            <a:off x="936000" y="396000"/>
            <a:ext cx="5544000" cy="540000"/>
          </a:xfrm>
          <a:prstGeom prst="rect">
            <a:avLst/>
          </a:prstGeom>
          <a:solidFill>
            <a:srgbClr val="282A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6" name="Google Shape;426;g3d46f7dc534_5_20"/>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US" sz="1800">
                <a:latin typeface="Rubik"/>
                <a:ea typeface="Rubik"/>
                <a:cs typeface="Rubik"/>
                <a:sym typeface="Rubik"/>
              </a:rPr>
              <a:t>LE BESOIN MÉTIER : EXIGENCES BUSINESS</a:t>
            </a:r>
            <a:endParaRPr b="0" i="0" sz="1400" u="none" cap="none" strike="noStrike">
              <a:solidFill>
                <a:srgbClr val="000000"/>
              </a:solidFill>
              <a:latin typeface="Arial"/>
              <a:ea typeface="Arial"/>
              <a:cs typeface="Arial"/>
              <a:sym typeface="Arial"/>
            </a:endParaRPr>
          </a:p>
        </p:txBody>
      </p:sp>
      <p:sp>
        <p:nvSpPr>
          <p:cNvPr id="427" name="Google Shape;427;g3d46f7dc534_5_20"/>
          <p:cNvSpPr/>
          <p:nvPr/>
        </p:nvSpPr>
        <p:spPr>
          <a:xfrm>
            <a:off x="1317300" y="2433225"/>
            <a:ext cx="2340000" cy="612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g3d46f7dc534_5_20"/>
          <p:cNvSpPr/>
          <p:nvPr/>
        </p:nvSpPr>
        <p:spPr>
          <a:xfrm>
            <a:off x="1389300" y="2505225"/>
            <a:ext cx="2340000" cy="612000"/>
          </a:xfrm>
          <a:prstGeom prst="roundRect">
            <a:avLst>
              <a:gd fmla="val 5000" name="adj"/>
            </a:avLst>
          </a:prstGeom>
          <a:solidFill>
            <a:srgbClr val="26DB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lang="en-US">
                <a:solidFill>
                  <a:srgbClr val="FFFFFF"/>
                </a:solidFill>
                <a:latin typeface="Rubik"/>
                <a:ea typeface="Rubik"/>
                <a:cs typeface="Rubik"/>
                <a:sym typeface="Rubik"/>
              </a:rPr>
              <a:t>ALERTES TEMPS RÉEL</a:t>
            </a:r>
            <a:endParaRPr b="0" i="0" sz="1400" u="none" cap="none" strike="noStrike">
              <a:solidFill>
                <a:srgbClr val="000000"/>
              </a:solidFill>
              <a:latin typeface="Arial"/>
              <a:ea typeface="Arial"/>
              <a:cs typeface="Arial"/>
              <a:sym typeface="Arial"/>
            </a:endParaRPr>
          </a:p>
        </p:txBody>
      </p:sp>
      <p:sp>
        <p:nvSpPr>
          <p:cNvPr id="429" name="Google Shape;429;g3d46f7dc534_5_20"/>
          <p:cNvSpPr/>
          <p:nvPr/>
        </p:nvSpPr>
        <p:spPr>
          <a:xfrm>
            <a:off x="5414700" y="2457700"/>
            <a:ext cx="2340000" cy="612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g3d46f7dc534_5_20"/>
          <p:cNvSpPr/>
          <p:nvPr/>
        </p:nvSpPr>
        <p:spPr>
          <a:xfrm>
            <a:off x="5486700" y="2529700"/>
            <a:ext cx="2340000" cy="612000"/>
          </a:xfrm>
          <a:prstGeom prst="roundRect">
            <a:avLst>
              <a:gd fmla="val 5000" name="adj"/>
            </a:avLst>
          </a:prstGeom>
          <a:solidFill>
            <a:srgbClr val="A329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lang="en-US">
                <a:solidFill>
                  <a:srgbClr val="FFFFFF"/>
                </a:solidFill>
                <a:latin typeface="Rubik"/>
                <a:ea typeface="Rubik"/>
                <a:cs typeface="Rubik"/>
                <a:sym typeface="Rubik"/>
              </a:rPr>
              <a:t>RAPPORT QUOTIDIEN</a:t>
            </a:r>
            <a:endParaRPr b="0" i="0" sz="1400" u="none" cap="none" strike="noStrike">
              <a:solidFill>
                <a:srgbClr val="000000"/>
              </a:solidFill>
              <a:latin typeface="Arial"/>
              <a:ea typeface="Arial"/>
              <a:cs typeface="Arial"/>
              <a:sym typeface="Arial"/>
            </a:endParaRPr>
          </a:p>
        </p:txBody>
      </p:sp>
      <p:sp>
        <p:nvSpPr>
          <p:cNvPr id="431" name="Google Shape;431;g3d46f7dc534_5_20"/>
          <p:cNvSpPr/>
          <p:nvPr/>
        </p:nvSpPr>
        <p:spPr>
          <a:xfrm>
            <a:off x="2322572" y="4202900"/>
            <a:ext cx="20403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marR="0" rtl="0" algn="ctr">
              <a:lnSpc>
                <a:spcPct val="100000"/>
              </a:lnSpc>
              <a:spcBef>
                <a:spcPts val="0"/>
              </a:spcBef>
              <a:spcAft>
                <a:spcPts val="0"/>
              </a:spcAft>
              <a:buClr>
                <a:srgbClr val="000000"/>
              </a:buClr>
              <a:buSzPts val="1204"/>
              <a:buFont typeface="Arial"/>
              <a:buNone/>
            </a:pPr>
            <a:r>
              <a:rPr lang="en-US" sz="900">
                <a:solidFill>
                  <a:schemeClr val="accent6"/>
                </a:solidFill>
                <a:latin typeface="Rubik"/>
                <a:ea typeface="Rubik"/>
                <a:cs typeface="Rubik"/>
                <a:sym typeface="Rubik"/>
              </a:rPr>
              <a:t>Preprocessing identique</a:t>
            </a:r>
            <a:r>
              <a:rPr lang="en-US" sz="900">
                <a:latin typeface="Rubik"/>
                <a:ea typeface="Rubik"/>
                <a:cs typeface="Rubik"/>
                <a:sym typeface="Rubik"/>
              </a:rPr>
              <a:t> entre entraînement et  inférence</a:t>
            </a:r>
            <a:endParaRPr i="0" sz="900" u="none" cap="none" strike="noStrike">
              <a:solidFill>
                <a:srgbClr val="000000"/>
              </a:solidFill>
              <a:latin typeface="Rubik"/>
              <a:ea typeface="Rubik"/>
              <a:cs typeface="Rubik"/>
              <a:sym typeface="Rubik"/>
            </a:endParaRPr>
          </a:p>
        </p:txBody>
      </p:sp>
      <p:sp>
        <p:nvSpPr>
          <p:cNvPr id="432" name="Google Shape;432;g3d46f7dc534_5_20"/>
          <p:cNvSpPr/>
          <p:nvPr/>
        </p:nvSpPr>
        <p:spPr>
          <a:xfrm>
            <a:off x="4479770" y="4202900"/>
            <a:ext cx="20403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marR="0" rtl="0" algn="ctr">
              <a:lnSpc>
                <a:spcPct val="100000"/>
              </a:lnSpc>
              <a:spcBef>
                <a:spcPts val="0"/>
              </a:spcBef>
              <a:spcAft>
                <a:spcPts val="0"/>
              </a:spcAft>
              <a:buClr>
                <a:srgbClr val="000000"/>
              </a:buClr>
              <a:buSzPts val="1204"/>
              <a:buFont typeface="Arial"/>
              <a:buNone/>
            </a:pPr>
            <a:r>
              <a:rPr lang="en-US" sz="900">
                <a:latin typeface="Rubik"/>
                <a:ea typeface="Rubik"/>
                <a:cs typeface="Rubik"/>
                <a:sym typeface="Rubik"/>
              </a:rPr>
              <a:t>Architecture </a:t>
            </a:r>
            <a:r>
              <a:rPr lang="en-US" sz="900">
                <a:solidFill>
                  <a:schemeClr val="accent6"/>
                </a:solidFill>
                <a:latin typeface="Rubik"/>
                <a:ea typeface="Rubik"/>
                <a:cs typeface="Rubik"/>
                <a:sym typeface="Rubik"/>
              </a:rPr>
              <a:t>reproductible</a:t>
            </a:r>
            <a:r>
              <a:rPr lang="en-US" sz="900">
                <a:latin typeface="Rubik"/>
                <a:ea typeface="Rubik"/>
                <a:cs typeface="Rubik"/>
                <a:sym typeface="Rubik"/>
              </a:rPr>
              <a:t> et </a:t>
            </a:r>
            <a:r>
              <a:rPr lang="en-US" sz="900">
                <a:solidFill>
                  <a:schemeClr val="accent6"/>
                </a:solidFill>
                <a:latin typeface="Rubik"/>
                <a:ea typeface="Rubik"/>
                <a:cs typeface="Rubik"/>
                <a:sym typeface="Rubik"/>
              </a:rPr>
              <a:t>observable</a:t>
            </a:r>
            <a:endParaRPr i="0" sz="900" u="none" cap="none" strike="noStrike">
              <a:solidFill>
                <a:schemeClr val="accent6"/>
              </a:solidFill>
              <a:latin typeface="Rubik"/>
              <a:ea typeface="Rubik"/>
              <a:cs typeface="Rubik"/>
              <a:sym typeface="Rubik"/>
            </a:endParaRPr>
          </a:p>
        </p:txBody>
      </p:sp>
      <p:sp>
        <p:nvSpPr>
          <p:cNvPr id="433" name="Google Shape;433;g3d46f7dc534_5_20"/>
          <p:cNvSpPr/>
          <p:nvPr/>
        </p:nvSpPr>
        <p:spPr>
          <a:xfrm>
            <a:off x="6636967" y="4202900"/>
            <a:ext cx="20403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rtl="0" algn="ctr">
              <a:spcBef>
                <a:spcPts val="0"/>
              </a:spcBef>
              <a:spcAft>
                <a:spcPts val="0"/>
              </a:spcAft>
              <a:buClr>
                <a:schemeClr val="dk1"/>
              </a:buClr>
              <a:buSzPts val="1100"/>
              <a:buFont typeface="Arial"/>
              <a:buNone/>
            </a:pPr>
            <a:r>
              <a:rPr lang="en-US" sz="900">
                <a:solidFill>
                  <a:schemeClr val="accent6"/>
                </a:solidFill>
                <a:latin typeface="Rubik"/>
                <a:ea typeface="Rubik"/>
                <a:cs typeface="Rubik"/>
                <a:sym typeface="Rubik"/>
              </a:rPr>
              <a:t>Data Quality </a:t>
            </a:r>
            <a:r>
              <a:rPr lang="en-US" sz="900">
                <a:solidFill>
                  <a:schemeClr val="accent6"/>
                </a:solidFill>
                <a:latin typeface="Rubik"/>
                <a:ea typeface="Rubik"/>
                <a:cs typeface="Rubik"/>
                <a:sym typeface="Rubik"/>
              </a:rPr>
              <a:t>garantie</a:t>
            </a:r>
            <a:r>
              <a:rPr lang="en-US" sz="900">
                <a:latin typeface="Rubik"/>
                <a:ea typeface="Rubik"/>
                <a:cs typeface="Rubik"/>
                <a:sym typeface="Rubik"/>
              </a:rPr>
              <a:t> à chaque étape du pipeline</a:t>
            </a:r>
            <a:endParaRPr sz="900">
              <a:latin typeface="Rubik"/>
              <a:ea typeface="Rubik"/>
              <a:cs typeface="Rubik"/>
              <a:sym typeface="Rubik"/>
            </a:endParaRPr>
          </a:p>
        </p:txBody>
      </p:sp>
      <p:sp>
        <p:nvSpPr>
          <p:cNvPr id="434" name="Google Shape;434;g3d46f7dc534_5_20"/>
          <p:cNvSpPr/>
          <p:nvPr/>
        </p:nvSpPr>
        <p:spPr>
          <a:xfrm>
            <a:off x="165375" y="4202900"/>
            <a:ext cx="20403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rtl="0" algn="ctr">
              <a:spcBef>
                <a:spcPts val="300"/>
              </a:spcBef>
              <a:spcAft>
                <a:spcPts val="0"/>
              </a:spcAft>
              <a:buClr>
                <a:schemeClr val="dk1"/>
              </a:buClr>
              <a:buFont typeface="Arial"/>
              <a:buNone/>
            </a:pPr>
            <a:r>
              <a:rPr lang="en-US" sz="1000">
                <a:solidFill>
                  <a:schemeClr val="dk1"/>
                </a:solidFill>
              </a:rPr>
              <a:t>API simulée - paiements toutes les 10 secondes - </a:t>
            </a:r>
            <a:r>
              <a:rPr lang="en-US" sz="1000">
                <a:solidFill>
                  <a:schemeClr val="accent6"/>
                </a:solidFill>
              </a:rPr>
              <a:t>polling</a:t>
            </a:r>
            <a:endParaRPr i="0" sz="900" u="none" cap="none" strike="noStrike">
              <a:solidFill>
                <a:schemeClr val="accent6"/>
              </a:solidFill>
              <a:latin typeface="Rubik"/>
              <a:ea typeface="Rubik"/>
              <a:cs typeface="Rubik"/>
              <a:sym typeface="Rubik"/>
            </a:endParaRPr>
          </a:p>
        </p:txBody>
      </p:sp>
      <p:pic>
        <p:nvPicPr>
          <p:cNvPr id="435" name="Google Shape;435;g3d46f7dc534_5_20"/>
          <p:cNvPicPr preferRelativeResize="0"/>
          <p:nvPr/>
        </p:nvPicPr>
        <p:blipFill>
          <a:blip r:embed="rId3">
            <a:alphaModFix/>
          </a:blip>
          <a:stretch>
            <a:fillRect/>
          </a:stretch>
        </p:blipFill>
        <p:spPr>
          <a:xfrm>
            <a:off x="2233500" y="1441226"/>
            <a:ext cx="1251351" cy="923124"/>
          </a:xfrm>
          <a:prstGeom prst="rect">
            <a:avLst/>
          </a:prstGeom>
          <a:noFill/>
          <a:ln>
            <a:noFill/>
          </a:ln>
        </p:spPr>
      </p:pic>
      <p:pic>
        <p:nvPicPr>
          <p:cNvPr id="436" name="Google Shape;436;g3d46f7dc534_5_20"/>
          <p:cNvPicPr preferRelativeResize="0"/>
          <p:nvPr/>
        </p:nvPicPr>
        <p:blipFill>
          <a:blip r:embed="rId4">
            <a:alphaModFix/>
          </a:blip>
          <a:stretch>
            <a:fillRect/>
          </a:stretch>
        </p:blipFill>
        <p:spPr>
          <a:xfrm>
            <a:off x="6207150" y="1441235"/>
            <a:ext cx="1251350" cy="900053"/>
          </a:xfrm>
          <a:prstGeom prst="rect">
            <a:avLst/>
          </a:prstGeom>
          <a:noFill/>
          <a:ln>
            <a:noFill/>
          </a:ln>
        </p:spPr>
      </p:pic>
      <p:sp>
        <p:nvSpPr>
          <p:cNvPr id="437" name="Google Shape;437;g3d46f7dc534_5_20"/>
          <p:cNvSpPr/>
          <p:nvPr/>
        </p:nvSpPr>
        <p:spPr>
          <a:xfrm>
            <a:off x="165373" y="3835700"/>
            <a:ext cx="3015900" cy="367200"/>
          </a:xfrm>
          <a:prstGeom prst="rect">
            <a:avLst/>
          </a:prstGeom>
          <a:solidFill>
            <a:schemeClr val="accent6"/>
          </a:solidFill>
          <a:ln>
            <a:noFill/>
          </a:ln>
          <a:effectLst>
            <a:outerShdw blurRad="27201" rotWithShape="0" dir="5400000" dist="15640">
              <a:srgbClr val="000000">
                <a:alpha val="34900"/>
              </a:srgbClr>
            </a:outerShdw>
          </a:effectLst>
        </p:spPr>
        <p:txBody>
          <a:bodyPr anchorCtr="0" anchor="ctr" bIns="31075" lIns="62175" spcFirstLastPara="1" rIns="62175" wrap="square" tIns="31075">
            <a:noAutofit/>
          </a:bodyPr>
          <a:lstStyle/>
          <a:p>
            <a:pPr indent="0" lvl="0" marL="0" marR="0" rtl="0" algn="ctr">
              <a:lnSpc>
                <a:spcPct val="100000"/>
              </a:lnSpc>
              <a:spcBef>
                <a:spcPts val="0"/>
              </a:spcBef>
              <a:spcAft>
                <a:spcPts val="0"/>
              </a:spcAft>
              <a:buClr>
                <a:srgbClr val="000000"/>
              </a:buClr>
              <a:buSzPts val="1224"/>
              <a:buFont typeface="Arial"/>
              <a:buNone/>
            </a:pPr>
            <a:r>
              <a:rPr b="1" lang="en-US" sz="1224">
                <a:solidFill>
                  <a:schemeClr val="lt1"/>
                </a:solidFill>
                <a:latin typeface="Rubik"/>
                <a:ea typeface="Rubik"/>
                <a:cs typeface="Rubik"/>
                <a:sym typeface="Rubik"/>
              </a:rPr>
              <a:t>CONTRAINTES TECHNIQUES</a:t>
            </a:r>
            <a:endParaRPr b="0" i="0" sz="952" u="none" cap="none" strike="noStrike">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441" name="Shape 441"/>
        <p:cNvGrpSpPr/>
        <p:nvPr/>
      </p:nvGrpSpPr>
      <p:grpSpPr>
        <a:xfrm>
          <a:off x="0" y="0"/>
          <a:ext cx="0" cy="0"/>
          <a:chOff x="0" y="0"/>
          <a:chExt cx="0" cy="0"/>
        </a:xfrm>
      </p:grpSpPr>
      <p:sp>
        <p:nvSpPr>
          <p:cNvPr id="442" name="Google Shape;442;p47"/>
          <p:cNvSpPr/>
          <p:nvPr/>
        </p:nvSpPr>
        <p:spPr>
          <a:xfrm>
            <a:off x="547100" y="330760"/>
            <a:ext cx="4160700" cy="405300"/>
          </a:xfrm>
          <a:prstGeom prst="rect">
            <a:avLst/>
          </a:prstGeom>
          <a:solidFill>
            <a:srgbClr val="282AFF"/>
          </a:solidFill>
          <a:ln>
            <a:noFill/>
          </a:ln>
          <a:effectLst>
            <a:outerShdw blurRad="30019" rotWithShape="0" dir="5400000" dist="17261">
              <a:srgbClr val="000000">
                <a:alpha val="34900"/>
              </a:srgbClr>
            </a:outerShdw>
          </a:effectLst>
        </p:spPr>
        <p:txBody>
          <a:bodyPr anchorCtr="0" anchor="ctr" bIns="34300" lIns="68625" spcFirstLastPara="1" rIns="68625"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Calibri"/>
              <a:ea typeface="Calibri"/>
              <a:cs typeface="Calibri"/>
              <a:sym typeface="Calibri"/>
            </a:endParaRPr>
          </a:p>
        </p:txBody>
      </p:sp>
      <p:sp>
        <p:nvSpPr>
          <p:cNvPr id="443" name="Google Shape;443;p47"/>
          <p:cNvSpPr/>
          <p:nvPr/>
        </p:nvSpPr>
        <p:spPr>
          <a:xfrm>
            <a:off x="628152" y="276725"/>
            <a:ext cx="4160700" cy="405300"/>
          </a:xfrm>
          <a:prstGeom prst="rect">
            <a:avLst/>
          </a:prstGeom>
          <a:solidFill>
            <a:srgbClr val="FFFFFF"/>
          </a:solidFill>
          <a:ln>
            <a:noFill/>
          </a:ln>
          <a:effectLst>
            <a:outerShdw blurRad="30019" rotWithShape="0" dir="5400000" dist="17261">
              <a:srgbClr val="000000">
                <a:alpha val="34900"/>
              </a:srgbClr>
            </a:outerShdw>
          </a:effectLst>
        </p:spPr>
        <p:txBody>
          <a:bodyPr anchorCtr="0" anchor="ctr" bIns="34300" lIns="68625" spcFirstLastPara="1" rIns="68625" wrap="square" tIns="34300">
            <a:noAutofit/>
          </a:bodyPr>
          <a:lstStyle/>
          <a:p>
            <a:pPr indent="0" lvl="0" marL="0" rtl="0" algn="l">
              <a:spcBef>
                <a:spcPts val="0"/>
              </a:spcBef>
              <a:spcAft>
                <a:spcPts val="0"/>
              </a:spcAft>
              <a:buClr>
                <a:schemeClr val="dk1"/>
              </a:buClr>
              <a:buSzPts val="826"/>
              <a:buFont typeface="Arial"/>
              <a:buNone/>
            </a:pPr>
            <a:r>
              <a:rPr b="1" lang="en-US" sz="1351">
                <a:latin typeface="Rubik"/>
                <a:ea typeface="Rubik"/>
                <a:cs typeface="Rubik"/>
                <a:sym typeface="Rubik"/>
              </a:rPr>
              <a:t>ARCHITECTURE DES PIPELINES</a:t>
            </a:r>
            <a:endParaRPr b="1" sz="1351">
              <a:latin typeface="Rubik"/>
              <a:ea typeface="Rubik"/>
              <a:cs typeface="Rubik"/>
              <a:sym typeface="Rubik"/>
            </a:endParaRPr>
          </a:p>
        </p:txBody>
      </p:sp>
      <p:pic>
        <p:nvPicPr>
          <p:cNvPr id="444" name="Google Shape;444;p47"/>
          <p:cNvPicPr preferRelativeResize="0"/>
          <p:nvPr/>
        </p:nvPicPr>
        <p:blipFill>
          <a:blip r:embed="rId3">
            <a:alphaModFix/>
          </a:blip>
          <a:stretch>
            <a:fillRect/>
          </a:stretch>
        </p:blipFill>
        <p:spPr>
          <a:xfrm>
            <a:off x="1907900" y="35750"/>
            <a:ext cx="6315720" cy="50729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448" name="Shape 448"/>
        <p:cNvGrpSpPr/>
        <p:nvPr/>
      </p:nvGrpSpPr>
      <p:grpSpPr>
        <a:xfrm>
          <a:off x="0" y="0"/>
          <a:ext cx="0" cy="0"/>
          <a:chOff x="0" y="0"/>
          <a:chExt cx="0" cy="0"/>
        </a:xfrm>
      </p:grpSpPr>
      <p:sp>
        <p:nvSpPr>
          <p:cNvPr id="449" name="Google Shape;449;g3d46f7dc534_5_6"/>
          <p:cNvSpPr/>
          <p:nvPr/>
        </p:nvSpPr>
        <p:spPr>
          <a:xfrm>
            <a:off x="936000" y="396000"/>
            <a:ext cx="5544000" cy="540000"/>
          </a:xfrm>
          <a:prstGeom prst="rect">
            <a:avLst/>
          </a:prstGeom>
          <a:solidFill>
            <a:srgbClr val="282A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0" name="Google Shape;450;g3d46f7dc534_5_6"/>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800">
                <a:latin typeface="Rubik"/>
                <a:ea typeface="Rubik"/>
                <a:cs typeface="Rubik"/>
                <a:sym typeface="Rubik"/>
              </a:rPr>
              <a:t>DÉMONSTRATION - PROOF OF CONCEPT</a:t>
            </a:r>
            <a:endParaRPr b="1" sz="1800">
              <a:latin typeface="Rubik"/>
              <a:ea typeface="Rubik"/>
              <a:cs typeface="Rubik"/>
              <a:sym typeface="Rubik"/>
            </a:endParaRPr>
          </a:p>
        </p:txBody>
      </p:sp>
      <p:pic>
        <p:nvPicPr>
          <p:cNvPr descr="Cette vidéo est une démonstration de l'implémentation du projet Fraud Detection par Mathis Genthon dans le cadre de l'examen pour la certification RNCP38777 - Architecte en Intelligence Artificielle (niveau 7, équivalent BAC+5)" id="451" name="Google Shape;451;g3d46f7dc534_5_6" title="Démo Fraud Detection - Mathis GENTHON">
            <a:hlinkClick r:id="rId3"/>
          </p:cNvPr>
          <p:cNvPicPr preferRelativeResize="0"/>
          <p:nvPr/>
        </p:nvPicPr>
        <p:blipFill>
          <a:blip r:embed="rId4">
            <a:alphaModFix/>
          </a:blip>
          <a:stretch>
            <a:fillRect/>
          </a:stretch>
        </p:blipFill>
        <p:spPr>
          <a:xfrm>
            <a:off x="869088" y="978625"/>
            <a:ext cx="7405825" cy="416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1000"/>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455" name="Shape 455"/>
        <p:cNvGrpSpPr/>
        <p:nvPr/>
      </p:nvGrpSpPr>
      <p:grpSpPr>
        <a:xfrm>
          <a:off x="0" y="0"/>
          <a:ext cx="0" cy="0"/>
          <a:chOff x="0" y="0"/>
          <a:chExt cx="0" cy="0"/>
        </a:xfrm>
      </p:grpSpPr>
      <p:sp>
        <p:nvSpPr>
          <p:cNvPr id="456" name="Google Shape;456;g3d46f7dc534_5_55"/>
          <p:cNvSpPr/>
          <p:nvPr/>
        </p:nvSpPr>
        <p:spPr>
          <a:xfrm>
            <a:off x="936000" y="396000"/>
            <a:ext cx="5544000" cy="540000"/>
          </a:xfrm>
          <a:prstGeom prst="rect">
            <a:avLst/>
          </a:prstGeom>
          <a:solidFill>
            <a:srgbClr val="282A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g3d46f7dc534_5_55"/>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US" sz="1800">
                <a:latin typeface="Rubik"/>
                <a:ea typeface="Rubik"/>
                <a:cs typeface="Rubik"/>
                <a:sym typeface="Rubik"/>
              </a:rPr>
              <a:t>SYNTHÈSE</a:t>
            </a:r>
            <a:endParaRPr b="0" i="0" sz="1400" u="none" cap="none" strike="noStrike">
              <a:solidFill>
                <a:srgbClr val="000000"/>
              </a:solidFill>
              <a:latin typeface="Arial"/>
              <a:ea typeface="Arial"/>
              <a:cs typeface="Arial"/>
              <a:sym typeface="Arial"/>
            </a:endParaRPr>
          </a:p>
        </p:txBody>
      </p:sp>
      <p:sp>
        <p:nvSpPr>
          <p:cNvPr id="458" name="Google Shape;458;g3d46f7dc534_5_55"/>
          <p:cNvSpPr/>
          <p:nvPr/>
        </p:nvSpPr>
        <p:spPr>
          <a:xfrm>
            <a:off x="1134788" y="1456200"/>
            <a:ext cx="1754700" cy="324000"/>
          </a:xfrm>
          <a:prstGeom prst="roundRect">
            <a:avLst>
              <a:gd fmla="val 5000" name="adj"/>
            </a:avLst>
          </a:prstGeom>
          <a:solidFill>
            <a:srgbClr val="0000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Besoin</a:t>
            </a:r>
            <a:endParaRPr b="0" i="0" sz="1400" u="none" cap="none" strike="noStrike">
              <a:solidFill>
                <a:srgbClr val="000000"/>
              </a:solidFill>
              <a:latin typeface="Arial"/>
              <a:ea typeface="Arial"/>
              <a:cs typeface="Arial"/>
              <a:sym typeface="Arial"/>
            </a:endParaRPr>
          </a:p>
        </p:txBody>
      </p:sp>
      <p:sp>
        <p:nvSpPr>
          <p:cNvPr id="459" name="Google Shape;459;g3d46f7dc534_5_55"/>
          <p:cNvSpPr/>
          <p:nvPr/>
        </p:nvSpPr>
        <p:spPr>
          <a:xfrm>
            <a:off x="2984568" y="1456200"/>
            <a:ext cx="2866200" cy="324000"/>
          </a:xfrm>
          <a:prstGeom prst="roundRect">
            <a:avLst>
              <a:gd fmla="val 5000" name="adj"/>
            </a:avLst>
          </a:prstGeom>
          <a:solidFill>
            <a:srgbClr val="0000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Solution</a:t>
            </a:r>
            <a:endParaRPr b="0" i="0" sz="1400" u="none" cap="none" strike="noStrike">
              <a:solidFill>
                <a:srgbClr val="000000"/>
              </a:solidFill>
              <a:latin typeface="Arial"/>
              <a:ea typeface="Arial"/>
              <a:cs typeface="Arial"/>
              <a:sym typeface="Arial"/>
            </a:endParaRPr>
          </a:p>
        </p:txBody>
      </p:sp>
      <p:sp>
        <p:nvSpPr>
          <p:cNvPr id="460" name="Google Shape;460;g3d46f7dc534_5_55"/>
          <p:cNvSpPr/>
          <p:nvPr/>
        </p:nvSpPr>
        <p:spPr>
          <a:xfrm>
            <a:off x="5953622" y="1456200"/>
            <a:ext cx="2055600" cy="324000"/>
          </a:xfrm>
          <a:prstGeom prst="roundRect">
            <a:avLst>
              <a:gd fmla="val 5000" name="adj"/>
            </a:avLst>
          </a:prstGeom>
          <a:solidFill>
            <a:srgbClr val="0000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Résultat</a:t>
            </a:r>
            <a:endParaRPr b="0" i="0" sz="1400" u="none" cap="none" strike="noStrike">
              <a:solidFill>
                <a:srgbClr val="000000"/>
              </a:solidFill>
              <a:latin typeface="Arial"/>
              <a:ea typeface="Arial"/>
              <a:cs typeface="Arial"/>
              <a:sym typeface="Arial"/>
            </a:endParaRPr>
          </a:p>
        </p:txBody>
      </p:sp>
      <p:sp>
        <p:nvSpPr>
          <p:cNvPr id="461" name="Google Shape;461;g3d46f7dc534_5_55"/>
          <p:cNvSpPr/>
          <p:nvPr/>
        </p:nvSpPr>
        <p:spPr>
          <a:xfrm>
            <a:off x="1134788" y="1852200"/>
            <a:ext cx="17547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Détection temps réel</a:t>
            </a:r>
            <a:endParaRPr b="1" sz="900">
              <a:latin typeface="Rubik"/>
              <a:ea typeface="Rubik"/>
              <a:cs typeface="Rubik"/>
              <a:sym typeface="Rubik"/>
            </a:endParaRPr>
          </a:p>
        </p:txBody>
      </p:sp>
      <p:sp>
        <p:nvSpPr>
          <p:cNvPr id="462" name="Google Shape;462;g3d46f7dc534_5_55"/>
          <p:cNvSpPr/>
          <p:nvPr/>
        </p:nvSpPr>
        <p:spPr>
          <a:xfrm>
            <a:off x="2984568" y="1852200"/>
            <a:ext cx="2866200" cy="324000"/>
          </a:xfrm>
          <a:prstGeom prst="roundRect">
            <a:avLst>
              <a:gd fmla="val 5000" name="adj"/>
            </a:avLst>
          </a:prstGeom>
          <a:solidFill>
            <a:srgbClr val="A329DE"/>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Worker Airflow + LightGBM/XGBoost</a:t>
            </a:r>
            <a:endParaRPr b="1" sz="1000">
              <a:solidFill>
                <a:srgbClr val="FFFFFF"/>
              </a:solidFill>
              <a:latin typeface="Rubik"/>
              <a:ea typeface="Rubik"/>
              <a:cs typeface="Rubik"/>
              <a:sym typeface="Rubik"/>
            </a:endParaRPr>
          </a:p>
        </p:txBody>
      </p:sp>
      <p:sp>
        <p:nvSpPr>
          <p:cNvPr id="463" name="Google Shape;463;g3d46f7dc534_5_55"/>
          <p:cNvSpPr/>
          <p:nvPr/>
        </p:nvSpPr>
        <p:spPr>
          <a:xfrm>
            <a:off x="5945847" y="1843200"/>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Scoring &lt; 10s</a:t>
            </a:r>
            <a:endParaRPr b="1" sz="900">
              <a:latin typeface="Rubik"/>
              <a:ea typeface="Rubik"/>
              <a:cs typeface="Rubik"/>
              <a:sym typeface="Rubik"/>
            </a:endParaRPr>
          </a:p>
        </p:txBody>
      </p:sp>
      <p:sp>
        <p:nvSpPr>
          <p:cNvPr id="464" name="Google Shape;464;g3d46f7dc534_5_55"/>
          <p:cNvSpPr/>
          <p:nvPr/>
        </p:nvSpPr>
        <p:spPr>
          <a:xfrm>
            <a:off x="1134788" y="2230200"/>
            <a:ext cx="17547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Rapport quotidien</a:t>
            </a:r>
            <a:endParaRPr b="1" sz="900">
              <a:latin typeface="Rubik"/>
              <a:ea typeface="Rubik"/>
              <a:cs typeface="Rubik"/>
              <a:sym typeface="Rubik"/>
            </a:endParaRPr>
          </a:p>
        </p:txBody>
      </p:sp>
      <p:sp>
        <p:nvSpPr>
          <p:cNvPr id="465" name="Google Shape;465;g3d46f7dc534_5_55"/>
          <p:cNvSpPr/>
          <p:nvPr/>
        </p:nvSpPr>
        <p:spPr>
          <a:xfrm>
            <a:off x="2984568" y="2230200"/>
            <a:ext cx="2866200" cy="324000"/>
          </a:xfrm>
          <a:prstGeom prst="roundRect">
            <a:avLst>
              <a:gd fmla="val 5000" name="adj"/>
            </a:avLst>
          </a:prstGeom>
          <a:solidFill>
            <a:srgbClr val="A329DE"/>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DAG planifié (cron 8h00)</a:t>
            </a:r>
            <a:endParaRPr b="1" sz="1000">
              <a:solidFill>
                <a:srgbClr val="FFFFFF"/>
              </a:solidFill>
              <a:latin typeface="Rubik"/>
              <a:ea typeface="Rubik"/>
              <a:cs typeface="Rubik"/>
              <a:sym typeface="Rubik"/>
            </a:endParaRPr>
          </a:p>
        </p:txBody>
      </p:sp>
      <p:sp>
        <p:nvSpPr>
          <p:cNvPr id="466" name="Google Shape;466;g3d46f7dc534_5_55"/>
          <p:cNvSpPr/>
          <p:nvPr/>
        </p:nvSpPr>
        <p:spPr>
          <a:xfrm>
            <a:off x="5953622" y="2230200"/>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CSV automatique</a:t>
            </a:r>
            <a:endParaRPr b="1" sz="900">
              <a:latin typeface="Rubik"/>
              <a:ea typeface="Rubik"/>
              <a:cs typeface="Rubik"/>
              <a:sym typeface="Rubik"/>
            </a:endParaRPr>
          </a:p>
        </p:txBody>
      </p:sp>
      <p:sp>
        <p:nvSpPr>
          <p:cNvPr id="467" name="Google Shape;467;g3d46f7dc534_5_55"/>
          <p:cNvSpPr/>
          <p:nvPr/>
        </p:nvSpPr>
        <p:spPr>
          <a:xfrm>
            <a:off x="1134788" y="2608200"/>
            <a:ext cx="17547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Reproductibilité</a:t>
            </a:r>
            <a:endParaRPr b="1" sz="900">
              <a:latin typeface="Rubik"/>
              <a:ea typeface="Rubik"/>
              <a:cs typeface="Rubik"/>
              <a:sym typeface="Rubik"/>
            </a:endParaRPr>
          </a:p>
        </p:txBody>
      </p:sp>
      <p:sp>
        <p:nvSpPr>
          <p:cNvPr id="468" name="Google Shape;468;g3d46f7dc534_5_55"/>
          <p:cNvSpPr/>
          <p:nvPr/>
        </p:nvSpPr>
        <p:spPr>
          <a:xfrm>
            <a:off x="2984568" y="2608200"/>
            <a:ext cx="2866200" cy="324000"/>
          </a:xfrm>
          <a:prstGeom prst="roundRect">
            <a:avLst>
              <a:gd fmla="val 5000" name="adj"/>
            </a:avLst>
          </a:prstGeom>
          <a:solidFill>
            <a:srgbClr val="26DBE0"/>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Docker Compose</a:t>
            </a:r>
            <a:endParaRPr b="1" sz="1000">
              <a:solidFill>
                <a:srgbClr val="FFFFFF"/>
              </a:solidFill>
              <a:latin typeface="Rubik"/>
              <a:ea typeface="Rubik"/>
              <a:cs typeface="Rubik"/>
              <a:sym typeface="Rubik"/>
            </a:endParaRPr>
          </a:p>
        </p:txBody>
      </p:sp>
      <p:sp>
        <p:nvSpPr>
          <p:cNvPr id="469" name="Google Shape;469;g3d46f7dc534_5_55"/>
          <p:cNvSpPr/>
          <p:nvPr/>
        </p:nvSpPr>
        <p:spPr>
          <a:xfrm>
            <a:off x="5953622" y="2608200"/>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1 commande pour tout démarrer</a:t>
            </a:r>
            <a:endParaRPr b="1" sz="900">
              <a:latin typeface="Rubik"/>
              <a:ea typeface="Rubik"/>
              <a:cs typeface="Rubik"/>
              <a:sym typeface="Rubik"/>
            </a:endParaRPr>
          </a:p>
        </p:txBody>
      </p:sp>
      <p:sp>
        <p:nvSpPr>
          <p:cNvPr id="470" name="Google Shape;470;g3d46f7dc534_5_55"/>
          <p:cNvSpPr/>
          <p:nvPr/>
        </p:nvSpPr>
        <p:spPr>
          <a:xfrm>
            <a:off x="1134788" y="2986200"/>
            <a:ext cx="17547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900">
                <a:latin typeface="Rubik"/>
                <a:ea typeface="Rubik"/>
                <a:cs typeface="Rubik"/>
                <a:sym typeface="Rubik"/>
              </a:rPr>
              <a:t>Qualité des données</a:t>
            </a:r>
            <a:endParaRPr b="1" sz="900">
              <a:latin typeface="Rubik"/>
              <a:ea typeface="Rubik"/>
              <a:cs typeface="Rubik"/>
              <a:sym typeface="Rubik"/>
            </a:endParaRPr>
          </a:p>
        </p:txBody>
      </p:sp>
      <p:sp>
        <p:nvSpPr>
          <p:cNvPr id="471" name="Google Shape;471;g3d46f7dc534_5_55"/>
          <p:cNvSpPr/>
          <p:nvPr/>
        </p:nvSpPr>
        <p:spPr>
          <a:xfrm>
            <a:off x="2984568" y="2986200"/>
            <a:ext cx="2866200" cy="324000"/>
          </a:xfrm>
          <a:prstGeom prst="roundRect">
            <a:avLst>
              <a:gd fmla="val 5000" name="adj"/>
            </a:avLst>
          </a:prstGeom>
          <a:solidFill>
            <a:srgbClr val="26DBE0"/>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Validation schéma + types</a:t>
            </a:r>
            <a:endParaRPr b="1" sz="1000">
              <a:solidFill>
                <a:srgbClr val="FFFFFF"/>
              </a:solidFill>
              <a:latin typeface="Rubik"/>
              <a:ea typeface="Rubik"/>
              <a:cs typeface="Rubik"/>
              <a:sym typeface="Rubik"/>
            </a:endParaRPr>
          </a:p>
        </p:txBody>
      </p:sp>
      <p:sp>
        <p:nvSpPr>
          <p:cNvPr id="472" name="Google Shape;472;g3d46f7dc534_5_55"/>
          <p:cNvSpPr/>
          <p:nvPr/>
        </p:nvSpPr>
        <p:spPr>
          <a:xfrm>
            <a:off x="5953622" y="2986200"/>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0 erreur silencieuse</a:t>
            </a:r>
            <a:endParaRPr b="1" sz="900">
              <a:latin typeface="Rubik"/>
              <a:ea typeface="Rubik"/>
              <a:cs typeface="Rubik"/>
              <a:sym typeface="Rubik"/>
            </a:endParaRPr>
          </a:p>
        </p:txBody>
      </p:sp>
      <p:sp>
        <p:nvSpPr>
          <p:cNvPr id="473" name="Google Shape;473;g3d46f7dc534_5_55"/>
          <p:cNvSpPr/>
          <p:nvPr/>
        </p:nvSpPr>
        <p:spPr>
          <a:xfrm>
            <a:off x="1134788" y="3364200"/>
            <a:ext cx="17547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900">
                <a:latin typeface="Rubik"/>
                <a:ea typeface="Rubik"/>
                <a:cs typeface="Rubik"/>
                <a:sym typeface="Rubik"/>
              </a:rPr>
              <a:t>Observabilité</a:t>
            </a:r>
            <a:endParaRPr b="1" sz="900">
              <a:latin typeface="Rubik"/>
              <a:ea typeface="Rubik"/>
              <a:cs typeface="Rubik"/>
              <a:sym typeface="Rubik"/>
            </a:endParaRPr>
          </a:p>
        </p:txBody>
      </p:sp>
      <p:sp>
        <p:nvSpPr>
          <p:cNvPr id="474" name="Google Shape;474;g3d46f7dc534_5_55"/>
          <p:cNvSpPr/>
          <p:nvPr/>
        </p:nvSpPr>
        <p:spPr>
          <a:xfrm>
            <a:off x="2984568" y="3364200"/>
            <a:ext cx="2866200" cy="324000"/>
          </a:xfrm>
          <a:prstGeom prst="roundRect">
            <a:avLst>
              <a:gd fmla="val 5000" name="adj"/>
            </a:avLst>
          </a:prstGeom>
          <a:solidFill>
            <a:schemeClr val="accent6"/>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ctr">
              <a:lnSpc>
                <a:spcPct val="115000"/>
              </a:lnSpc>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Airflow + Streamlit + PostgreSQL</a:t>
            </a:r>
            <a:endParaRPr b="1" sz="1000">
              <a:solidFill>
                <a:srgbClr val="FFFFFF"/>
              </a:solidFill>
              <a:latin typeface="Rubik"/>
              <a:ea typeface="Rubik"/>
              <a:cs typeface="Rubik"/>
              <a:sym typeface="Rubik"/>
            </a:endParaRPr>
          </a:p>
        </p:txBody>
      </p:sp>
      <p:sp>
        <p:nvSpPr>
          <p:cNvPr id="475" name="Google Shape;475;g3d46f7dc534_5_55"/>
          <p:cNvSpPr/>
          <p:nvPr/>
        </p:nvSpPr>
        <p:spPr>
          <a:xfrm>
            <a:off x="5953622" y="3364200"/>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3 couches  de monitoring</a:t>
            </a:r>
            <a:endParaRPr b="1" sz="900">
              <a:latin typeface="Rubik"/>
              <a:ea typeface="Rubik"/>
              <a:cs typeface="Rubik"/>
              <a:sym typeface="Rubik"/>
            </a:endParaRPr>
          </a:p>
        </p:txBody>
      </p:sp>
      <p:sp>
        <p:nvSpPr>
          <p:cNvPr id="476" name="Google Shape;476;g3d46f7dc534_5_55"/>
          <p:cNvSpPr/>
          <p:nvPr/>
        </p:nvSpPr>
        <p:spPr>
          <a:xfrm>
            <a:off x="3233105" y="4450550"/>
            <a:ext cx="26778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marR="0" rtl="0" algn="ctr">
              <a:lnSpc>
                <a:spcPct val="100000"/>
              </a:lnSpc>
              <a:spcBef>
                <a:spcPts val="0"/>
              </a:spcBef>
              <a:spcAft>
                <a:spcPts val="0"/>
              </a:spcAft>
              <a:buClr>
                <a:srgbClr val="000000"/>
              </a:buClr>
              <a:buSzPts val="1204"/>
              <a:buFont typeface="Arial"/>
              <a:buNone/>
            </a:pPr>
            <a:r>
              <a:rPr lang="en-US" sz="900">
                <a:latin typeface="Rubik"/>
                <a:ea typeface="Rubik"/>
                <a:cs typeface="Rubik"/>
                <a:sym typeface="Rubik"/>
              </a:rPr>
              <a:t>2. </a:t>
            </a:r>
            <a:r>
              <a:rPr b="1" lang="en-US" sz="900">
                <a:solidFill>
                  <a:schemeClr val="accent6"/>
                </a:solidFill>
                <a:latin typeface="Rubik"/>
                <a:ea typeface="Rubik"/>
                <a:cs typeface="Rubik"/>
                <a:sym typeface="Rubik"/>
              </a:rPr>
              <a:t>Chaque run est idempotent</a:t>
            </a:r>
            <a:r>
              <a:rPr b="1" lang="en-US" sz="900">
                <a:latin typeface="Rubik"/>
                <a:ea typeface="Rubik"/>
                <a:cs typeface="Rubik"/>
                <a:sym typeface="Rubik"/>
              </a:rPr>
              <a:t> </a:t>
            </a:r>
            <a:r>
              <a:rPr lang="en-US" sz="900">
                <a:latin typeface="Rubik"/>
                <a:ea typeface="Rubik"/>
                <a:cs typeface="Rubik"/>
                <a:sym typeface="Rubik"/>
              </a:rPr>
              <a:t>— DAGs rejouables  sans effet de bord</a:t>
            </a:r>
            <a:endParaRPr i="0" sz="900" u="none" cap="none" strike="noStrike">
              <a:solidFill>
                <a:srgbClr val="000000"/>
              </a:solidFill>
              <a:latin typeface="Rubik"/>
              <a:ea typeface="Rubik"/>
              <a:cs typeface="Rubik"/>
              <a:sym typeface="Rubik"/>
            </a:endParaRPr>
          </a:p>
        </p:txBody>
      </p:sp>
      <p:sp>
        <p:nvSpPr>
          <p:cNvPr id="477" name="Google Shape;477;g3d46f7dc534_5_55"/>
          <p:cNvSpPr/>
          <p:nvPr/>
        </p:nvSpPr>
        <p:spPr>
          <a:xfrm>
            <a:off x="6064397" y="4450550"/>
            <a:ext cx="26778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rtl="0" algn="ctr">
              <a:spcBef>
                <a:spcPts val="0"/>
              </a:spcBef>
              <a:spcAft>
                <a:spcPts val="0"/>
              </a:spcAft>
              <a:buClr>
                <a:schemeClr val="dk1"/>
              </a:buClr>
              <a:buSzPts val="1100"/>
              <a:buFont typeface="Arial"/>
              <a:buNone/>
            </a:pPr>
            <a:r>
              <a:rPr lang="en-US" sz="900">
                <a:latin typeface="Rubik"/>
                <a:ea typeface="Rubik"/>
                <a:cs typeface="Rubik"/>
                <a:sym typeface="Rubik"/>
              </a:rPr>
              <a:t>3. </a:t>
            </a:r>
            <a:r>
              <a:rPr b="1" lang="en-US" sz="900">
                <a:solidFill>
                  <a:schemeClr val="accent6"/>
                </a:solidFill>
                <a:latin typeface="Rubik"/>
                <a:ea typeface="Rubik"/>
                <a:cs typeface="Rubik"/>
                <a:sym typeface="Rubik"/>
              </a:rPr>
              <a:t>Tout est traçable</a:t>
            </a:r>
            <a:r>
              <a:rPr lang="en-US" sz="900">
                <a:latin typeface="Rubik"/>
                <a:ea typeface="Rubik"/>
                <a:cs typeface="Rubik"/>
                <a:sym typeface="Rubik"/>
              </a:rPr>
              <a:t> — chaque prédiction porte sa version de modèle</a:t>
            </a:r>
            <a:endParaRPr sz="900">
              <a:latin typeface="Rubik"/>
              <a:ea typeface="Rubik"/>
              <a:cs typeface="Rubik"/>
              <a:sym typeface="Rubik"/>
            </a:endParaRPr>
          </a:p>
        </p:txBody>
      </p:sp>
      <p:sp>
        <p:nvSpPr>
          <p:cNvPr id="478" name="Google Shape;478;g3d46f7dc534_5_55"/>
          <p:cNvSpPr/>
          <p:nvPr/>
        </p:nvSpPr>
        <p:spPr>
          <a:xfrm>
            <a:off x="401813" y="4450550"/>
            <a:ext cx="26778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marR="0" rtl="0" algn="ctr">
              <a:lnSpc>
                <a:spcPct val="100000"/>
              </a:lnSpc>
              <a:spcBef>
                <a:spcPts val="0"/>
              </a:spcBef>
              <a:spcAft>
                <a:spcPts val="0"/>
              </a:spcAft>
              <a:buClr>
                <a:srgbClr val="000000"/>
              </a:buClr>
              <a:buSzPts val="1204"/>
              <a:buFont typeface="Arial"/>
              <a:buNone/>
            </a:pPr>
            <a:r>
              <a:rPr lang="en-US" sz="1000"/>
              <a:t>1. </a:t>
            </a:r>
            <a:r>
              <a:rPr b="1" lang="en-US" sz="1000">
                <a:solidFill>
                  <a:schemeClr val="accent6"/>
                </a:solidFill>
              </a:rPr>
              <a:t>Le Pipeline prime</a:t>
            </a:r>
            <a:r>
              <a:rPr lang="en-US" sz="1000">
                <a:solidFill>
                  <a:schemeClr val="dk1"/>
                </a:solidFill>
              </a:rPr>
              <a:t> - Modèle ML </a:t>
            </a:r>
            <a:r>
              <a:rPr lang="en-US" sz="900">
                <a:latin typeface="Rubik"/>
                <a:ea typeface="Rubik"/>
                <a:cs typeface="Rubik"/>
                <a:sym typeface="Rubik"/>
              </a:rPr>
              <a:t>interchangeable</a:t>
            </a:r>
            <a:endParaRPr i="0" sz="900" u="none" cap="none" strike="noStrike">
              <a:solidFill>
                <a:srgbClr val="000000"/>
              </a:solidFill>
              <a:latin typeface="Rubik"/>
              <a:ea typeface="Rubik"/>
              <a:cs typeface="Rubik"/>
              <a:sym typeface="Rubik"/>
            </a:endParaRPr>
          </a:p>
        </p:txBody>
      </p:sp>
      <p:sp>
        <p:nvSpPr>
          <p:cNvPr id="479" name="Google Shape;479;g3d46f7dc534_5_55"/>
          <p:cNvSpPr/>
          <p:nvPr/>
        </p:nvSpPr>
        <p:spPr>
          <a:xfrm>
            <a:off x="401811" y="4083350"/>
            <a:ext cx="3015900" cy="367200"/>
          </a:xfrm>
          <a:prstGeom prst="rect">
            <a:avLst/>
          </a:prstGeom>
          <a:solidFill>
            <a:schemeClr val="accent6"/>
          </a:solidFill>
          <a:ln>
            <a:noFill/>
          </a:ln>
          <a:effectLst>
            <a:outerShdw blurRad="27201" rotWithShape="0" dir="5400000" dist="15640">
              <a:srgbClr val="000000">
                <a:alpha val="34900"/>
              </a:srgbClr>
            </a:outerShdw>
          </a:effectLst>
        </p:spPr>
        <p:txBody>
          <a:bodyPr anchorCtr="0" anchor="ctr" bIns="31075" lIns="62175" spcFirstLastPara="1" rIns="62175" wrap="square" tIns="31075">
            <a:noAutofit/>
          </a:bodyPr>
          <a:lstStyle/>
          <a:p>
            <a:pPr indent="0" lvl="0" marL="0" marR="0" rtl="0" algn="ctr">
              <a:lnSpc>
                <a:spcPct val="100000"/>
              </a:lnSpc>
              <a:spcBef>
                <a:spcPts val="0"/>
              </a:spcBef>
              <a:spcAft>
                <a:spcPts val="0"/>
              </a:spcAft>
              <a:buClr>
                <a:srgbClr val="000000"/>
              </a:buClr>
              <a:buSzPts val="1224"/>
              <a:buFont typeface="Arial"/>
              <a:buNone/>
            </a:pPr>
            <a:r>
              <a:rPr b="1" lang="en-US" sz="1224">
                <a:solidFill>
                  <a:schemeClr val="lt1"/>
                </a:solidFill>
                <a:latin typeface="Rubik"/>
                <a:ea typeface="Rubik"/>
                <a:cs typeface="Rubik"/>
                <a:sym typeface="Rubik"/>
              </a:rPr>
              <a:t>PRINCIPES ARCHITECTURAUX</a:t>
            </a:r>
            <a:endParaRPr b="0" i="0" sz="952"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83" name="Shape 483"/>
        <p:cNvGrpSpPr/>
        <p:nvPr/>
      </p:nvGrpSpPr>
      <p:grpSpPr>
        <a:xfrm>
          <a:off x="0" y="0"/>
          <a:ext cx="0" cy="0"/>
          <a:chOff x="0" y="0"/>
          <a:chExt cx="0" cy="0"/>
        </a:xfrm>
      </p:grpSpPr>
      <p:sp>
        <p:nvSpPr>
          <p:cNvPr id="484" name="Google Shape;484;g3d46f7dc534_5_14"/>
          <p:cNvSpPr/>
          <p:nvPr/>
        </p:nvSpPr>
        <p:spPr>
          <a:xfrm>
            <a:off x="1980000" y="1289400"/>
            <a:ext cx="5040000" cy="828000"/>
          </a:xfrm>
          <a:prstGeom prst="rect">
            <a:avLst/>
          </a:prstGeom>
          <a:solidFill>
            <a:srgbClr val="282A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g3d46f7dc534_5_14"/>
          <p:cNvSpPr/>
          <p:nvPr/>
        </p:nvSpPr>
        <p:spPr>
          <a:xfrm>
            <a:off x="2124000" y="1145400"/>
            <a:ext cx="5040000" cy="828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Rubik"/>
                <a:ea typeface="Rubik"/>
                <a:cs typeface="Rubik"/>
                <a:sym typeface="Rubik"/>
              </a:rPr>
              <a:t>DES QUESTIONS ?</a:t>
            </a:r>
            <a:endParaRPr b="0" i="0" sz="1400" u="none" cap="none" strike="noStrike">
              <a:solidFill>
                <a:schemeClr val="dk1"/>
              </a:solidFill>
              <a:latin typeface="Arial"/>
              <a:ea typeface="Arial"/>
              <a:cs typeface="Arial"/>
              <a:sym typeface="Arial"/>
            </a:endParaRPr>
          </a:p>
        </p:txBody>
      </p:sp>
      <p:pic>
        <p:nvPicPr>
          <p:cNvPr id="486" name="Google Shape;486;g3d46f7dc534_5_14"/>
          <p:cNvPicPr preferRelativeResize="0"/>
          <p:nvPr/>
        </p:nvPicPr>
        <p:blipFill rotWithShape="1">
          <a:blip r:embed="rId3">
            <a:alphaModFix/>
          </a:blip>
          <a:srcRect b="0" l="0" r="0" t="0"/>
          <a:stretch/>
        </p:blipFill>
        <p:spPr>
          <a:xfrm>
            <a:off x="3827588" y="2452280"/>
            <a:ext cx="1632824" cy="154671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490" name="Shape 490"/>
        <p:cNvGrpSpPr/>
        <p:nvPr/>
      </p:nvGrpSpPr>
      <p:grpSpPr>
        <a:xfrm>
          <a:off x="0" y="0"/>
          <a:ext cx="0" cy="0"/>
          <a:chOff x="0" y="0"/>
          <a:chExt cx="0" cy="0"/>
        </a:xfrm>
      </p:grpSpPr>
      <p:sp>
        <p:nvSpPr>
          <p:cNvPr id="491" name="Google Shape;491;g3d46f7dc534_5_106"/>
          <p:cNvSpPr/>
          <p:nvPr/>
        </p:nvSpPr>
        <p:spPr>
          <a:xfrm>
            <a:off x="756000" y="1908000"/>
            <a:ext cx="7488000" cy="1800000"/>
          </a:xfrm>
          <a:prstGeom prst="rect">
            <a:avLst/>
          </a:prstGeom>
          <a:solidFill>
            <a:srgbClr val="A329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2" name="Google Shape;492;g3d46f7dc534_5_106"/>
          <p:cNvSpPr/>
          <p:nvPr/>
        </p:nvSpPr>
        <p:spPr>
          <a:xfrm>
            <a:off x="827999" y="1728000"/>
            <a:ext cx="7488000" cy="1872000"/>
          </a:xfrm>
          <a:prstGeom prst="rect">
            <a:avLst/>
          </a:prstGeom>
          <a:solidFill>
            <a:schemeClr val="lt1"/>
          </a:solidFill>
          <a:ln cap="flat" cmpd="sng" w="9525">
            <a:solidFill>
              <a:schemeClr val="accent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sz="3600">
                <a:solidFill>
                  <a:schemeClr val="dk1"/>
                </a:solidFill>
              </a:rPr>
              <a:t>Delay Forecast</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800"/>
              </a:spcBef>
              <a:spcAft>
                <a:spcPts val="0"/>
              </a:spcAft>
              <a:buClr>
                <a:srgbClr val="000000"/>
              </a:buClr>
              <a:buSzPts val="2400"/>
              <a:buFont typeface="Arial"/>
              <a:buNone/>
            </a:pPr>
            <a:r>
              <a:rPr b="1" lang="en-US" sz="2400">
                <a:solidFill>
                  <a:schemeClr val="accent6"/>
                </a:solidFill>
                <a:latin typeface="Rubik"/>
                <a:ea typeface="Rubik"/>
                <a:cs typeface="Rubik"/>
                <a:sym typeface="Rubik"/>
              </a:rPr>
              <a:t>De la Donnée Brute à l'Alerte en Temps Réel</a:t>
            </a:r>
            <a:endParaRPr b="1" i="0" sz="1400" u="none" cap="none" strike="noStrike">
              <a:solidFill>
                <a:schemeClr val="accent6"/>
              </a:solidFill>
              <a:latin typeface="Arial"/>
              <a:ea typeface="Arial"/>
              <a:cs typeface="Arial"/>
              <a:sym typeface="Arial"/>
            </a:endParaRPr>
          </a:p>
          <a:p>
            <a:pPr indent="0" lvl="0" marL="0" marR="0" rtl="0" algn="ctr">
              <a:lnSpc>
                <a:spcPct val="100000"/>
              </a:lnSpc>
              <a:spcBef>
                <a:spcPts val="2000"/>
              </a:spcBef>
              <a:spcAft>
                <a:spcPts val="0"/>
              </a:spcAft>
              <a:buClr>
                <a:srgbClr val="000000"/>
              </a:buClr>
              <a:buSzPts val="1200"/>
              <a:buFont typeface="Arial"/>
              <a:buNone/>
            </a:pPr>
            <a:r>
              <a:rPr b="0" i="0" lang="en-US" sz="1200" u="none" cap="none" strike="noStrike">
                <a:solidFill>
                  <a:schemeClr val="dk1"/>
                </a:solidFill>
                <a:latin typeface="Rubik"/>
                <a:ea typeface="Rubik"/>
                <a:cs typeface="Rubik"/>
                <a:sym typeface="Rubik"/>
              </a:rPr>
              <a:t>Certification AIA — </a:t>
            </a:r>
            <a:r>
              <a:rPr lang="en-US" sz="1200">
                <a:solidFill>
                  <a:schemeClr val="dk1"/>
                </a:solidFill>
              </a:rPr>
              <a:t>Bloc 4 - Construire, Déployer et Piloter des Solutions d'IA</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200"/>
              <a:buFont typeface="Arial"/>
              <a:buNone/>
            </a:pPr>
            <a:r>
              <a:rPr b="0" i="0" lang="en-US" sz="1200" u="none" cap="none" strike="noStrike">
                <a:solidFill>
                  <a:schemeClr val="dk1"/>
                </a:solidFill>
                <a:latin typeface="Rubik"/>
                <a:ea typeface="Rubik"/>
                <a:cs typeface="Rubik"/>
                <a:sym typeface="Rubik"/>
              </a:rPr>
              <a:t>Mathis GENTHON  |  7 Avril 2026</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496" name="Shape 496"/>
        <p:cNvGrpSpPr/>
        <p:nvPr/>
      </p:nvGrpSpPr>
      <p:grpSpPr>
        <a:xfrm>
          <a:off x="0" y="0"/>
          <a:ext cx="0" cy="0"/>
          <a:chOff x="0" y="0"/>
          <a:chExt cx="0" cy="0"/>
        </a:xfrm>
      </p:grpSpPr>
      <p:sp>
        <p:nvSpPr>
          <p:cNvPr id="497" name="Google Shape;497;g3d46f7dc534_5_146"/>
          <p:cNvSpPr/>
          <p:nvPr/>
        </p:nvSpPr>
        <p:spPr>
          <a:xfrm>
            <a:off x="936000" y="396000"/>
            <a:ext cx="5544000" cy="540000"/>
          </a:xfrm>
          <a:prstGeom prst="rect">
            <a:avLst/>
          </a:prstGeom>
          <a:solidFill>
            <a:srgbClr val="A329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8" name="Google Shape;498;g3d46f7dc534_5_146"/>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US" sz="1800">
                <a:latin typeface="Rubik"/>
                <a:ea typeface="Rubik"/>
                <a:cs typeface="Rubik"/>
                <a:sym typeface="Rubik"/>
              </a:rPr>
              <a:t>CONTEXTE &amp; ENJEUX</a:t>
            </a:r>
            <a:endParaRPr b="0" i="0" sz="1400" u="none" cap="none" strike="noStrike">
              <a:solidFill>
                <a:srgbClr val="000000"/>
              </a:solidFill>
              <a:latin typeface="Arial"/>
              <a:ea typeface="Arial"/>
              <a:cs typeface="Arial"/>
              <a:sym typeface="Arial"/>
            </a:endParaRPr>
          </a:p>
        </p:txBody>
      </p:sp>
      <p:sp>
        <p:nvSpPr>
          <p:cNvPr id="499" name="Google Shape;499;g3d46f7dc534_5_146"/>
          <p:cNvSpPr/>
          <p:nvPr/>
        </p:nvSpPr>
        <p:spPr>
          <a:xfrm>
            <a:off x="1004737" y="2212963"/>
            <a:ext cx="2088900" cy="546300"/>
          </a:xfrm>
          <a:prstGeom prst="roundRect">
            <a:avLst>
              <a:gd fmla="val 5000" name="adj"/>
            </a:avLst>
          </a:prstGeom>
          <a:solidFill>
            <a:srgbClr val="FFFFFF"/>
          </a:solidFill>
          <a:ln>
            <a:noFill/>
          </a:ln>
          <a:effectLst>
            <a:outerShdw blurRad="35708" rotWithShape="0" dir="5400000" dist="20532">
              <a:srgbClr val="000000">
                <a:alpha val="34900"/>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rgbClr val="000000"/>
              </a:buClr>
              <a:buSzPts val="1607"/>
              <a:buFont typeface="Arial"/>
              <a:buNone/>
            </a:pPr>
            <a:r>
              <a:t/>
            </a:r>
            <a:endParaRPr b="0" i="0" sz="1607" u="none" cap="none" strike="noStrike">
              <a:solidFill>
                <a:schemeClr val="dk1"/>
              </a:solidFill>
              <a:latin typeface="Calibri"/>
              <a:ea typeface="Calibri"/>
              <a:cs typeface="Calibri"/>
              <a:sym typeface="Calibri"/>
            </a:endParaRPr>
          </a:p>
        </p:txBody>
      </p:sp>
      <p:sp>
        <p:nvSpPr>
          <p:cNvPr id="500" name="Google Shape;500;g3d46f7dc534_5_146"/>
          <p:cNvSpPr/>
          <p:nvPr/>
        </p:nvSpPr>
        <p:spPr>
          <a:xfrm>
            <a:off x="1069012" y="2277237"/>
            <a:ext cx="2088900" cy="546300"/>
          </a:xfrm>
          <a:prstGeom prst="roundRect">
            <a:avLst>
              <a:gd fmla="val 5000" name="adj"/>
            </a:avLst>
          </a:prstGeom>
          <a:solidFill>
            <a:srgbClr val="26DBE0"/>
          </a:solidFill>
          <a:ln>
            <a:noFill/>
          </a:ln>
          <a:effectLst>
            <a:outerShdw blurRad="35708" rotWithShape="0" dir="5400000" dist="20532">
              <a:srgbClr val="000000">
                <a:alpha val="34900"/>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rgbClr val="000000"/>
              </a:buClr>
              <a:buSzPts val="1250"/>
              <a:buFont typeface="Arial"/>
              <a:buNone/>
            </a:pPr>
            <a:r>
              <a:rPr b="1" lang="en-US" sz="1250">
                <a:solidFill>
                  <a:srgbClr val="FFFFFF"/>
                </a:solidFill>
                <a:latin typeface="Rubik"/>
                <a:ea typeface="Rubik"/>
                <a:cs typeface="Rubik"/>
                <a:sym typeface="Rubik"/>
              </a:rPr>
              <a:t>CONTEXTE</a:t>
            </a:r>
            <a:endParaRPr b="0" i="0" sz="1250" u="none" cap="none" strike="noStrike">
              <a:solidFill>
                <a:srgbClr val="000000"/>
              </a:solidFill>
              <a:latin typeface="Arial"/>
              <a:ea typeface="Arial"/>
              <a:cs typeface="Arial"/>
              <a:sym typeface="Arial"/>
            </a:endParaRPr>
          </a:p>
        </p:txBody>
      </p:sp>
      <p:sp>
        <p:nvSpPr>
          <p:cNvPr id="501" name="Google Shape;501;g3d46f7dc534_5_146"/>
          <p:cNvSpPr/>
          <p:nvPr/>
        </p:nvSpPr>
        <p:spPr>
          <a:xfrm>
            <a:off x="3543594" y="2212963"/>
            <a:ext cx="2088900" cy="546300"/>
          </a:xfrm>
          <a:prstGeom prst="roundRect">
            <a:avLst>
              <a:gd fmla="val 5000" name="adj"/>
            </a:avLst>
          </a:prstGeom>
          <a:solidFill>
            <a:srgbClr val="FFFFFF"/>
          </a:solidFill>
          <a:ln>
            <a:noFill/>
          </a:ln>
          <a:effectLst>
            <a:outerShdw blurRad="35708" rotWithShape="0" dir="5400000" dist="20532">
              <a:srgbClr val="000000">
                <a:alpha val="34900"/>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rgbClr val="000000"/>
              </a:buClr>
              <a:buSzPts val="1607"/>
              <a:buFont typeface="Arial"/>
              <a:buNone/>
            </a:pPr>
            <a:r>
              <a:t/>
            </a:r>
            <a:endParaRPr b="0" i="0" sz="1607" u="none" cap="none" strike="noStrike">
              <a:solidFill>
                <a:schemeClr val="dk1"/>
              </a:solidFill>
              <a:latin typeface="Calibri"/>
              <a:ea typeface="Calibri"/>
              <a:cs typeface="Calibri"/>
              <a:sym typeface="Calibri"/>
            </a:endParaRPr>
          </a:p>
        </p:txBody>
      </p:sp>
      <p:sp>
        <p:nvSpPr>
          <p:cNvPr id="502" name="Google Shape;502;g3d46f7dc534_5_146"/>
          <p:cNvSpPr/>
          <p:nvPr/>
        </p:nvSpPr>
        <p:spPr>
          <a:xfrm>
            <a:off x="3607869" y="2277237"/>
            <a:ext cx="2088900" cy="546300"/>
          </a:xfrm>
          <a:prstGeom prst="roundRect">
            <a:avLst>
              <a:gd fmla="val 5000" name="adj"/>
            </a:avLst>
          </a:prstGeom>
          <a:solidFill>
            <a:srgbClr val="A329DE"/>
          </a:solidFill>
          <a:ln>
            <a:noFill/>
          </a:ln>
          <a:effectLst>
            <a:outerShdw blurRad="35708" rotWithShape="0" dir="5400000" dist="20532">
              <a:srgbClr val="000000">
                <a:alpha val="34900"/>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rgbClr val="000000"/>
              </a:buClr>
              <a:buSzPts val="1250"/>
              <a:buFont typeface="Arial"/>
              <a:buNone/>
            </a:pPr>
            <a:r>
              <a:rPr b="1" lang="en-US" sz="1250">
                <a:solidFill>
                  <a:srgbClr val="FFFFFF"/>
                </a:solidFill>
                <a:latin typeface="Rubik"/>
                <a:ea typeface="Rubik"/>
                <a:cs typeface="Rubik"/>
                <a:sym typeface="Rubik"/>
              </a:rPr>
              <a:t>DÉMONTRÉ PAR LE PROJET</a:t>
            </a:r>
            <a:endParaRPr b="0" i="0" sz="1250" u="none" cap="none" strike="noStrike">
              <a:solidFill>
                <a:srgbClr val="000000"/>
              </a:solidFill>
              <a:latin typeface="Arial"/>
              <a:ea typeface="Arial"/>
              <a:cs typeface="Arial"/>
              <a:sym typeface="Arial"/>
            </a:endParaRPr>
          </a:p>
        </p:txBody>
      </p:sp>
      <p:sp>
        <p:nvSpPr>
          <p:cNvPr id="503" name="Google Shape;503;g3d46f7dc534_5_146"/>
          <p:cNvSpPr/>
          <p:nvPr/>
        </p:nvSpPr>
        <p:spPr>
          <a:xfrm>
            <a:off x="6050314" y="2212963"/>
            <a:ext cx="2088900" cy="546300"/>
          </a:xfrm>
          <a:prstGeom prst="roundRect">
            <a:avLst>
              <a:gd fmla="val 5000" name="adj"/>
            </a:avLst>
          </a:prstGeom>
          <a:solidFill>
            <a:srgbClr val="FFFFFF"/>
          </a:solidFill>
          <a:ln>
            <a:noFill/>
          </a:ln>
          <a:effectLst>
            <a:outerShdw blurRad="35708" rotWithShape="0" dir="5400000" dist="20532">
              <a:srgbClr val="000000">
                <a:alpha val="34900"/>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rgbClr val="000000"/>
              </a:buClr>
              <a:buSzPts val="1607"/>
              <a:buFont typeface="Arial"/>
              <a:buNone/>
            </a:pPr>
            <a:r>
              <a:t/>
            </a:r>
            <a:endParaRPr b="0" i="0" sz="1607" u="none" cap="none" strike="noStrike">
              <a:solidFill>
                <a:schemeClr val="dk1"/>
              </a:solidFill>
              <a:latin typeface="Calibri"/>
              <a:ea typeface="Calibri"/>
              <a:cs typeface="Calibri"/>
              <a:sym typeface="Calibri"/>
            </a:endParaRPr>
          </a:p>
        </p:txBody>
      </p:sp>
      <p:sp>
        <p:nvSpPr>
          <p:cNvPr id="504" name="Google Shape;504;g3d46f7dc534_5_146"/>
          <p:cNvSpPr/>
          <p:nvPr/>
        </p:nvSpPr>
        <p:spPr>
          <a:xfrm>
            <a:off x="6114588" y="2277237"/>
            <a:ext cx="2088900" cy="546300"/>
          </a:xfrm>
          <a:prstGeom prst="roundRect">
            <a:avLst>
              <a:gd fmla="val 5000" name="adj"/>
            </a:avLst>
          </a:prstGeom>
          <a:solidFill>
            <a:srgbClr val="282AFF"/>
          </a:solidFill>
          <a:ln>
            <a:noFill/>
          </a:ln>
          <a:effectLst>
            <a:outerShdw blurRad="35708" rotWithShape="0" dir="5400000" dist="20532">
              <a:srgbClr val="000000">
                <a:alpha val="34900"/>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rgbClr val="000000"/>
              </a:buClr>
              <a:buSzPts val="1250"/>
              <a:buFont typeface="Arial"/>
              <a:buNone/>
            </a:pPr>
            <a:r>
              <a:rPr b="1" lang="en-US" sz="1250">
                <a:solidFill>
                  <a:srgbClr val="FFFFFF"/>
                </a:solidFill>
                <a:latin typeface="Rubik"/>
                <a:ea typeface="Rubik"/>
                <a:cs typeface="Rubik"/>
                <a:sym typeface="Rubik"/>
              </a:rPr>
              <a:t>PÉRIMÈTRE</a:t>
            </a:r>
            <a:endParaRPr b="0" i="0" sz="1250" u="none" cap="none" strike="noStrike">
              <a:solidFill>
                <a:srgbClr val="000000"/>
              </a:solidFill>
              <a:latin typeface="Arial"/>
              <a:ea typeface="Arial"/>
              <a:cs typeface="Arial"/>
              <a:sym typeface="Arial"/>
            </a:endParaRPr>
          </a:p>
        </p:txBody>
      </p:sp>
      <p:sp>
        <p:nvSpPr>
          <p:cNvPr id="505" name="Google Shape;505;g3d46f7dc534_5_146"/>
          <p:cNvSpPr/>
          <p:nvPr/>
        </p:nvSpPr>
        <p:spPr>
          <a:xfrm>
            <a:off x="844050" y="2984255"/>
            <a:ext cx="2313900" cy="368100"/>
          </a:xfrm>
          <a:prstGeom prst="roundRect">
            <a:avLst>
              <a:gd fmla="val 5000" name="adj"/>
            </a:avLst>
          </a:prstGeom>
          <a:solidFill>
            <a:srgbClr val="FFFFFF"/>
          </a:solidFill>
          <a:ln>
            <a:noFill/>
          </a:ln>
          <a:effectLst>
            <a:outerShdw blurRad="35708" rotWithShape="0" dir="5400000" dist="20532">
              <a:srgbClr val="000000">
                <a:alpha val="34900"/>
              </a:srgbClr>
            </a:outerShdw>
          </a:effectLst>
        </p:spPr>
        <p:txBody>
          <a:bodyPr anchorCtr="0" anchor="ctr" bIns="40800" lIns="96400" spcFirstLastPara="1" rIns="81625" wrap="square" tIns="40800">
            <a:noAutofit/>
          </a:bodyPr>
          <a:lstStyle/>
          <a:p>
            <a:pPr indent="0" lvl="0" marL="0" marR="0" rtl="0" algn="l">
              <a:lnSpc>
                <a:spcPct val="100000"/>
              </a:lnSpc>
              <a:spcBef>
                <a:spcPts val="0"/>
              </a:spcBef>
              <a:spcAft>
                <a:spcPts val="0"/>
              </a:spcAft>
              <a:buClr>
                <a:srgbClr val="000000"/>
              </a:buClr>
              <a:buSzPts val="670"/>
              <a:buFont typeface="Arial"/>
              <a:buNone/>
            </a:pPr>
            <a:r>
              <a:rPr b="1" lang="en-US" sz="714">
                <a:latin typeface="Rubik"/>
                <a:ea typeface="Rubik"/>
                <a:cs typeface="Rubik"/>
                <a:sym typeface="Rubik"/>
              </a:rPr>
              <a:t>Les voyageurs subissent les retards </a:t>
            </a:r>
            <a:r>
              <a:rPr b="1" lang="en-US" sz="714">
                <a:solidFill>
                  <a:srgbClr val="26DBE0"/>
                </a:solidFill>
                <a:latin typeface="Rubik"/>
                <a:ea typeface="Rubik"/>
                <a:cs typeface="Rubik"/>
                <a:sym typeface="Rubik"/>
              </a:rPr>
              <a:t>sans visibilité</a:t>
            </a:r>
            <a:endParaRPr b="0" i="0" sz="714" u="none" cap="none" strike="noStrike">
              <a:solidFill>
                <a:srgbClr val="26DBE0"/>
              </a:solidFill>
              <a:latin typeface="Arial"/>
              <a:ea typeface="Arial"/>
              <a:cs typeface="Arial"/>
              <a:sym typeface="Arial"/>
            </a:endParaRPr>
          </a:p>
        </p:txBody>
      </p:sp>
      <p:sp>
        <p:nvSpPr>
          <p:cNvPr id="506" name="Google Shape;506;g3d46f7dc534_5_146"/>
          <p:cNvSpPr/>
          <p:nvPr/>
        </p:nvSpPr>
        <p:spPr>
          <a:xfrm>
            <a:off x="844050" y="3430930"/>
            <a:ext cx="2313900" cy="368100"/>
          </a:xfrm>
          <a:prstGeom prst="roundRect">
            <a:avLst>
              <a:gd fmla="val 5000" name="adj"/>
            </a:avLst>
          </a:prstGeom>
          <a:solidFill>
            <a:srgbClr val="FFFFFF"/>
          </a:solidFill>
          <a:ln>
            <a:noFill/>
          </a:ln>
          <a:effectLst>
            <a:outerShdw blurRad="35708" rotWithShape="0" dir="5400000" dist="20532">
              <a:srgbClr val="000000">
                <a:alpha val="34900"/>
              </a:srgbClr>
            </a:outerShdw>
          </a:effectLst>
        </p:spPr>
        <p:txBody>
          <a:bodyPr anchorCtr="0" anchor="ctr" bIns="40800" lIns="96400" spcFirstLastPara="1" rIns="81625" wrap="square" tIns="40800">
            <a:noAutofit/>
          </a:bodyPr>
          <a:lstStyle/>
          <a:p>
            <a:pPr indent="0" lvl="0" marL="0" rtl="0" algn="l">
              <a:spcBef>
                <a:spcPts val="0"/>
              </a:spcBef>
              <a:spcAft>
                <a:spcPts val="0"/>
              </a:spcAft>
              <a:buClr>
                <a:schemeClr val="dk1"/>
              </a:buClr>
              <a:buSzPts val="982"/>
              <a:buFont typeface="Arial"/>
              <a:buNone/>
            </a:pPr>
            <a:r>
              <a:rPr b="1" lang="en-US" sz="714">
                <a:latin typeface="Rubik"/>
                <a:ea typeface="Rubik"/>
                <a:cs typeface="Rubik"/>
                <a:sym typeface="Rubik"/>
              </a:rPr>
              <a:t>Les opérateurs gèrent les incidents </a:t>
            </a:r>
            <a:r>
              <a:rPr b="1" lang="en-US" sz="714">
                <a:solidFill>
                  <a:srgbClr val="26DBE0"/>
                </a:solidFill>
                <a:latin typeface="Rubik"/>
                <a:ea typeface="Rubik"/>
                <a:cs typeface="Rubik"/>
                <a:sym typeface="Rubik"/>
              </a:rPr>
              <a:t>de façon réactive</a:t>
            </a:r>
            <a:endParaRPr b="1" sz="714">
              <a:solidFill>
                <a:srgbClr val="26DBE0"/>
              </a:solidFill>
              <a:latin typeface="Rubik"/>
              <a:ea typeface="Rubik"/>
              <a:cs typeface="Rubik"/>
              <a:sym typeface="Rubik"/>
            </a:endParaRPr>
          </a:p>
        </p:txBody>
      </p:sp>
      <p:sp>
        <p:nvSpPr>
          <p:cNvPr id="507" name="Google Shape;507;g3d46f7dc534_5_146"/>
          <p:cNvSpPr/>
          <p:nvPr/>
        </p:nvSpPr>
        <p:spPr>
          <a:xfrm>
            <a:off x="3415044" y="2984255"/>
            <a:ext cx="2313900" cy="368100"/>
          </a:xfrm>
          <a:prstGeom prst="roundRect">
            <a:avLst>
              <a:gd fmla="val 5000" name="adj"/>
            </a:avLst>
          </a:prstGeom>
          <a:solidFill>
            <a:srgbClr val="FFFFFF"/>
          </a:solidFill>
          <a:ln>
            <a:noFill/>
          </a:ln>
          <a:effectLst>
            <a:outerShdw blurRad="35708" rotWithShape="0" dir="5400000" dist="20532">
              <a:srgbClr val="000000">
                <a:alpha val="34900"/>
              </a:srgbClr>
            </a:outerShdw>
          </a:effectLst>
        </p:spPr>
        <p:txBody>
          <a:bodyPr anchorCtr="0" anchor="ctr" bIns="40800" lIns="96400" spcFirstLastPara="1" rIns="81625" wrap="square" tIns="40800">
            <a:noAutofit/>
          </a:bodyPr>
          <a:lstStyle/>
          <a:p>
            <a:pPr indent="0" lvl="0" marL="0" marR="0" rtl="0" algn="l">
              <a:lnSpc>
                <a:spcPct val="100000"/>
              </a:lnSpc>
              <a:spcBef>
                <a:spcPts val="0"/>
              </a:spcBef>
              <a:spcAft>
                <a:spcPts val="0"/>
              </a:spcAft>
              <a:buClr>
                <a:srgbClr val="000000"/>
              </a:buClr>
              <a:buSzPts val="670"/>
              <a:buFont typeface="Arial"/>
              <a:buNone/>
            </a:pPr>
            <a:r>
              <a:rPr b="1" lang="en-US" sz="714">
                <a:solidFill>
                  <a:srgbClr val="A329DE"/>
                </a:solidFill>
                <a:latin typeface="Rubik"/>
                <a:ea typeface="Rubik"/>
                <a:cs typeface="Rubik"/>
                <a:sym typeface="Rubik"/>
              </a:rPr>
              <a:t>Ingestion</a:t>
            </a:r>
            <a:r>
              <a:rPr b="1" lang="en-US" sz="714">
                <a:latin typeface="Rubik"/>
                <a:ea typeface="Rubik"/>
                <a:cs typeface="Rubik"/>
                <a:sym typeface="Rubik"/>
              </a:rPr>
              <a:t>  des données transport &amp; météo en continu</a:t>
            </a:r>
            <a:endParaRPr b="0" i="0" sz="714" u="none" cap="none" strike="noStrike">
              <a:solidFill>
                <a:srgbClr val="000000"/>
              </a:solidFill>
              <a:latin typeface="Arial"/>
              <a:ea typeface="Arial"/>
              <a:cs typeface="Arial"/>
              <a:sym typeface="Arial"/>
            </a:endParaRPr>
          </a:p>
        </p:txBody>
      </p:sp>
      <p:sp>
        <p:nvSpPr>
          <p:cNvPr id="508" name="Google Shape;508;g3d46f7dc534_5_146"/>
          <p:cNvSpPr/>
          <p:nvPr/>
        </p:nvSpPr>
        <p:spPr>
          <a:xfrm>
            <a:off x="3415044" y="3430930"/>
            <a:ext cx="2313900" cy="368100"/>
          </a:xfrm>
          <a:prstGeom prst="roundRect">
            <a:avLst>
              <a:gd fmla="val 5000" name="adj"/>
            </a:avLst>
          </a:prstGeom>
          <a:solidFill>
            <a:srgbClr val="FFFFFF"/>
          </a:solidFill>
          <a:ln>
            <a:noFill/>
          </a:ln>
          <a:effectLst>
            <a:outerShdw blurRad="35708" rotWithShape="0" dir="5400000" dist="20532">
              <a:srgbClr val="000000">
                <a:alpha val="34900"/>
              </a:srgbClr>
            </a:outerShdw>
          </a:effectLst>
        </p:spPr>
        <p:txBody>
          <a:bodyPr anchorCtr="0" anchor="ctr" bIns="40800" lIns="96400" spcFirstLastPara="1" rIns="81625" wrap="square" tIns="40800">
            <a:noAutofit/>
          </a:bodyPr>
          <a:lstStyle/>
          <a:p>
            <a:pPr indent="0" lvl="0" marL="0" rtl="0" algn="l">
              <a:spcBef>
                <a:spcPts val="0"/>
              </a:spcBef>
              <a:spcAft>
                <a:spcPts val="0"/>
              </a:spcAft>
              <a:buClr>
                <a:schemeClr val="dk1"/>
              </a:buClr>
              <a:buSzPts val="670"/>
              <a:buFont typeface="Arial"/>
              <a:buNone/>
            </a:pPr>
            <a:r>
              <a:rPr b="1" lang="en-US" sz="714">
                <a:solidFill>
                  <a:srgbClr val="A329DE"/>
                </a:solidFill>
                <a:latin typeface="Rubik"/>
                <a:ea typeface="Rubik"/>
                <a:cs typeface="Rubik"/>
                <a:sym typeface="Rubik"/>
              </a:rPr>
              <a:t>Prédictions de retard</a:t>
            </a:r>
            <a:r>
              <a:rPr b="1" lang="en-US" sz="714">
                <a:solidFill>
                  <a:schemeClr val="dk1"/>
                </a:solidFill>
                <a:latin typeface="Rubik"/>
                <a:ea typeface="Rubik"/>
                <a:cs typeface="Rubik"/>
                <a:sym typeface="Rubik"/>
              </a:rPr>
              <a:t>, s</a:t>
            </a:r>
            <a:r>
              <a:rPr b="1" lang="en-US" sz="714">
                <a:solidFill>
                  <a:schemeClr val="dk1"/>
                </a:solidFill>
                <a:latin typeface="Rubik"/>
                <a:ea typeface="Rubik"/>
                <a:cs typeface="Rubik"/>
                <a:sym typeface="Rubik"/>
              </a:rPr>
              <a:t>urveillance  et alertes automatiques  en production</a:t>
            </a:r>
            <a:endParaRPr b="1" sz="714">
              <a:latin typeface="Rubik"/>
              <a:ea typeface="Rubik"/>
              <a:cs typeface="Rubik"/>
              <a:sym typeface="Rubik"/>
            </a:endParaRPr>
          </a:p>
        </p:txBody>
      </p:sp>
      <p:sp>
        <p:nvSpPr>
          <p:cNvPr id="509" name="Google Shape;509;g3d46f7dc534_5_146"/>
          <p:cNvSpPr/>
          <p:nvPr/>
        </p:nvSpPr>
        <p:spPr>
          <a:xfrm>
            <a:off x="5986039" y="2984255"/>
            <a:ext cx="2313900" cy="368100"/>
          </a:xfrm>
          <a:prstGeom prst="roundRect">
            <a:avLst>
              <a:gd fmla="val 5000" name="adj"/>
            </a:avLst>
          </a:prstGeom>
          <a:solidFill>
            <a:srgbClr val="FFFFFF"/>
          </a:solidFill>
          <a:ln>
            <a:noFill/>
          </a:ln>
          <a:effectLst>
            <a:outerShdw blurRad="35708" rotWithShape="0" dir="5400000" dist="20532">
              <a:srgbClr val="000000">
                <a:alpha val="34900"/>
              </a:srgbClr>
            </a:outerShdw>
          </a:effectLst>
        </p:spPr>
        <p:txBody>
          <a:bodyPr anchorCtr="0" anchor="ctr" bIns="40800" lIns="96400" spcFirstLastPara="1" rIns="81625" wrap="square" tIns="40800">
            <a:noAutofit/>
          </a:bodyPr>
          <a:lstStyle/>
          <a:p>
            <a:pPr indent="0" lvl="0" marL="0" marR="0" rtl="0" algn="l">
              <a:lnSpc>
                <a:spcPct val="100000"/>
              </a:lnSpc>
              <a:spcBef>
                <a:spcPts val="0"/>
              </a:spcBef>
              <a:spcAft>
                <a:spcPts val="0"/>
              </a:spcAft>
              <a:buClr>
                <a:srgbClr val="000000"/>
              </a:buClr>
              <a:buSzPts val="670"/>
              <a:buFont typeface="Arial"/>
              <a:buNone/>
            </a:pPr>
            <a:r>
              <a:rPr b="1" lang="en-US" sz="714">
                <a:latin typeface="Rubik"/>
                <a:ea typeface="Rubik"/>
                <a:cs typeface="Rubik"/>
                <a:sym typeface="Rubik"/>
              </a:rPr>
              <a:t>Bus 541 — </a:t>
            </a:r>
            <a:r>
              <a:rPr b="1" lang="en-US" sz="714">
                <a:solidFill>
                  <a:srgbClr val="282AFF"/>
                </a:solidFill>
                <a:latin typeface="Rubik"/>
                <a:ea typeface="Rubik"/>
                <a:cs typeface="Rubik"/>
                <a:sym typeface="Rubik"/>
              </a:rPr>
              <a:t>Stockholm</a:t>
            </a:r>
            <a:r>
              <a:rPr b="1" lang="en-US" sz="714">
                <a:latin typeface="Rubik"/>
                <a:ea typeface="Rubik"/>
                <a:cs typeface="Rubik"/>
                <a:sym typeface="Rubik"/>
              </a:rPr>
              <a:t> (Trafikverket / KöDa API)</a:t>
            </a:r>
            <a:endParaRPr b="0" i="0" sz="714" u="none" cap="none" strike="noStrike">
              <a:solidFill>
                <a:srgbClr val="000000"/>
              </a:solidFill>
              <a:latin typeface="Arial"/>
              <a:ea typeface="Arial"/>
              <a:cs typeface="Arial"/>
              <a:sym typeface="Arial"/>
            </a:endParaRPr>
          </a:p>
        </p:txBody>
      </p:sp>
      <p:sp>
        <p:nvSpPr>
          <p:cNvPr id="510" name="Google Shape;510;g3d46f7dc534_5_146"/>
          <p:cNvSpPr/>
          <p:nvPr/>
        </p:nvSpPr>
        <p:spPr>
          <a:xfrm>
            <a:off x="5986039" y="3430930"/>
            <a:ext cx="2313900" cy="368100"/>
          </a:xfrm>
          <a:prstGeom prst="roundRect">
            <a:avLst>
              <a:gd fmla="val 5000" name="adj"/>
            </a:avLst>
          </a:prstGeom>
          <a:solidFill>
            <a:srgbClr val="FFFFFF"/>
          </a:solidFill>
          <a:ln>
            <a:noFill/>
          </a:ln>
          <a:effectLst>
            <a:outerShdw blurRad="35708" rotWithShape="0" dir="5400000" dist="20532">
              <a:srgbClr val="000000">
                <a:alpha val="34900"/>
              </a:srgbClr>
            </a:outerShdw>
          </a:effectLst>
        </p:spPr>
        <p:txBody>
          <a:bodyPr anchorCtr="0" anchor="ctr" bIns="40800" lIns="96400" spcFirstLastPara="1" rIns="81625" wrap="square" tIns="40800">
            <a:noAutofit/>
          </a:bodyPr>
          <a:lstStyle/>
          <a:p>
            <a:pPr indent="0" lvl="0" marL="0" rtl="0" algn="l">
              <a:spcBef>
                <a:spcPts val="0"/>
              </a:spcBef>
              <a:spcAft>
                <a:spcPts val="0"/>
              </a:spcAft>
              <a:buClr>
                <a:schemeClr val="dk1"/>
              </a:buClr>
              <a:buSzPts val="670"/>
              <a:buFont typeface="Arial"/>
              <a:buNone/>
            </a:pPr>
            <a:r>
              <a:rPr b="1" lang="en-US" sz="714">
                <a:solidFill>
                  <a:srgbClr val="282AFF"/>
                </a:solidFill>
                <a:latin typeface="Rubik"/>
                <a:ea typeface="Rubik"/>
                <a:cs typeface="Rubik"/>
                <a:sym typeface="Rubik"/>
              </a:rPr>
              <a:t>3 niveaux de confiance</a:t>
            </a:r>
            <a:r>
              <a:rPr b="1" lang="en-US" sz="714">
                <a:solidFill>
                  <a:schemeClr val="dk1"/>
                </a:solidFill>
                <a:latin typeface="Rubik"/>
                <a:ea typeface="Rubik"/>
                <a:cs typeface="Rubik"/>
                <a:sym typeface="Rubik"/>
              </a:rPr>
              <a:t> : P50 · P80 · P90</a:t>
            </a:r>
            <a:endParaRPr b="1" sz="714">
              <a:latin typeface="Rubik"/>
              <a:ea typeface="Rubik"/>
              <a:cs typeface="Rubik"/>
              <a:sym typeface="Rubik"/>
            </a:endParaRPr>
          </a:p>
        </p:txBody>
      </p:sp>
      <p:sp>
        <p:nvSpPr>
          <p:cNvPr id="511" name="Google Shape;511;g3d46f7dc534_5_146"/>
          <p:cNvSpPr/>
          <p:nvPr/>
        </p:nvSpPr>
        <p:spPr>
          <a:xfrm>
            <a:off x="4672686" y="4450550"/>
            <a:ext cx="40392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marR="0" rtl="0" algn="ctr">
              <a:lnSpc>
                <a:spcPct val="100000"/>
              </a:lnSpc>
              <a:spcBef>
                <a:spcPts val="0"/>
              </a:spcBef>
              <a:spcAft>
                <a:spcPts val="0"/>
              </a:spcAft>
              <a:buClr>
                <a:srgbClr val="000000"/>
              </a:buClr>
              <a:buSzPts val="1204"/>
              <a:buFont typeface="Arial"/>
              <a:buNone/>
            </a:pPr>
            <a:r>
              <a:rPr b="1" lang="en-US" sz="900">
                <a:solidFill>
                  <a:schemeClr val="accent6"/>
                </a:solidFill>
                <a:latin typeface="Rubik"/>
                <a:ea typeface="Rubik"/>
                <a:cs typeface="Rubik"/>
                <a:sym typeface="Rubik"/>
              </a:rPr>
              <a:t>80%</a:t>
            </a:r>
            <a:r>
              <a:rPr b="1" lang="en-US" sz="900">
                <a:latin typeface="Rubik"/>
                <a:ea typeface="Rubik"/>
                <a:cs typeface="Rubik"/>
                <a:sym typeface="Rubik"/>
              </a:rPr>
              <a:t> utilisent des moyens digitaux pour organiser leurs trajets</a:t>
            </a:r>
            <a:endParaRPr b="1" sz="900">
              <a:latin typeface="Rubik"/>
              <a:ea typeface="Rubik"/>
              <a:cs typeface="Rubik"/>
              <a:sym typeface="Rubik"/>
            </a:endParaRPr>
          </a:p>
        </p:txBody>
      </p:sp>
      <p:sp>
        <p:nvSpPr>
          <p:cNvPr id="512" name="Google Shape;512;g3d46f7dc534_5_146"/>
          <p:cNvSpPr/>
          <p:nvPr/>
        </p:nvSpPr>
        <p:spPr>
          <a:xfrm>
            <a:off x="401831" y="4450550"/>
            <a:ext cx="40392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marR="0" rtl="0" algn="ctr">
              <a:lnSpc>
                <a:spcPct val="100000"/>
              </a:lnSpc>
              <a:spcBef>
                <a:spcPts val="0"/>
              </a:spcBef>
              <a:spcAft>
                <a:spcPts val="0"/>
              </a:spcAft>
              <a:buClr>
                <a:srgbClr val="000000"/>
              </a:buClr>
              <a:buSzPts val="1204"/>
              <a:buFont typeface="Arial"/>
              <a:buNone/>
            </a:pPr>
            <a:r>
              <a:rPr b="1" lang="en-US" sz="900">
                <a:solidFill>
                  <a:schemeClr val="accent6"/>
                </a:solidFill>
                <a:latin typeface="Rubik"/>
                <a:ea typeface="Rubik"/>
                <a:cs typeface="Rubik"/>
                <a:sym typeface="Rubik"/>
              </a:rPr>
              <a:t>81%</a:t>
            </a:r>
            <a:r>
              <a:rPr b="1" lang="en-US" sz="900">
                <a:latin typeface="Rubik"/>
                <a:ea typeface="Rubik"/>
                <a:cs typeface="Rubik"/>
                <a:sym typeface="Rubik"/>
              </a:rPr>
              <a:t> des Européens utilisent les transports publics</a:t>
            </a:r>
            <a:endParaRPr b="1" sz="900">
              <a:latin typeface="Rubik"/>
              <a:ea typeface="Rubik"/>
              <a:cs typeface="Rubik"/>
              <a:sym typeface="Rubik"/>
            </a:endParaRPr>
          </a:p>
        </p:txBody>
      </p:sp>
      <p:sp>
        <p:nvSpPr>
          <p:cNvPr id="513" name="Google Shape;513;g3d46f7dc534_5_146"/>
          <p:cNvSpPr/>
          <p:nvPr/>
        </p:nvSpPr>
        <p:spPr>
          <a:xfrm>
            <a:off x="401811" y="4083350"/>
            <a:ext cx="3015900" cy="367200"/>
          </a:xfrm>
          <a:prstGeom prst="rect">
            <a:avLst/>
          </a:prstGeom>
          <a:solidFill>
            <a:schemeClr val="accent6"/>
          </a:solidFill>
          <a:ln>
            <a:noFill/>
          </a:ln>
          <a:effectLst>
            <a:outerShdw blurRad="27201" rotWithShape="0" dir="5400000" dist="15640">
              <a:srgbClr val="000000">
                <a:alpha val="34900"/>
              </a:srgbClr>
            </a:outerShdw>
          </a:effectLst>
        </p:spPr>
        <p:txBody>
          <a:bodyPr anchorCtr="0" anchor="ctr" bIns="31075" lIns="62175" spcFirstLastPara="1" rIns="62175" wrap="square" tIns="31075">
            <a:noAutofit/>
          </a:bodyPr>
          <a:lstStyle/>
          <a:p>
            <a:pPr indent="0" lvl="0" marL="0" marR="0" rtl="0" algn="ctr">
              <a:lnSpc>
                <a:spcPct val="100000"/>
              </a:lnSpc>
              <a:spcBef>
                <a:spcPts val="0"/>
              </a:spcBef>
              <a:spcAft>
                <a:spcPts val="0"/>
              </a:spcAft>
              <a:buClr>
                <a:srgbClr val="000000"/>
              </a:buClr>
              <a:buSzPts val="1224"/>
              <a:buFont typeface="Arial"/>
              <a:buNone/>
            </a:pPr>
            <a:r>
              <a:rPr b="1" lang="en-US" sz="1224">
                <a:solidFill>
                  <a:schemeClr val="lt1"/>
                </a:solidFill>
                <a:latin typeface="Rubik"/>
                <a:ea typeface="Rubik"/>
                <a:cs typeface="Rubik"/>
                <a:sym typeface="Rubik"/>
              </a:rPr>
              <a:t>QUELQUES STATISTIQUES</a:t>
            </a:r>
            <a:endParaRPr b="0" i="0" sz="952" u="none" cap="none" strike="noStrike">
              <a:solidFill>
                <a:schemeClr val="lt1"/>
              </a:solidFill>
              <a:latin typeface="Arial"/>
              <a:ea typeface="Arial"/>
              <a:cs typeface="Arial"/>
              <a:sym typeface="Arial"/>
            </a:endParaRPr>
          </a:p>
        </p:txBody>
      </p:sp>
      <p:sp>
        <p:nvSpPr>
          <p:cNvPr id="514" name="Google Shape;514;g3d46f7dc534_5_146"/>
          <p:cNvSpPr/>
          <p:nvPr/>
        </p:nvSpPr>
        <p:spPr>
          <a:xfrm>
            <a:off x="365710" y="4884050"/>
            <a:ext cx="8412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88"/>
              </a:buClr>
              <a:buSzPts val="800"/>
              <a:buFont typeface="Calibri"/>
              <a:buNone/>
            </a:pPr>
            <a:r>
              <a:rPr b="0" i="1" lang="en-US" sz="800" u="none" cap="none" strike="noStrike">
                <a:solidFill>
                  <a:srgbClr val="888888"/>
                </a:solidFill>
                <a:latin typeface="Calibri"/>
                <a:ea typeface="Calibri"/>
                <a:cs typeface="Calibri"/>
                <a:sym typeface="Calibri"/>
              </a:rPr>
              <a:t>Source : Étude Ipsos « Usage et perception des transports publics », sept. 2024 — Paris, Stockholm, Madrid, Varsovie, Berlin</a:t>
            </a:r>
            <a:endParaRPr b="0" i="0" sz="800" u="none" cap="none" strike="noStrike">
              <a:solidFill>
                <a:srgbClr val="000000"/>
              </a:solidFill>
              <a:latin typeface="Calibri"/>
              <a:ea typeface="Calibri"/>
              <a:cs typeface="Calibri"/>
              <a:sym typeface="Calibri"/>
            </a:endParaRPr>
          </a:p>
        </p:txBody>
      </p:sp>
      <p:pic>
        <p:nvPicPr>
          <p:cNvPr id="515" name="Google Shape;515;g3d46f7dc534_5_146"/>
          <p:cNvPicPr preferRelativeResize="0"/>
          <p:nvPr/>
        </p:nvPicPr>
        <p:blipFill>
          <a:blip r:embed="rId3">
            <a:alphaModFix/>
          </a:blip>
          <a:stretch>
            <a:fillRect/>
          </a:stretch>
        </p:blipFill>
        <p:spPr>
          <a:xfrm>
            <a:off x="3951700" y="1078151"/>
            <a:ext cx="1272676" cy="992650"/>
          </a:xfrm>
          <a:prstGeom prst="rect">
            <a:avLst/>
          </a:prstGeom>
          <a:noFill/>
          <a:ln>
            <a:noFill/>
          </a:ln>
        </p:spPr>
      </p:pic>
      <p:pic>
        <p:nvPicPr>
          <p:cNvPr id="516" name="Google Shape;516;g3d46f7dc534_5_146"/>
          <p:cNvPicPr preferRelativeResize="0"/>
          <p:nvPr/>
        </p:nvPicPr>
        <p:blipFill>
          <a:blip r:embed="rId4">
            <a:alphaModFix/>
          </a:blip>
          <a:stretch>
            <a:fillRect/>
          </a:stretch>
        </p:blipFill>
        <p:spPr>
          <a:xfrm>
            <a:off x="1465175" y="1007075"/>
            <a:ext cx="1071641" cy="1134827"/>
          </a:xfrm>
          <a:prstGeom prst="rect">
            <a:avLst/>
          </a:prstGeom>
          <a:noFill/>
          <a:ln>
            <a:noFill/>
          </a:ln>
        </p:spPr>
      </p:pic>
      <p:pic>
        <p:nvPicPr>
          <p:cNvPr id="517" name="Google Shape;517;g3d46f7dc534_5_146"/>
          <p:cNvPicPr preferRelativeResize="0"/>
          <p:nvPr/>
        </p:nvPicPr>
        <p:blipFill>
          <a:blip r:embed="rId5">
            <a:alphaModFix/>
          </a:blip>
          <a:stretch>
            <a:fillRect/>
          </a:stretch>
        </p:blipFill>
        <p:spPr>
          <a:xfrm>
            <a:off x="6522712" y="1062724"/>
            <a:ext cx="1272676" cy="10537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521" name="Shape 521"/>
        <p:cNvGrpSpPr/>
        <p:nvPr/>
      </p:nvGrpSpPr>
      <p:grpSpPr>
        <a:xfrm>
          <a:off x="0" y="0"/>
          <a:ext cx="0" cy="0"/>
          <a:chOff x="0" y="0"/>
          <a:chExt cx="0" cy="0"/>
        </a:xfrm>
      </p:grpSpPr>
      <p:sp>
        <p:nvSpPr>
          <p:cNvPr id="522" name="Google Shape;522;g3d46f7dc534_5_111"/>
          <p:cNvSpPr/>
          <p:nvPr/>
        </p:nvSpPr>
        <p:spPr>
          <a:xfrm>
            <a:off x="936000" y="396000"/>
            <a:ext cx="5544000" cy="540000"/>
          </a:xfrm>
          <a:prstGeom prst="rect">
            <a:avLst/>
          </a:prstGeom>
          <a:solidFill>
            <a:srgbClr val="A329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3" name="Google Shape;523;g3d46f7dc534_5_111"/>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US" sz="1800">
                <a:latin typeface="Rubik"/>
                <a:ea typeface="Rubik"/>
                <a:cs typeface="Rubik"/>
                <a:sym typeface="Rubik"/>
              </a:rPr>
              <a:t>ARCHITECTURE - PROOF OF CONCEPT</a:t>
            </a:r>
            <a:endParaRPr b="0" i="0" sz="1400" u="none" cap="none" strike="noStrike">
              <a:solidFill>
                <a:srgbClr val="000000"/>
              </a:solidFill>
              <a:latin typeface="Arial"/>
              <a:ea typeface="Arial"/>
              <a:cs typeface="Arial"/>
              <a:sym typeface="Arial"/>
            </a:endParaRPr>
          </a:p>
        </p:txBody>
      </p:sp>
      <p:pic>
        <p:nvPicPr>
          <p:cNvPr id="524" name="Google Shape;524;g3d46f7dc534_5_111"/>
          <p:cNvPicPr preferRelativeResize="0"/>
          <p:nvPr/>
        </p:nvPicPr>
        <p:blipFill>
          <a:blip r:embed="rId3">
            <a:alphaModFix/>
          </a:blip>
          <a:stretch>
            <a:fillRect/>
          </a:stretch>
        </p:blipFill>
        <p:spPr>
          <a:xfrm>
            <a:off x="535775" y="654825"/>
            <a:ext cx="8226602" cy="46274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528" name="Shape 528"/>
        <p:cNvGrpSpPr/>
        <p:nvPr/>
      </p:nvGrpSpPr>
      <p:grpSpPr>
        <a:xfrm>
          <a:off x="0" y="0"/>
          <a:ext cx="0" cy="0"/>
          <a:chOff x="0" y="0"/>
          <a:chExt cx="0" cy="0"/>
        </a:xfrm>
      </p:grpSpPr>
      <p:sp>
        <p:nvSpPr>
          <p:cNvPr id="529" name="Google Shape;529;g3d46f7dc534_5_219"/>
          <p:cNvSpPr/>
          <p:nvPr/>
        </p:nvSpPr>
        <p:spPr>
          <a:xfrm>
            <a:off x="936000" y="396000"/>
            <a:ext cx="5544000" cy="540000"/>
          </a:xfrm>
          <a:prstGeom prst="rect">
            <a:avLst/>
          </a:prstGeom>
          <a:solidFill>
            <a:srgbClr val="A329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0" name="Google Shape;530;g3d46f7dc534_5_219"/>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800">
                <a:latin typeface="Rubik"/>
                <a:ea typeface="Rubik"/>
                <a:cs typeface="Rubik"/>
                <a:sym typeface="Rubik"/>
              </a:rPr>
              <a:t>DÉMONSTRATION - PROOF OF CONCEPT</a:t>
            </a:r>
            <a:endParaRPr b="1" sz="1800">
              <a:latin typeface="Rubik"/>
              <a:ea typeface="Rubik"/>
              <a:cs typeface="Rubik"/>
              <a:sym typeface="Rubik"/>
            </a:endParaRPr>
          </a:p>
        </p:txBody>
      </p:sp>
      <p:pic>
        <p:nvPicPr>
          <p:cNvPr descr="Cette vidéo est une démonstration de l'implémentation du projet Delay Forecast par Mathis Genthon dans le cadre de l'examen pour la certification RNCP38777 - Architecte en Intelligence Artificielle (niveau 7, équivalent BAC+5)" id="531" name="Google Shape;531;g3d46f7dc534_5_219" title="Démo du projet Delay Forecast">
            <a:hlinkClick r:id="rId3"/>
          </p:cNvPr>
          <p:cNvPicPr preferRelativeResize="0"/>
          <p:nvPr/>
        </p:nvPicPr>
        <p:blipFill>
          <a:blip r:embed="rId4">
            <a:alphaModFix/>
          </a:blip>
          <a:stretch>
            <a:fillRect/>
          </a:stretch>
        </p:blipFill>
        <p:spPr>
          <a:xfrm>
            <a:off x="904925" y="995431"/>
            <a:ext cx="7334128" cy="4125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1000"/>
                                        <p:tgtEl>
                                          <p:spTgt spid="5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535" name="Shape 535"/>
        <p:cNvGrpSpPr/>
        <p:nvPr/>
      </p:nvGrpSpPr>
      <p:grpSpPr>
        <a:xfrm>
          <a:off x="0" y="0"/>
          <a:ext cx="0" cy="0"/>
          <a:chOff x="0" y="0"/>
          <a:chExt cx="0" cy="0"/>
        </a:xfrm>
      </p:grpSpPr>
      <p:sp>
        <p:nvSpPr>
          <p:cNvPr id="536" name="Google Shape;536;g3d46f7dc534_5_353"/>
          <p:cNvSpPr/>
          <p:nvPr/>
        </p:nvSpPr>
        <p:spPr>
          <a:xfrm>
            <a:off x="367875" y="1705100"/>
            <a:ext cx="1754700" cy="324000"/>
          </a:xfrm>
          <a:prstGeom prst="roundRect">
            <a:avLst>
              <a:gd fmla="val 5000" name="adj"/>
            </a:avLst>
          </a:prstGeom>
          <a:solidFill>
            <a:srgbClr val="282A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Modèle</a:t>
            </a:r>
            <a:endParaRPr b="0" i="0" sz="1400" u="none" cap="none" strike="noStrike">
              <a:solidFill>
                <a:srgbClr val="000000"/>
              </a:solidFill>
              <a:latin typeface="Arial"/>
              <a:ea typeface="Arial"/>
              <a:cs typeface="Arial"/>
              <a:sym typeface="Arial"/>
            </a:endParaRPr>
          </a:p>
        </p:txBody>
      </p:sp>
      <p:sp>
        <p:nvSpPr>
          <p:cNvPr id="537" name="Google Shape;537;g3d46f7dc534_5_353"/>
          <p:cNvSpPr/>
          <p:nvPr/>
        </p:nvSpPr>
        <p:spPr>
          <a:xfrm>
            <a:off x="2217652" y="1705100"/>
            <a:ext cx="2103900" cy="324000"/>
          </a:xfrm>
          <a:prstGeom prst="roundRect">
            <a:avLst>
              <a:gd fmla="val 5000" name="adj"/>
            </a:avLst>
          </a:prstGeom>
          <a:solidFill>
            <a:srgbClr val="282A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Utilisateur</a:t>
            </a:r>
            <a:r>
              <a:rPr b="1" lang="en-US" sz="1000">
                <a:solidFill>
                  <a:srgbClr val="FFFFFF"/>
                </a:solidFill>
                <a:latin typeface="Rubik"/>
                <a:ea typeface="Rubik"/>
                <a:cs typeface="Rubik"/>
                <a:sym typeface="Rubik"/>
              </a:rPr>
              <a:t> concerné</a:t>
            </a:r>
            <a:endParaRPr b="0" i="0" sz="1400" u="none" cap="none" strike="noStrike">
              <a:solidFill>
                <a:srgbClr val="000000"/>
              </a:solidFill>
              <a:latin typeface="Arial"/>
              <a:ea typeface="Arial"/>
              <a:cs typeface="Arial"/>
              <a:sym typeface="Arial"/>
            </a:endParaRPr>
          </a:p>
        </p:txBody>
      </p:sp>
      <p:sp>
        <p:nvSpPr>
          <p:cNvPr id="538" name="Google Shape;538;g3d46f7dc534_5_353"/>
          <p:cNvSpPr/>
          <p:nvPr/>
        </p:nvSpPr>
        <p:spPr>
          <a:xfrm>
            <a:off x="4424409" y="1705100"/>
            <a:ext cx="2055600" cy="324000"/>
          </a:xfrm>
          <a:prstGeom prst="roundRect">
            <a:avLst>
              <a:gd fmla="val 5000" name="adj"/>
            </a:avLst>
          </a:prstGeom>
          <a:solidFill>
            <a:srgbClr val="282A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lang="en-US" sz="1000">
                <a:solidFill>
                  <a:srgbClr val="FFFFFF"/>
                </a:solidFill>
                <a:latin typeface="Rubik"/>
                <a:ea typeface="Rubik"/>
                <a:cs typeface="Rubik"/>
                <a:sym typeface="Rubik"/>
              </a:rPr>
              <a:t>Question</a:t>
            </a:r>
            <a:endParaRPr b="0" i="0" sz="1400" u="none" cap="none" strike="noStrike">
              <a:solidFill>
                <a:srgbClr val="000000"/>
              </a:solidFill>
              <a:latin typeface="Arial"/>
              <a:ea typeface="Arial"/>
              <a:cs typeface="Arial"/>
              <a:sym typeface="Arial"/>
            </a:endParaRPr>
          </a:p>
        </p:txBody>
      </p:sp>
      <p:sp>
        <p:nvSpPr>
          <p:cNvPr id="539" name="Google Shape;539;g3d46f7dc534_5_353"/>
          <p:cNvSpPr/>
          <p:nvPr/>
        </p:nvSpPr>
        <p:spPr>
          <a:xfrm>
            <a:off x="367875" y="2101100"/>
            <a:ext cx="17547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solidFill>
                  <a:srgbClr val="A329DE"/>
                </a:solidFill>
                <a:latin typeface="Rubik"/>
                <a:ea typeface="Rubik"/>
                <a:cs typeface="Rubik"/>
                <a:sym typeface="Rubik"/>
              </a:rPr>
              <a:t>P50</a:t>
            </a:r>
            <a:r>
              <a:rPr b="1" lang="en-US" sz="900">
                <a:latin typeface="Rubik"/>
                <a:ea typeface="Rubik"/>
                <a:cs typeface="Rubik"/>
                <a:sym typeface="Rubik"/>
              </a:rPr>
              <a:t> — MÉDIANE</a:t>
            </a:r>
            <a:endParaRPr b="1" sz="900">
              <a:latin typeface="Rubik"/>
              <a:ea typeface="Rubik"/>
              <a:cs typeface="Rubik"/>
              <a:sym typeface="Rubik"/>
            </a:endParaRPr>
          </a:p>
        </p:txBody>
      </p:sp>
      <p:sp>
        <p:nvSpPr>
          <p:cNvPr id="540" name="Google Shape;540;g3d46f7dc534_5_353"/>
          <p:cNvSpPr/>
          <p:nvPr/>
        </p:nvSpPr>
        <p:spPr>
          <a:xfrm>
            <a:off x="2217652" y="2101100"/>
            <a:ext cx="2103900" cy="324000"/>
          </a:xfrm>
          <a:prstGeom prst="roundRect">
            <a:avLst>
              <a:gd fmla="val 5000" name="adj"/>
            </a:avLst>
          </a:prstGeom>
          <a:solidFill>
            <a:srgbClr val="A329DE"/>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Pour le voyageur optimiste</a:t>
            </a:r>
            <a:endParaRPr b="1" sz="1000">
              <a:solidFill>
                <a:srgbClr val="FFFFFF"/>
              </a:solidFill>
              <a:latin typeface="Rubik"/>
              <a:ea typeface="Rubik"/>
              <a:cs typeface="Rubik"/>
              <a:sym typeface="Rubik"/>
            </a:endParaRPr>
          </a:p>
        </p:txBody>
      </p:sp>
      <p:sp>
        <p:nvSpPr>
          <p:cNvPr id="541" name="Google Shape;541;g3d46f7dc534_5_353"/>
          <p:cNvSpPr/>
          <p:nvPr/>
        </p:nvSpPr>
        <p:spPr>
          <a:xfrm>
            <a:off x="4416634" y="2092100"/>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"Retard probable ?"</a:t>
            </a:r>
            <a:endParaRPr b="1" sz="900">
              <a:latin typeface="Rubik"/>
              <a:ea typeface="Rubik"/>
              <a:cs typeface="Rubik"/>
              <a:sym typeface="Rubik"/>
            </a:endParaRPr>
          </a:p>
        </p:txBody>
      </p:sp>
      <p:sp>
        <p:nvSpPr>
          <p:cNvPr id="542" name="Google Shape;542;g3d46f7dc534_5_353"/>
          <p:cNvSpPr/>
          <p:nvPr/>
        </p:nvSpPr>
        <p:spPr>
          <a:xfrm>
            <a:off x="367875" y="2479100"/>
            <a:ext cx="17547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solidFill>
                  <a:srgbClr val="26DBE0"/>
                </a:solidFill>
                <a:latin typeface="Rubik"/>
                <a:ea typeface="Rubik"/>
                <a:cs typeface="Rubik"/>
                <a:sym typeface="Rubik"/>
              </a:rPr>
              <a:t>P80</a:t>
            </a:r>
            <a:r>
              <a:rPr b="1" lang="en-US" sz="900">
                <a:latin typeface="Rubik"/>
                <a:ea typeface="Rubik"/>
                <a:cs typeface="Rubik"/>
                <a:sym typeface="Rubik"/>
              </a:rPr>
              <a:t> — PESSIMISTE</a:t>
            </a:r>
            <a:endParaRPr b="1" sz="900">
              <a:latin typeface="Rubik"/>
              <a:ea typeface="Rubik"/>
              <a:cs typeface="Rubik"/>
              <a:sym typeface="Rubik"/>
            </a:endParaRPr>
          </a:p>
        </p:txBody>
      </p:sp>
      <p:sp>
        <p:nvSpPr>
          <p:cNvPr id="543" name="Google Shape;543;g3d46f7dc534_5_353"/>
          <p:cNvSpPr/>
          <p:nvPr/>
        </p:nvSpPr>
        <p:spPr>
          <a:xfrm>
            <a:off x="2217652" y="2479100"/>
            <a:ext cx="2103900" cy="324000"/>
          </a:xfrm>
          <a:prstGeom prst="roundRect">
            <a:avLst>
              <a:gd fmla="val 5000" name="adj"/>
            </a:avLst>
          </a:prstGeom>
          <a:solidFill>
            <a:srgbClr val="26DBE0"/>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Pour le voyageur prudent</a:t>
            </a:r>
            <a:endParaRPr b="1" sz="1000">
              <a:solidFill>
                <a:srgbClr val="FFFFFF"/>
              </a:solidFill>
              <a:latin typeface="Rubik"/>
              <a:ea typeface="Rubik"/>
              <a:cs typeface="Rubik"/>
              <a:sym typeface="Rubik"/>
            </a:endParaRPr>
          </a:p>
        </p:txBody>
      </p:sp>
      <p:sp>
        <p:nvSpPr>
          <p:cNvPr id="544" name="Google Shape;544;g3d46f7dc534_5_353"/>
          <p:cNvSpPr/>
          <p:nvPr/>
        </p:nvSpPr>
        <p:spPr>
          <a:xfrm>
            <a:off x="4424409" y="2479100"/>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"Dois-je prendre de la marge ?"</a:t>
            </a:r>
            <a:endParaRPr b="1" sz="900">
              <a:latin typeface="Rubik"/>
              <a:ea typeface="Rubik"/>
              <a:cs typeface="Rubik"/>
              <a:sym typeface="Rubik"/>
            </a:endParaRPr>
          </a:p>
        </p:txBody>
      </p:sp>
      <p:sp>
        <p:nvSpPr>
          <p:cNvPr id="545" name="Google Shape;545;g3d46f7dc534_5_353"/>
          <p:cNvSpPr/>
          <p:nvPr/>
        </p:nvSpPr>
        <p:spPr>
          <a:xfrm>
            <a:off x="367875" y="2857100"/>
            <a:ext cx="17547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solidFill>
                  <a:schemeClr val="accent6"/>
                </a:solidFill>
                <a:latin typeface="Rubik"/>
                <a:ea typeface="Rubik"/>
                <a:cs typeface="Rubik"/>
                <a:sym typeface="Rubik"/>
              </a:rPr>
              <a:t>P90</a:t>
            </a:r>
            <a:r>
              <a:rPr b="1" lang="en-US" sz="900">
                <a:latin typeface="Rubik"/>
                <a:ea typeface="Rubik"/>
                <a:cs typeface="Rubik"/>
                <a:sym typeface="Rubik"/>
              </a:rPr>
              <a:t> — EXTRÊME</a:t>
            </a:r>
            <a:endParaRPr b="1" sz="900">
              <a:latin typeface="Rubik"/>
              <a:ea typeface="Rubik"/>
              <a:cs typeface="Rubik"/>
              <a:sym typeface="Rubik"/>
            </a:endParaRPr>
          </a:p>
        </p:txBody>
      </p:sp>
      <p:sp>
        <p:nvSpPr>
          <p:cNvPr id="546" name="Google Shape;546;g3d46f7dc534_5_353"/>
          <p:cNvSpPr/>
          <p:nvPr/>
        </p:nvSpPr>
        <p:spPr>
          <a:xfrm>
            <a:off x="2217652" y="2857100"/>
            <a:ext cx="2103900" cy="324000"/>
          </a:xfrm>
          <a:prstGeom prst="roundRect">
            <a:avLst>
              <a:gd fmla="val 5000" name="adj"/>
            </a:avLst>
          </a:prstGeom>
          <a:solidFill>
            <a:schemeClr val="accent6"/>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Pour l'opérateur / SLA</a:t>
            </a:r>
            <a:endParaRPr b="1" sz="1000">
              <a:solidFill>
                <a:srgbClr val="FFFFFF"/>
              </a:solidFill>
              <a:latin typeface="Rubik"/>
              <a:ea typeface="Rubik"/>
              <a:cs typeface="Rubik"/>
              <a:sym typeface="Rubik"/>
            </a:endParaRPr>
          </a:p>
        </p:txBody>
      </p:sp>
      <p:sp>
        <p:nvSpPr>
          <p:cNvPr id="547" name="Google Shape;547;g3d46f7dc534_5_353"/>
          <p:cNvSpPr/>
          <p:nvPr/>
        </p:nvSpPr>
        <p:spPr>
          <a:xfrm>
            <a:off x="4424409" y="2857100"/>
            <a:ext cx="2055600" cy="3240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"Pire cas raisonnable ?"</a:t>
            </a:r>
            <a:endParaRPr b="1" sz="900">
              <a:latin typeface="Rubik"/>
              <a:ea typeface="Rubik"/>
              <a:cs typeface="Rubik"/>
              <a:sym typeface="Rubik"/>
            </a:endParaRPr>
          </a:p>
        </p:txBody>
      </p:sp>
      <p:sp>
        <p:nvSpPr>
          <p:cNvPr id="548" name="Google Shape;548;g3d46f7dc534_5_353"/>
          <p:cNvSpPr/>
          <p:nvPr/>
        </p:nvSpPr>
        <p:spPr>
          <a:xfrm>
            <a:off x="936000" y="396000"/>
            <a:ext cx="5544000" cy="540000"/>
          </a:xfrm>
          <a:prstGeom prst="rect">
            <a:avLst/>
          </a:prstGeom>
          <a:solidFill>
            <a:srgbClr val="A329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g3d46f7dc534_5_353"/>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800">
                <a:latin typeface="Rubik"/>
                <a:ea typeface="Rubik"/>
                <a:cs typeface="Rubik"/>
                <a:sym typeface="Rubik"/>
              </a:rPr>
              <a:t>MODÉLISATION - POURQUOI LE QUANTILE ? </a:t>
            </a:r>
            <a:endParaRPr b="1" sz="1800">
              <a:latin typeface="Rubik"/>
              <a:ea typeface="Rubik"/>
              <a:cs typeface="Rubik"/>
              <a:sym typeface="Rubik"/>
            </a:endParaRPr>
          </a:p>
        </p:txBody>
      </p:sp>
      <p:sp>
        <p:nvSpPr>
          <p:cNvPr id="550" name="Google Shape;550;g3d46f7dc534_5_353"/>
          <p:cNvSpPr/>
          <p:nvPr/>
        </p:nvSpPr>
        <p:spPr>
          <a:xfrm>
            <a:off x="936000" y="396000"/>
            <a:ext cx="5544000" cy="540000"/>
          </a:xfrm>
          <a:prstGeom prst="rect">
            <a:avLst/>
          </a:prstGeom>
          <a:solidFill>
            <a:srgbClr val="A329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g3d46f7dc534_5_353"/>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800">
                <a:latin typeface="Rubik"/>
                <a:ea typeface="Rubik"/>
                <a:cs typeface="Rubik"/>
                <a:sym typeface="Rubik"/>
              </a:rPr>
              <a:t>MODÉLISATION - POURQUOI LE QUANTILE ?</a:t>
            </a:r>
            <a:endParaRPr b="1" sz="1800">
              <a:latin typeface="Rubik"/>
              <a:ea typeface="Rubik"/>
              <a:cs typeface="Rubik"/>
              <a:sym typeface="Rubik"/>
            </a:endParaRPr>
          </a:p>
        </p:txBody>
      </p:sp>
      <p:sp>
        <p:nvSpPr>
          <p:cNvPr id="552" name="Google Shape;552;g3d46f7dc534_5_353"/>
          <p:cNvSpPr/>
          <p:nvPr/>
        </p:nvSpPr>
        <p:spPr>
          <a:xfrm>
            <a:off x="3233105" y="4317400"/>
            <a:ext cx="26778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rtl="0" algn="ctr">
              <a:spcBef>
                <a:spcPts val="0"/>
              </a:spcBef>
              <a:spcAft>
                <a:spcPts val="0"/>
              </a:spcAft>
              <a:buClr>
                <a:schemeClr val="dk1"/>
              </a:buClr>
              <a:buSzPts val="1100"/>
              <a:buFont typeface="Arial"/>
              <a:buNone/>
            </a:pPr>
            <a:r>
              <a:rPr lang="en-US" sz="900">
                <a:latin typeface="Rubik"/>
                <a:ea typeface="Rubik"/>
                <a:cs typeface="Rubik"/>
                <a:sym typeface="Rubik"/>
              </a:rPr>
              <a:t>On ne prédit pas une valeur —</a:t>
            </a:r>
            <a:endParaRPr sz="900">
              <a:latin typeface="Rubik"/>
              <a:ea typeface="Rubik"/>
              <a:cs typeface="Rubik"/>
              <a:sym typeface="Rubik"/>
            </a:endParaRPr>
          </a:p>
          <a:p>
            <a:pPr indent="0" lvl="0" marL="0" rtl="0" algn="ctr">
              <a:spcBef>
                <a:spcPts val="0"/>
              </a:spcBef>
              <a:spcAft>
                <a:spcPts val="0"/>
              </a:spcAft>
              <a:buClr>
                <a:schemeClr val="dk1"/>
              </a:buClr>
              <a:buSzPts val="1100"/>
              <a:buFont typeface="Arial"/>
              <a:buNone/>
            </a:pPr>
            <a:r>
              <a:rPr lang="en-US" sz="900">
                <a:latin typeface="Rubik"/>
                <a:ea typeface="Rubik"/>
                <a:cs typeface="Rubik"/>
                <a:sym typeface="Rubik"/>
              </a:rPr>
              <a:t>on prédit une </a:t>
            </a:r>
            <a:r>
              <a:rPr lang="en-US" sz="900">
                <a:solidFill>
                  <a:schemeClr val="accent6"/>
                </a:solidFill>
                <a:latin typeface="Rubik"/>
                <a:ea typeface="Rubik"/>
                <a:cs typeface="Rubik"/>
                <a:sym typeface="Rubik"/>
              </a:rPr>
              <a:t>distribution</a:t>
            </a:r>
            <a:r>
              <a:rPr lang="en-US" sz="900">
                <a:latin typeface="Rubik"/>
                <a:ea typeface="Rubik"/>
                <a:cs typeface="Rubik"/>
                <a:sym typeface="Rubik"/>
              </a:rPr>
              <a:t>.</a:t>
            </a:r>
            <a:endParaRPr sz="900">
              <a:latin typeface="Rubik"/>
              <a:ea typeface="Rubik"/>
              <a:cs typeface="Rubik"/>
              <a:sym typeface="Rubik"/>
            </a:endParaRPr>
          </a:p>
        </p:txBody>
      </p:sp>
      <p:sp>
        <p:nvSpPr>
          <p:cNvPr id="553" name="Google Shape;553;g3d46f7dc534_5_353"/>
          <p:cNvSpPr/>
          <p:nvPr/>
        </p:nvSpPr>
        <p:spPr>
          <a:xfrm>
            <a:off x="6064397" y="4317400"/>
            <a:ext cx="26778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rtl="0" algn="ctr">
              <a:spcBef>
                <a:spcPts val="0"/>
              </a:spcBef>
              <a:spcAft>
                <a:spcPts val="0"/>
              </a:spcAft>
              <a:buClr>
                <a:schemeClr val="dk1"/>
              </a:buClr>
              <a:buSzPts val="1100"/>
              <a:buFont typeface="Arial"/>
              <a:buNone/>
            </a:pPr>
            <a:r>
              <a:rPr lang="en-US" sz="900">
                <a:latin typeface="Rubik"/>
                <a:ea typeface="Rubik"/>
                <a:cs typeface="Rubik"/>
                <a:sym typeface="Rubik"/>
              </a:rPr>
              <a:t>Avantage : Chaque utilisateur choisit</a:t>
            </a:r>
            <a:endParaRPr sz="900">
              <a:latin typeface="Rubik"/>
              <a:ea typeface="Rubik"/>
              <a:cs typeface="Rubik"/>
              <a:sym typeface="Rubik"/>
            </a:endParaRPr>
          </a:p>
          <a:p>
            <a:pPr indent="0" lvl="0" marL="0" rtl="0" algn="ctr">
              <a:spcBef>
                <a:spcPts val="0"/>
              </a:spcBef>
              <a:spcAft>
                <a:spcPts val="0"/>
              </a:spcAft>
              <a:buClr>
                <a:schemeClr val="dk1"/>
              </a:buClr>
              <a:buSzPts val="1100"/>
              <a:buFont typeface="Arial"/>
              <a:buNone/>
            </a:pPr>
            <a:r>
              <a:rPr lang="en-US" sz="900">
                <a:latin typeface="Rubik"/>
                <a:ea typeface="Rubik"/>
                <a:cs typeface="Rubik"/>
                <a:sym typeface="Rubik"/>
              </a:rPr>
              <a:t>son </a:t>
            </a:r>
            <a:r>
              <a:rPr lang="en-US" sz="900">
                <a:solidFill>
                  <a:schemeClr val="accent6"/>
                </a:solidFill>
                <a:latin typeface="Rubik"/>
                <a:ea typeface="Rubik"/>
                <a:cs typeface="Rubik"/>
                <a:sym typeface="Rubik"/>
              </a:rPr>
              <a:t>niveau de risque</a:t>
            </a:r>
            <a:r>
              <a:rPr lang="en-US" sz="900">
                <a:latin typeface="Rubik"/>
                <a:ea typeface="Rubik"/>
                <a:cs typeface="Rubik"/>
                <a:sym typeface="Rubik"/>
              </a:rPr>
              <a:t>.</a:t>
            </a:r>
            <a:endParaRPr sz="900">
              <a:latin typeface="Rubik"/>
              <a:ea typeface="Rubik"/>
              <a:cs typeface="Rubik"/>
              <a:sym typeface="Rubik"/>
            </a:endParaRPr>
          </a:p>
        </p:txBody>
      </p:sp>
      <p:sp>
        <p:nvSpPr>
          <p:cNvPr id="554" name="Google Shape;554;g3d46f7dc534_5_353"/>
          <p:cNvSpPr/>
          <p:nvPr/>
        </p:nvSpPr>
        <p:spPr>
          <a:xfrm>
            <a:off x="401813" y="4317400"/>
            <a:ext cx="2677800" cy="433500"/>
          </a:xfrm>
          <a:prstGeom prst="roundRect">
            <a:avLst>
              <a:gd fmla="val 5000" name="adj"/>
            </a:avLst>
          </a:prstGeom>
          <a:solidFill>
            <a:srgbClr val="FFFFFF"/>
          </a:solidFill>
          <a:ln>
            <a:noFill/>
          </a:ln>
          <a:effectLst>
            <a:outerShdw blurRad="53512" rotWithShape="0" dir="5400000" dist="30769">
              <a:srgbClr val="000000">
                <a:alpha val="34900"/>
              </a:srgbClr>
            </a:outerShdw>
          </a:effectLst>
        </p:spPr>
        <p:txBody>
          <a:bodyPr anchorCtr="0" anchor="ctr" bIns="61150" lIns="144475" spcFirstLastPara="1" rIns="122325" wrap="square" tIns="61150">
            <a:noAutofit/>
          </a:bodyPr>
          <a:lstStyle/>
          <a:p>
            <a:pPr indent="0" lvl="0" marL="0" rtl="0" algn="ctr">
              <a:spcBef>
                <a:spcPts val="0"/>
              </a:spcBef>
              <a:spcAft>
                <a:spcPts val="0"/>
              </a:spcAft>
              <a:buNone/>
            </a:pPr>
            <a:r>
              <a:rPr lang="en-US" sz="1000"/>
              <a:t>La moyenne est trompeuse.</a:t>
            </a:r>
            <a:endParaRPr sz="1000"/>
          </a:p>
          <a:p>
            <a:pPr indent="0" lvl="0" marL="0" rtl="0" algn="ctr">
              <a:spcBef>
                <a:spcPts val="0"/>
              </a:spcBef>
              <a:spcAft>
                <a:spcPts val="0"/>
              </a:spcAft>
              <a:buNone/>
            </a:pPr>
            <a:r>
              <a:rPr lang="en-US" sz="1000"/>
              <a:t>Les retards sont </a:t>
            </a:r>
            <a:r>
              <a:rPr lang="en-US" sz="1000">
                <a:solidFill>
                  <a:schemeClr val="accent6"/>
                </a:solidFill>
              </a:rPr>
              <a:t>asymétriques</a:t>
            </a:r>
            <a:r>
              <a:rPr lang="en-US" sz="1000"/>
              <a:t>.</a:t>
            </a:r>
            <a:endParaRPr sz="1000"/>
          </a:p>
        </p:txBody>
      </p:sp>
      <p:sp>
        <p:nvSpPr>
          <p:cNvPr id="555" name="Google Shape;555;g3d46f7dc534_5_353"/>
          <p:cNvSpPr/>
          <p:nvPr/>
        </p:nvSpPr>
        <p:spPr>
          <a:xfrm>
            <a:off x="401811" y="3950200"/>
            <a:ext cx="3015900" cy="367200"/>
          </a:xfrm>
          <a:prstGeom prst="rect">
            <a:avLst/>
          </a:prstGeom>
          <a:solidFill>
            <a:schemeClr val="accent6"/>
          </a:solidFill>
          <a:ln>
            <a:noFill/>
          </a:ln>
          <a:effectLst>
            <a:outerShdw blurRad="27201" rotWithShape="0" dir="5400000" dist="15640">
              <a:srgbClr val="000000">
                <a:alpha val="34900"/>
              </a:srgbClr>
            </a:outerShdw>
          </a:effectLst>
        </p:spPr>
        <p:txBody>
          <a:bodyPr anchorCtr="0" anchor="ctr" bIns="31075" lIns="62175" spcFirstLastPara="1" rIns="62175" wrap="square" tIns="31075">
            <a:noAutofit/>
          </a:bodyPr>
          <a:lstStyle/>
          <a:p>
            <a:pPr indent="0" lvl="0" marL="0" marR="0" rtl="0" algn="ctr">
              <a:lnSpc>
                <a:spcPct val="100000"/>
              </a:lnSpc>
              <a:spcBef>
                <a:spcPts val="0"/>
              </a:spcBef>
              <a:spcAft>
                <a:spcPts val="0"/>
              </a:spcAft>
              <a:buClr>
                <a:srgbClr val="000000"/>
              </a:buClr>
              <a:buSzPts val="1224"/>
              <a:buFont typeface="Arial"/>
              <a:buNone/>
            </a:pPr>
            <a:r>
              <a:rPr b="1" lang="en-US" sz="1224">
                <a:solidFill>
                  <a:schemeClr val="lt1"/>
                </a:solidFill>
                <a:latin typeface="Rubik"/>
                <a:ea typeface="Rubik"/>
                <a:cs typeface="Rubik"/>
                <a:sym typeface="Rubik"/>
              </a:rPr>
              <a:t>BÉNÉFICES DE LA MODÉLISATION</a:t>
            </a:r>
            <a:endParaRPr b="0" i="0" sz="952" u="none" cap="none" strike="noStrike">
              <a:solidFill>
                <a:schemeClr val="lt1"/>
              </a:solidFill>
              <a:latin typeface="Arial"/>
              <a:ea typeface="Arial"/>
              <a:cs typeface="Arial"/>
              <a:sym typeface="Arial"/>
            </a:endParaRPr>
          </a:p>
        </p:txBody>
      </p:sp>
      <p:sp>
        <p:nvSpPr>
          <p:cNvPr id="556" name="Google Shape;556;g3d46f7dc534_5_353"/>
          <p:cNvSpPr/>
          <p:nvPr/>
        </p:nvSpPr>
        <p:spPr>
          <a:xfrm>
            <a:off x="6843484" y="1532863"/>
            <a:ext cx="2055600" cy="524700"/>
          </a:xfrm>
          <a:prstGeom prst="roundRect">
            <a:avLst>
              <a:gd fmla="val 5000" name="adj"/>
            </a:avLst>
          </a:prstGeom>
          <a:solidFill>
            <a:srgbClr val="9900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3 modèles </a:t>
            </a:r>
            <a:r>
              <a:rPr b="1" lang="en-US" sz="1000">
                <a:solidFill>
                  <a:srgbClr val="FFFFFF"/>
                </a:solidFill>
                <a:latin typeface="Rubik"/>
                <a:ea typeface="Rubik"/>
                <a:cs typeface="Rubik"/>
                <a:sym typeface="Rubik"/>
              </a:rPr>
              <a:t>Gradient Boosting</a:t>
            </a:r>
            <a:endParaRPr b="1" sz="1000">
              <a:solidFill>
                <a:srgbClr val="FFFFFF"/>
              </a:solidFill>
              <a:latin typeface="Rubik"/>
              <a:ea typeface="Rubik"/>
              <a:cs typeface="Rubik"/>
              <a:sym typeface="Rubik"/>
            </a:endParaRPr>
          </a:p>
          <a:p>
            <a:pPr indent="0" lvl="0" marL="0" rtl="0" algn="l">
              <a:spcBef>
                <a:spcPts val="0"/>
              </a:spcBef>
              <a:spcAft>
                <a:spcPts val="0"/>
              </a:spcAft>
              <a:buClr>
                <a:schemeClr val="dk1"/>
              </a:buClr>
              <a:buSzPts val="1100"/>
              <a:buFont typeface="Arial"/>
              <a:buNone/>
            </a:pPr>
            <a:r>
              <a:rPr b="1" lang="en-US" sz="1000">
                <a:solidFill>
                  <a:srgbClr val="FFFFFF"/>
                </a:solidFill>
                <a:latin typeface="Rubik"/>
                <a:ea typeface="Rubik"/>
                <a:cs typeface="Rubik"/>
                <a:sym typeface="Rubik"/>
              </a:rPr>
              <a:t>indépendants</a:t>
            </a:r>
            <a:endParaRPr b="1" sz="1000">
              <a:solidFill>
                <a:srgbClr val="FFFFFF"/>
              </a:solidFill>
              <a:latin typeface="Rubik"/>
              <a:ea typeface="Rubik"/>
              <a:cs typeface="Rubik"/>
              <a:sym typeface="Rubik"/>
            </a:endParaRPr>
          </a:p>
        </p:txBody>
      </p:sp>
      <p:sp>
        <p:nvSpPr>
          <p:cNvPr id="557" name="Google Shape;557;g3d46f7dc534_5_353"/>
          <p:cNvSpPr/>
          <p:nvPr/>
        </p:nvSpPr>
        <p:spPr>
          <a:xfrm>
            <a:off x="6835700" y="2159689"/>
            <a:ext cx="2055600" cy="12693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Un modèle qui prédit "37s" </a:t>
            </a:r>
            <a:r>
              <a:rPr b="1" lang="en-US" sz="900">
                <a:solidFill>
                  <a:srgbClr val="A329DE"/>
                </a:solidFill>
                <a:latin typeface="Rubik"/>
                <a:ea typeface="Rubik"/>
                <a:cs typeface="Rubik"/>
                <a:sym typeface="Rubik"/>
              </a:rPr>
              <a:t>cache la réalité</a:t>
            </a:r>
            <a:r>
              <a:rPr b="1" lang="en-US" sz="900">
                <a:latin typeface="Rubik"/>
                <a:ea typeface="Rubik"/>
                <a:cs typeface="Rubik"/>
                <a:sym typeface="Rubik"/>
              </a:rPr>
              <a:t> :</a:t>
            </a:r>
            <a:endParaRPr b="1" sz="900">
              <a:latin typeface="Rubik"/>
              <a:ea typeface="Rubik"/>
              <a:cs typeface="Rubik"/>
              <a:sym typeface="Rubik"/>
            </a:endParaRPr>
          </a:p>
          <a:p>
            <a:pPr indent="0" lvl="0" marL="0" rtl="0" algn="l">
              <a:spcBef>
                <a:spcPts val="0"/>
              </a:spcBef>
              <a:spcAft>
                <a:spcPts val="0"/>
              </a:spcAft>
              <a:buClr>
                <a:schemeClr val="dk1"/>
              </a:buClr>
              <a:buSzPts val="1100"/>
              <a:buFont typeface="Arial"/>
              <a:buNone/>
            </a:pPr>
            <a:r>
              <a:t/>
            </a:r>
            <a:endParaRPr b="1" sz="900">
              <a:latin typeface="Rubik"/>
              <a:ea typeface="Rubik"/>
              <a:cs typeface="Rubik"/>
              <a:sym typeface="Rubik"/>
            </a:endParaRPr>
          </a:p>
          <a:p>
            <a:pPr indent="0" lvl="0" marL="0" rtl="0" algn="l">
              <a:spcBef>
                <a:spcPts val="0"/>
              </a:spcBef>
              <a:spcAft>
                <a:spcPts val="0"/>
              </a:spcAft>
              <a:buClr>
                <a:schemeClr val="dk1"/>
              </a:buClr>
              <a:buSzPts val="1100"/>
              <a:buFont typeface="Arial"/>
              <a:buNone/>
            </a:pPr>
            <a:r>
              <a:t/>
            </a:r>
            <a:endParaRPr b="1" sz="900">
              <a:latin typeface="Rubik"/>
              <a:ea typeface="Rubik"/>
              <a:cs typeface="Rubik"/>
              <a:sym typeface="Rubik"/>
            </a:endParaRPr>
          </a:p>
          <a:p>
            <a:pPr indent="0" lvl="0" marL="0" rtl="0" algn="l">
              <a:spcBef>
                <a:spcPts val="0"/>
              </a:spcBef>
              <a:spcAft>
                <a:spcPts val="0"/>
              </a:spcAft>
              <a:buClr>
                <a:schemeClr val="dk1"/>
              </a:buClr>
              <a:buSzPts val="1100"/>
              <a:buFont typeface="Arial"/>
              <a:buNone/>
            </a:pPr>
            <a:r>
              <a:rPr b="1" lang="en-US" sz="900">
                <a:solidFill>
                  <a:srgbClr val="A329DE"/>
                </a:solidFill>
                <a:latin typeface="Rubik"/>
                <a:ea typeface="Rubik"/>
                <a:cs typeface="Rubik"/>
                <a:sym typeface="Rubik"/>
              </a:rPr>
              <a:t>80%</a:t>
            </a:r>
            <a:r>
              <a:rPr b="1" lang="en-US" sz="900">
                <a:latin typeface="Rubik"/>
                <a:ea typeface="Rubik"/>
                <a:cs typeface="Rubik"/>
                <a:sym typeface="Rubik"/>
              </a:rPr>
              <a:t> du temps → </a:t>
            </a:r>
            <a:r>
              <a:rPr b="1" lang="en-US" sz="900">
                <a:solidFill>
                  <a:srgbClr val="A329DE"/>
                </a:solidFill>
                <a:latin typeface="Rubik"/>
                <a:ea typeface="Rubik"/>
                <a:cs typeface="Rubik"/>
                <a:sym typeface="Rubik"/>
              </a:rPr>
              <a:t>30s de retard</a:t>
            </a:r>
            <a:endParaRPr b="1" sz="900">
              <a:solidFill>
                <a:srgbClr val="A329DE"/>
              </a:solidFill>
              <a:latin typeface="Rubik"/>
              <a:ea typeface="Rubik"/>
              <a:cs typeface="Rubik"/>
              <a:sym typeface="Rubik"/>
            </a:endParaRPr>
          </a:p>
          <a:p>
            <a:pPr indent="0" lvl="0" marL="0" rtl="0" algn="l">
              <a:spcBef>
                <a:spcPts val="0"/>
              </a:spcBef>
              <a:spcAft>
                <a:spcPts val="0"/>
              </a:spcAft>
              <a:buClr>
                <a:schemeClr val="dk1"/>
              </a:buClr>
              <a:buSzPts val="1100"/>
              <a:buFont typeface="Arial"/>
              <a:buNone/>
            </a:pPr>
            <a:r>
              <a:rPr b="1" lang="en-US" sz="900">
                <a:solidFill>
                  <a:srgbClr val="A329DE"/>
                </a:solidFill>
                <a:latin typeface="Rubik"/>
                <a:ea typeface="Rubik"/>
                <a:cs typeface="Rubik"/>
                <a:sym typeface="Rubik"/>
              </a:rPr>
              <a:t>20%</a:t>
            </a:r>
            <a:r>
              <a:rPr b="1" lang="en-US" sz="900">
                <a:latin typeface="Rubik"/>
                <a:ea typeface="Rubik"/>
                <a:cs typeface="Rubik"/>
                <a:sym typeface="Rubik"/>
              </a:rPr>
              <a:t> du temps → </a:t>
            </a:r>
            <a:r>
              <a:rPr b="1" lang="en-US" sz="900">
                <a:solidFill>
                  <a:srgbClr val="A329DE"/>
                </a:solidFill>
                <a:latin typeface="Rubik"/>
                <a:ea typeface="Rubik"/>
                <a:cs typeface="Rubik"/>
                <a:sym typeface="Rubik"/>
              </a:rPr>
              <a:t>3 minutes</a:t>
            </a:r>
            <a:endParaRPr b="1" sz="900">
              <a:solidFill>
                <a:srgbClr val="A329DE"/>
              </a:solidFill>
              <a:latin typeface="Rubik"/>
              <a:ea typeface="Rubik"/>
              <a:cs typeface="Rubik"/>
              <a:sym typeface="Rubik"/>
            </a:endParaRPr>
          </a:p>
          <a:p>
            <a:pPr indent="0" lvl="0" marL="0" rtl="0" algn="l">
              <a:spcBef>
                <a:spcPts val="0"/>
              </a:spcBef>
              <a:spcAft>
                <a:spcPts val="0"/>
              </a:spcAft>
              <a:buClr>
                <a:schemeClr val="dk1"/>
              </a:buClr>
              <a:buSzPts val="1100"/>
              <a:buFont typeface="Arial"/>
              <a:buNone/>
            </a:pPr>
            <a:r>
              <a:t/>
            </a:r>
            <a:endParaRPr b="1" sz="900">
              <a:latin typeface="Rubik"/>
              <a:ea typeface="Rubik"/>
              <a:cs typeface="Rubik"/>
              <a:sym typeface="Rubik"/>
            </a:endParaRPr>
          </a:p>
          <a:p>
            <a:pPr indent="0" lvl="0" marL="0" rtl="0" algn="l">
              <a:spcBef>
                <a:spcPts val="0"/>
              </a:spcBef>
              <a:spcAft>
                <a:spcPts val="0"/>
              </a:spcAft>
              <a:buClr>
                <a:schemeClr val="dk1"/>
              </a:buClr>
              <a:buSzPts val="1100"/>
              <a:buFont typeface="Arial"/>
              <a:buNone/>
            </a:pPr>
            <a:r>
              <a:t/>
            </a:r>
            <a:endParaRPr b="1" sz="900">
              <a:latin typeface="Rubik"/>
              <a:ea typeface="Rubik"/>
              <a:cs typeface="Rubik"/>
              <a:sym typeface="Rubik"/>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561" name="Shape 561"/>
        <p:cNvGrpSpPr/>
        <p:nvPr/>
      </p:nvGrpSpPr>
      <p:grpSpPr>
        <a:xfrm>
          <a:off x="0" y="0"/>
          <a:ext cx="0" cy="0"/>
          <a:chOff x="0" y="0"/>
          <a:chExt cx="0" cy="0"/>
        </a:xfrm>
      </p:grpSpPr>
      <p:sp>
        <p:nvSpPr>
          <p:cNvPr id="562" name="Google Shape;562;g3d46f7dc534_5_411"/>
          <p:cNvSpPr/>
          <p:nvPr/>
        </p:nvSpPr>
        <p:spPr>
          <a:xfrm>
            <a:off x="936000" y="396000"/>
            <a:ext cx="5544000" cy="540000"/>
          </a:xfrm>
          <a:prstGeom prst="rect">
            <a:avLst/>
          </a:prstGeom>
          <a:solidFill>
            <a:srgbClr val="A329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3" name="Google Shape;563;g3d46f7dc534_5_411"/>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US" sz="1800">
                <a:latin typeface="Rubik"/>
                <a:ea typeface="Rubik"/>
                <a:cs typeface="Rubik"/>
                <a:sym typeface="Rubik"/>
              </a:rPr>
              <a:t>PISTES D’ÉVOLUTIONS</a:t>
            </a:r>
            <a:endParaRPr b="0" i="0" sz="1400" u="none" cap="none" strike="noStrike">
              <a:solidFill>
                <a:srgbClr val="000000"/>
              </a:solidFill>
              <a:latin typeface="Arial"/>
              <a:ea typeface="Arial"/>
              <a:cs typeface="Arial"/>
              <a:sym typeface="Arial"/>
            </a:endParaRPr>
          </a:p>
        </p:txBody>
      </p:sp>
      <p:sp>
        <p:nvSpPr>
          <p:cNvPr id="564" name="Google Shape;564;g3d46f7dc534_5_411"/>
          <p:cNvSpPr/>
          <p:nvPr/>
        </p:nvSpPr>
        <p:spPr>
          <a:xfrm>
            <a:off x="2619000" y="1775204"/>
            <a:ext cx="3906000" cy="5301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lang="en-US" sz="900">
                <a:latin typeface="Rubik"/>
                <a:ea typeface="Rubik"/>
                <a:cs typeface="Rubik"/>
                <a:sym typeface="Rubik"/>
              </a:rPr>
              <a:t>Intégrer des </a:t>
            </a:r>
            <a:r>
              <a:rPr b="1" lang="en-US" sz="900">
                <a:solidFill>
                  <a:srgbClr val="A329DE"/>
                </a:solidFill>
                <a:latin typeface="Rubik"/>
                <a:ea typeface="Rubik"/>
                <a:cs typeface="Rubik"/>
                <a:sym typeface="Rubik"/>
              </a:rPr>
              <a:t>données « trafic »</a:t>
            </a:r>
            <a:r>
              <a:rPr b="1" lang="en-US" sz="900">
                <a:latin typeface="Rubik"/>
                <a:ea typeface="Rubik"/>
                <a:cs typeface="Rubik"/>
                <a:sym typeface="Rubik"/>
              </a:rPr>
              <a:t> en temps réel pour enrichir le contexte des modèles de prédiction.</a:t>
            </a:r>
            <a:endParaRPr b="1" i="0" sz="1400" u="none" cap="none" strike="noStrike">
              <a:solidFill>
                <a:srgbClr val="000000"/>
              </a:solidFill>
            </a:endParaRPr>
          </a:p>
        </p:txBody>
      </p:sp>
      <p:sp>
        <p:nvSpPr>
          <p:cNvPr id="565" name="Google Shape;565;g3d46f7dc534_5_411"/>
          <p:cNvSpPr/>
          <p:nvPr/>
        </p:nvSpPr>
        <p:spPr>
          <a:xfrm>
            <a:off x="2619000" y="3083275"/>
            <a:ext cx="3906000" cy="5301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Challenger le modèle en place avec un </a:t>
            </a:r>
            <a:r>
              <a:rPr b="1" lang="en-US" sz="900">
                <a:solidFill>
                  <a:srgbClr val="282AFF"/>
                </a:solidFill>
                <a:latin typeface="Rubik"/>
                <a:ea typeface="Rubik"/>
                <a:cs typeface="Rubik"/>
                <a:sym typeface="Rubik"/>
              </a:rPr>
              <a:t>nouveau modèle mis à jour</a:t>
            </a:r>
            <a:r>
              <a:rPr b="1" lang="en-US" sz="900">
                <a:latin typeface="Rubik"/>
                <a:ea typeface="Rubik"/>
                <a:cs typeface="Rubik"/>
                <a:sym typeface="Rubik"/>
              </a:rPr>
              <a:t> sur les données récemment collectées.</a:t>
            </a:r>
            <a:endParaRPr b="1" sz="900">
              <a:latin typeface="Rubik"/>
              <a:ea typeface="Rubik"/>
              <a:cs typeface="Rubik"/>
              <a:sym typeface="Rubik"/>
            </a:endParaRPr>
          </a:p>
        </p:txBody>
      </p:sp>
      <p:sp>
        <p:nvSpPr>
          <p:cNvPr id="566" name="Google Shape;566;g3d46f7dc534_5_411"/>
          <p:cNvSpPr/>
          <p:nvPr/>
        </p:nvSpPr>
        <p:spPr>
          <a:xfrm>
            <a:off x="2619000" y="4386081"/>
            <a:ext cx="3906000" cy="530100"/>
          </a:xfrm>
          <a:prstGeom prst="roundRect">
            <a:avLst>
              <a:gd fmla="val 5000" name="adj"/>
            </a:avLst>
          </a:prstGeom>
          <a:solidFill>
            <a:srgbClr val="FFFF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900">
                <a:latin typeface="Rubik"/>
                <a:ea typeface="Rubik"/>
                <a:cs typeface="Rubik"/>
                <a:sym typeface="Rubik"/>
              </a:rPr>
              <a:t>Gérer l'intégration de </a:t>
            </a:r>
            <a:r>
              <a:rPr b="1" lang="en-US" sz="900">
                <a:solidFill>
                  <a:schemeClr val="accent6"/>
                </a:solidFill>
                <a:latin typeface="Rubik"/>
                <a:ea typeface="Rubik"/>
                <a:cs typeface="Rubik"/>
                <a:sym typeface="Rubik"/>
              </a:rPr>
              <a:t>flux en temps réel</a:t>
            </a:r>
            <a:r>
              <a:rPr b="1" lang="en-US" sz="900">
                <a:latin typeface="Rubik"/>
                <a:ea typeface="Rubik"/>
                <a:cs typeface="Rubik"/>
                <a:sym typeface="Rubik"/>
              </a:rPr>
              <a:t> pour une architecture événementielle plus robuste.</a:t>
            </a:r>
            <a:endParaRPr b="1" sz="900">
              <a:latin typeface="Rubik"/>
              <a:ea typeface="Rubik"/>
              <a:cs typeface="Rubik"/>
              <a:sym typeface="Rubik"/>
            </a:endParaRPr>
          </a:p>
        </p:txBody>
      </p:sp>
      <p:sp>
        <p:nvSpPr>
          <p:cNvPr id="567" name="Google Shape;567;g3d46f7dc534_5_411"/>
          <p:cNvSpPr/>
          <p:nvPr/>
        </p:nvSpPr>
        <p:spPr>
          <a:xfrm>
            <a:off x="2619000" y="3909161"/>
            <a:ext cx="3600000" cy="530100"/>
          </a:xfrm>
          <a:prstGeom prst="roundRect">
            <a:avLst>
              <a:gd fmla="val 5000" name="adj"/>
            </a:avLst>
          </a:prstGeom>
          <a:solidFill>
            <a:schemeClr val="accent6"/>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lang="en-US" sz="1100">
                <a:solidFill>
                  <a:srgbClr val="FFFFFF"/>
                </a:solidFill>
                <a:latin typeface="Rubik"/>
                <a:ea typeface="Rubik"/>
                <a:cs typeface="Rubik"/>
                <a:sym typeface="Rubik"/>
              </a:rPr>
              <a:t>3 - FLUX KAFKA</a:t>
            </a:r>
            <a:endParaRPr b="0" i="0" sz="1400" u="none" cap="none" strike="noStrike">
              <a:solidFill>
                <a:srgbClr val="000000"/>
              </a:solidFill>
              <a:latin typeface="Arial"/>
              <a:ea typeface="Arial"/>
              <a:cs typeface="Arial"/>
              <a:sym typeface="Arial"/>
            </a:endParaRPr>
          </a:p>
        </p:txBody>
      </p:sp>
      <p:sp>
        <p:nvSpPr>
          <p:cNvPr id="568" name="Google Shape;568;g3d46f7dc534_5_411"/>
          <p:cNvSpPr/>
          <p:nvPr/>
        </p:nvSpPr>
        <p:spPr>
          <a:xfrm>
            <a:off x="2619000" y="2601092"/>
            <a:ext cx="3600000" cy="530100"/>
          </a:xfrm>
          <a:prstGeom prst="roundRect">
            <a:avLst>
              <a:gd fmla="val 5000" name="adj"/>
            </a:avLst>
          </a:prstGeom>
          <a:solidFill>
            <a:srgbClr val="282AFF"/>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lang="en-US" sz="1100">
                <a:solidFill>
                  <a:srgbClr val="FFFFFF"/>
                </a:solidFill>
                <a:latin typeface="Rubik"/>
                <a:ea typeface="Rubik"/>
                <a:cs typeface="Rubik"/>
                <a:sym typeface="Rubik"/>
              </a:rPr>
              <a:t>2 - A/B TESTING</a:t>
            </a:r>
            <a:endParaRPr b="0" i="0" sz="1400" u="none" cap="none" strike="noStrike">
              <a:solidFill>
                <a:srgbClr val="000000"/>
              </a:solidFill>
              <a:latin typeface="Arial"/>
              <a:ea typeface="Arial"/>
              <a:cs typeface="Arial"/>
              <a:sym typeface="Arial"/>
            </a:endParaRPr>
          </a:p>
        </p:txBody>
      </p:sp>
      <p:sp>
        <p:nvSpPr>
          <p:cNvPr id="569" name="Google Shape;569;g3d46f7dc534_5_411"/>
          <p:cNvSpPr/>
          <p:nvPr/>
        </p:nvSpPr>
        <p:spPr>
          <a:xfrm>
            <a:off x="2619000" y="1280250"/>
            <a:ext cx="3600000" cy="530100"/>
          </a:xfrm>
          <a:prstGeom prst="roundRect">
            <a:avLst>
              <a:gd fmla="val 5000" name="adj"/>
            </a:avLst>
          </a:prstGeom>
          <a:solidFill>
            <a:srgbClr val="A329DE"/>
          </a:solidFill>
          <a:ln>
            <a:noFill/>
          </a:ln>
          <a:effectLst>
            <a:outerShdw blurRad="40000" rotWithShape="0" dir="5400000" dist="23000">
              <a:srgbClr val="000000">
                <a:alpha val="34900"/>
              </a:srgbClr>
            </a:outerShdw>
          </a:effectLst>
        </p:spPr>
        <p:txBody>
          <a:bodyPr anchorCtr="0" anchor="ctr" bIns="45700" lIns="108000"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lang="en-US" sz="1100">
                <a:solidFill>
                  <a:srgbClr val="FFFFFF"/>
                </a:solidFill>
                <a:latin typeface="Rubik"/>
                <a:ea typeface="Rubik"/>
                <a:cs typeface="Rubik"/>
                <a:sym typeface="Rubik"/>
              </a:rPr>
              <a:t>1 - API </a:t>
            </a:r>
            <a:r>
              <a:rPr b="1" lang="en-US" sz="1100">
                <a:solidFill>
                  <a:srgbClr val="FFFFFF"/>
                </a:solidFill>
                <a:latin typeface="Rubik"/>
                <a:ea typeface="Rubik"/>
                <a:cs typeface="Rubik"/>
                <a:sym typeface="Rubik"/>
              </a:rPr>
              <a:t>TRAFIC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73" name="Shape 573"/>
        <p:cNvGrpSpPr/>
        <p:nvPr/>
      </p:nvGrpSpPr>
      <p:grpSpPr>
        <a:xfrm>
          <a:off x="0" y="0"/>
          <a:ext cx="0" cy="0"/>
          <a:chOff x="0" y="0"/>
          <a:chExt cx="0" cy="0"/>
        </a:xfrm>
      </p:grpSpPr>
      <p:sp>
        <p:nvSpPr>
          <p:cNvPr id="574" name="Google Shape;574;g3d46f7dc534_5_210"/>
          <p:cNvSpPr/>
          <p:nvPr/>
        </p:nvSpPr>
        <p:spPr>
          <a:xfrm>
            <a:off x="1980000" y="1289400"/>
            <a:ext cx="5040000" cy="828000"/>
          </a:xfrm>
          <a:prstGeom prst="rect">
            <a:avLst/>
          </a:prstGeom>
          <a:solidFill>
            <a:srgbClr val="A329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5" name="Google Shape;575;g3d46f7dc534_5_210"/>
          <p:cNvSpPr/>
          <p:nvPr/>
        </p:nvSpPr>
        <p:spPr>
          <a:xfrm>
            <a:off x="2124000" y="1145400"/>
            <a:ext cx="5040000" cy="828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Rubik"/>
                <a:ea typeface="Rubik"/>
                <a:cs typeface="Rubik"/>
                <a:sym typeface="Rubik"/>
              </a:rPr>
              <a:t>DES QUESTIONS ?</a:t>
            </a:r>
            <a:endParaRPr b="0" i="0" sz="1400" u="none" cap="none" strike="noStrike">
              <a:solidFill>
                <a:schemeClr val="dk1"/>
              </a:solidFill>
              <a:latin typeface="Arial"/>
              <a:ea typeface="Arial"/>
              <a:cs typeface="Arial"/>
              <a:sym typeface="Arial"/>
            </a:endParaRPr>
          </a:p>
        </p:txBody>
      </p:sp>
      <p:pic>
        <p:nvPicPr>
          <p:cNvPr id="576" name="Google Shape;576;g3d46f7dc534_5_210"/>
          <p:cNvPicPr preferRelativeResize="0"/>
          <p:nvPr/>
        </p:nvPicPr>
        <p:blipFill rotWithShape="1">
          <a:blip r:embed="rId3">
            <a:alphaModFix/>
          </a:blip>
          <a:srcRect b="0" l="0" r="0" t="0"/>
          <a:stretch/>
        </p:blipFill>
        <p:spPr>
          <a:xfrm>
            <a:off x="3827588" y="2452280"/>
            <a:ext cx="1632824" cy="154671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